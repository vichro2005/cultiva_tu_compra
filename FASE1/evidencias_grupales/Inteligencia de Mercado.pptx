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6858000" cy="9144000"/>
  <p:embeddedFontLst>
    <p:embeddedFont>
      <p:font typeface="Roboto"/>
      <p:regular r:id="rId15"/>
      <p:bold r:id="rId16"/>
      <p:italic r:id="rId17"/>
      <p:boldItalic r:id="rId18"/>
    </p:embeddedFont>
    <p:embeddedFont>
      <p:font typeface="Plus Jakarta Sans ExtraBold"/>
      <p:bold r:id="rId19"/>
      <p:boldItalic r:id="rId20"/>
    </p:embeddedFont>
    <p:embeddedFont>
      <p:font typeface="Inter SemiBold"/>
      <p:regular r:id="rId21"/>
      <p:bold r:id="rId22"/>
      <p:italic r:id="rId23"/>
      <p:boldItalic r:id="rId24"/>
    </p:embeddedFont>
    <p:embeddedFont>
      <p:font typeface="Inter"/>
      <p:regular r:id="rId25"/>
      <p:bold r:id="rId26"/>
      <p:italic r:id="rId27"/>
      <p:boldItalic r:id="rId28"/>
    </p:embeddedFont>
    <p:embeddedFont>
      <p:font typeface="Plus Jakarta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3" roundtripDataSignature="AMtx7mgyFnMJ2j3cwhhbnpBTUQIQvD5B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9B8B9C6-E17D-4CFC-B6BD-E9186A0673FE}">
  <a:tblStyle styleId="{D9B8B9C6-E17D-4CFC-B6BD-E9186A0673F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ExtraBold-boldItalic.fntdata"/><Relationship Id="rId22" Type="http://schemas.openxmlformats.org/officeDocument/2006/relationships/font" Target="fonts/InterSemiBold-bold.fntdata"/><Relationship Id="rId21" Type="http://schemas.openxmlformats.org/officeDocument/2006/relationships/font" Target="fonts/InterSemiBold-regular.fntdata"/><Relationship Id="rId24" Type="http://schemas.openxmlformats.org/officeDocument/2006/relationships/font" Target="fonts/InterSemiBold-boldItalic.fntdata"/><Relationship Id="rId23" Type="http://schemas.openxmlformats.org/officeDocument/2006/relationships/font" Target="fonts/Inter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lusJakartaSa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lusJakartaSans-italic.fntdata"/><Relationship Id="rId30" Type="http://schemas.openxmlformats.org/officeDocument/2006/relationships/font" Target="fonts/PlusJakartaSans-bold.fntdata"/><Relationship Id="rId11" Type="http://schemas.openxmlformats.org/officeDocument/2006/relationships/slide" Target="slides/slide5.xml"/><Relationship Id="rId33" Type="http://customschemas.google.com/relationships/presentationmetadata" Target="metadata"/><Relationship Id="rId10" Type="http://schemas.openxmlformats.org/officeDocument/2006/relationships/slide" Target="slides/slide4.xml"/><Relationship Id="rId32" Type="http://schemas.openxmlformats.org/officeDocument/2006/relationships/font" Target="fonts/PlusJakartaSans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Roboto-regular.fntdata"/><Relationship Id="rId14" Type="http://schemas.openxmlformats.org/officeDocument/2006/relationships/slide" Target="slides/slide8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19" Type="http://schemas.openxmlformats.org/officeDocument/2006/relationships/font" Target="fonts/PlusJakartaSansExtraBold-bold.fntdata"/><Relationship Id="rId18" Type="http://schemas.openxmlformats.org/officeDocument/2006/relationships/font" Target="fonts/Robot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793887413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f793887413_0_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g3f793887413_0_5"/>
          <p:cNvGrpSpPr/>
          <p:nvPr/>
        </p:nvGrpSpPr>
        <p:grpSpPr>
          <a:xfrm>
            <a:off x="8130968" y="7"/>
            <a:ext cx="4060732" cy="2707359"/>
            <a:chOff x="6098378" y="5"/>
            <a:chExt cx="3045625" cy="2030570"/>
          </a:xfrm>
        </p:grpSpPr>
        <p:sp>
          <p:nvSpPr>
            <p:cNvPr id="11" name="Google Shape;11;g3f793887413_0_5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g3f793887413_0_5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g3f793887413_0_5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g3f793887413_0_5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g3f793887413_0_5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g3f793887413_0_5"/>
          <p:cNvSpPr txBox="1"/>
          <p:nvPr>
            <p:ph type="ctrTitle"/>
          </p:nvPr>
        </p:nvSpPr>
        <p:spPr>
          <a:xfrm>
            <a:off x="797467" y="2366963"/>
            <a:ext cx="10962900" cy="1118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g3f793887413_0_5"/>
          <p:cNvSpPr txBox="1"/>
          <p:nvPr>
            <p:ph idx="1" type="subTitle"/>
          </p:nvPr>
        </p:nvSpPr>
        <p:spPr>
          <a:xfrm>
            <a:off x="797451" y="3621217"/>
            <a:ext cx="10962900" cy="577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g3f793887413_0_5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g3f793887413_0_15"/>
          <p:cNvGrpSpPr/>
          <p:nvPr/>
        </p:nvGrpSpPr>
        <p:grpSpPr>
          <a:xfrm>
            <a:off x="8130968" y="7"/>
            <a:ext cx="4060732" cy="2707359"/>
            <a:chOff x="6098378" y="5"/>
            <a:chExt cx="3045625" cy="2030570"/>
          </a:xfrm>
        </p:grpSpPr>
        <p:sp>
          <p:nvSpPr>
            <p:cNvPr id="21" name="Google Shape;21;g3f793887413_0_15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g3f793887413_0_15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g3f793887413_0_15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g3f793887413_0_15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g3f793887413_0_15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g3f793887413_0_15"/>
          <p:cNvSpPr txBox="1"/>
          <p:nvPr>
            <p:ph type="title"/>
          </p:nvPr>
        </p:nvSpPr>
        <p:spPr>
          <a:xfrm>
            <a:off x="797467" y="2869796"/>
            <a:ext cx="10962900" cy="1118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g3f793887413_0_15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g3f793887413_0_24"/>
          <p:cNvGrpSpPr/>
          <p:nvPr/>
        </p:nvGrpSpPr>
        <p:grpSpPr>
          <a:xfrm>
            <a:off x="0" y="5204762"/>
            <a:ext cx="12191695" cy="1653192"/>
            <a:chOff x="0" y="3903669"/>
            <a:chExt cx="9144000" cy="1239925"/>
          </a:xfrm>
        </p:grpSpPr>
        <p:sp>
          <p:nvSpPr>
            <p:cNvPr id="30" name="Google Shape;30;g3f793887413_0_2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g3f793887413_0_2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g3f793887413_0_2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g3f793887413_0_2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g3f793887413_0_2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g3f793887413_0_24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6" name="Google Shape;36;g3f793887413_0_24"/>
          <p:cNvSpPr txBox="1"/>
          <p:nvPr>
            <p:ph idx="1" type="body"/>
          </p:nvPr>
        </p:nvSpPr>
        <p:spPr>
          <a:xfrm>
            <a:off x="415600" y="1639833"/>
            <a:ext cx="11360700" cy="445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37" name="Google Shape;37;g3f793887413_0_24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f793887413_0_34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0" name="Google Shape;40;g3f793887413_0_34"/>
          <p:cNvSpPr txBox="1"/>
          <p:nvPr>
            <p:ph idx="1" type="body"/>
          </p:nvPr>
        </p:nvSpPr>
        <p:spPr>
          <a:xfrm>
            <a:off x="415600" y="1639967"/>
            <a:ext cx="5333100" cy="445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1" name="Google Shape;41;g3f793887413_0_34"/>
          <p:cNvSpPr txBox="1"/>
          <p:nvPr>
            <p:ph idx="2" type="body"/>
          </p:nvPr>
        </p:nvSpPr>
        <p:spPr>
          <a:xfrm>
            <a:off x="6443200" y="1639967"/>
            <a:ext cx="5333100" cy="445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2" name="Google Shape;42;g3f793887413_0_34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f793887413_0_39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5" name="Google Shape;45;g3f793887413_0_39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f793887413_0_42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48" name="Google Shape;48;g3f793887413_0_42"/>
          <p:cNvSpPr txBox="1"/>
          <p:nvPr>
            <p:ph idx="1" type="body"/>
          </p:nvPr>
        </p:nvSpPr>
        <p:spPr>
          <a:xfrm>
            <a:off x="415600" y="1954405"/>
            <a:ext cx="3744000" cy="413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9" name="Google Shape;49;g3f793887413_0_42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g3f793887413_0_46"/>
          <p:cNvGrpSpPr/>
          <p:nvPr/>
        </p:nvGrpSpPr>
        <p:grpSpPr>
          <a:xfrm>
            <a:off x="8130968" y="7"/>
            <a:ext cx="4060732" cy="2707359"/>
            <a:chOff x="6098378" y="5"/>
            <a:chExt cx="3045625" cy="2030570"/>
          </a:xfrm>
        </p:grpSpPr>
        <p:sp>
          <p:nvSpPr>
            <p:cNvPr id="52" name="Google Shape;52;g3f793887413_0_46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g3f793887413_0_46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g3f793887413_0_46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g3f793887413_0_46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g3f793887413_0_46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g3f793887413_0_46"/>
          <p:cNvSpPr txBox="1"/>
          <p:nvPr>
            <p:ph type="title"/>
          </p:nvPr>
        </p:nvSpPr>
        <p:spPr>
          <a:xfrm>
            <a:off x="653667" y="701800"/>
            <a:ext cx="74916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g3f793887413_0_46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793887413_0_55"/>
          <p:cNvSpPr/>
          <p:nvPr/>
        </p:nvSpPr>
        <p:spPr>
          <a:xfrm>
            <a:off x="6096000" y="-233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g3f793887413_0_55"/>
          <p:cNvCxnSpPr/>
          <p:nvPr/>
        </p:nvCxnSpPr>
        <p:spPr>
          <a:xfrm>
            <a:off x="6706233" y="5994000"/>
            <a:ext cx="6243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g3f793887413_0_55"/>
          <p:cNvSpPr txBox="1"/>
          <p:nvPr>
            <p:ph type="title"/>
          </p:nvPr>
        </p:nvSpPr>
        <p:spPr>
          <a:xfrm>
            <a:off x="354000" y="1534800"/>
            <a:ext cx="5393700" cy="2085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63" name="Google Shape;63;g3f793887413_0_55"/>
          <p:cNvSpPr txBox="1"/>
          <p:nvPr>
            <p:ph idx="1" type="subTitle"/>
          </p:nvPr>
        </p:nvSpPr>
        <p:spPr>
          <a:xfrm>
            <a:off x="354000" y="3692002"/>
            <a:ext cx="5393700" cy="169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4" name="Google Shape;64;g3f793887413_0_55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g3f793887413_0_55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793887413_0_62"/>
          <p:cNvSpPr txBox="1"/>
          <p:nvPr>
            <p:ph idx="1" type="body"/>
          </p:nvPr>
        </p:nvSpPr>
        <p:spPr>
          <a:xfrm>
            <a:off x="426000" y="5640767"/>
            <a:ext cx="7998300" cy="79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68" name="Google Shape;68;g3f793887413_0_62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g3f793887413_0_65"/>
          <p:cNvGrpSpPr/>
          <p:nvPr/>
        </p:nvGrpSpPr>
        <p:grpSpPr>
          <a:xfrm>
            <a:off x="8130968" y="7"/>
            <a:ext cx="4060732" cy="2707359"/>
            <a:chOff x="6098378" y="5"/>
            <a:chExt cx="3045625" cy="2030570"/>
          </a:xfrm>
        </p:grpSpPr>
        <p:sp>
          <p:nvSpPr>
            <p:cNvPr id="71" name="Google Shape;71;g3f793887413_0_65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g3f793887413_0_65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g3f793887413_0_65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g3f793887413_0_65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g3f793887413_0_65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g3f793887413_0_65"/>
          <p:cNvSpPr txBox="1"/>
          <p:nvPr>
            <p:ph hasCustomPrompt="1" type="title"/>
          </p:nvPr>
        </p:nvSpPr>
        <p:spPr>
          <a:xfrm>
            <a:off x="415600" y="1674733"/>
            <a:ext cx="11360700" cy="27075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g3f793887413_0_65"/>
          <p:cNvSpPr txBox="1"/>
          <p:nvPr>
            <p:ph idx="1" type="body"/>
          </p:nvPr>
        </p:nvSpPr>
        <p:spPr>
          <a:xfrm>
            <a:off x="415600" y="4492300"/>
            <a:ext cx="11360700" cy="1709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g3f793887413_0_65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793887413_0_75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f793887413_0_1"/>
          <p:cNvSpPr txBox="1"/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g3f793887413_0_1"/>
          <p:cNvSpPr txBox="1"/>
          <p:nvPr>
            <p:ph idx="1" type="body"/>
          </p:nvPr>
        </p:nvSpPr>
        <p:spPr>
          <a:xfrm>
            <a:off x="415600" y="1639833"/>
            <a:ext cx="11360700" cy="44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"/>
              <a:buChar char="●"/>
              <a:defRPr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○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■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●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○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■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●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○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■"/>
              <a:defRPr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f793887413_0_1"/>
          <p:cNvSpPr txBox="1"/>
          <p:nvPr>
            <p:ph idx="12" type="sldNum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4.png"/><Relationship Id="rId6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11" Type="http://schemas.openxmlformats.org/officeDocument/2006/relationships/image" Target="../media/image16.png"/><Relationship Id="rId10" Type="http://schemas.openxmlformats.org/officeDocument/2006/relationships/image" Target="../media/image20.png"/><Relationship Id="rId9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8.png"/><Relationship Id="rId7" Type="http://schemas.openxmlformats.org/officeDocument/2006/relationships/image" Target="../media/image17.png"/><Relationship Id="rId8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5" name="Google Shape;85;g3f793887413_0_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7781" y="4373712"/>
            <a:ext cx="8096494" cy="92871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3f793887413_0_102"/>
          <p:cNvSpPr txBox="1"/>
          <p:nvPr/>
        </p:nvSpPr>
        <p:spPr>
          <a:xfrm>
            <a:off x="1826615" y="2150904"/>
            <a:ext cx="8538900" cy="8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38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Inteligencia de Mercado</a:t>
            </a:r>
            <a:endParaRPr sz="1750"/>
          </a:p>
        </p:txBody>
      </p:sp>
      <p:sp>
        <p:nvSpPr>
          <p:cNvPr id="87" name="Google Shape;87;g3f793887413_0_102"/>
          <p:cNvSpPr txBox="1"/>
          <p:nvPr/>
        </p:nvSpPr>
        <p:spPr>
          <a:xfrm>
            <a:off x="1452450" y="3183055"/>
            <a:ext cx="92871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Plataforma analítica continua orientada al monitoreo estratégico, procesamiento de datos comerciales y optimización de toma de decisiones.</a:t>
            </a:r>
            <a:endParaRPr sz="1750">
              <a:solidFill>
                <a:schemeClr val="lt1"/>
              </a:solidFill>
            </a:endParaRPr>
          </a:p>
        </p:txBody>
      </p:sp>
      <p:pic>
        <p:nvPicPr>
          <p:cNvPr descr="image.png" id="88" name="Google Shape;88;g3f793887413_0_10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4588" y="1561528"/>
            <a:ext cx="214318" cy="19050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f793887413_0_102"/>
          <p:cNvSpPr txBox="1"/>
          <p:nvPr/>
        </p:nvSpPr>
        <p:spPr>
          <a:xfrm>
            <a:off x="4804160" y="1555575"/>
            <a:ext cx="28935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13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PROYECT</a:t>
            </a:r>
            <a:r>
              <a:rPr b="1" lang="en-US" sz="1313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b="1" i="0" lang="en-US" sz="1313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 - 2026</a:t>
            </a:r>
            <a:endParaRPr sz="1750"/>
          </a:p>
        </p:txBody>
      </p:sp>
      <p:sp>
        <p:nvSpPr>
          <p:cNvPr id="90" name="Google Shape;90;g3f793887413_0_102"/>
          <p:cNvSpPr txBox="1"/>
          <p:nvPr/>
        </p:nvSpPr>
        <p:spPr>
          <a:xfrm>
            <a:off x="2535952" y="4629704"/>
            <a:ext cx="359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Integrantes del Equipo</a:t>
            </a:r>
            <a:r>
              <a:rPr b="0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1500" u="none" cap="none" strike="noStrike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Vicente Rivera  |  Ignacio Fuenzalida</a:t>
            </a:r>
            <a:endParaRPr sz="1750"/>
          </a:p>
        </p:txBody>
      </p:sp>
      <p:sp>
        <p:nvSpPr>
          <p:cNvPr id="91" name="Google Shape;91;g3f793887413_0_102"/>
          <p:cNvSpPr/>
          <p:nvPr/>
        </p:nvSpPr>
        <p:spPr>
          <a:xfrm>
            <a:off x="6608012" y="4623750"/>
            <a:ext cx="12000" cy="42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3f793887413_0_102"/>
          <p:cNvSpPr txBox="1"/>
          <p:nvPr/>
        </p:nvSpPr>
        <p:spPr>
          <a:xfrm>
            <a:off x="7096183" y="4629704"/>
            <a:ext cx="255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Modalidad</a:t>
            </a: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Continuidad (Encipharm)</a:t>
            </a:r>
            <a:endParaRPr sz="1750"/>
          </a:p>
        </p:txBody>
      </p:sp>
      <p:pic>
        <p:nvPicPr>
          <p:cNvPr descr="image.png" id="93" name="Google Shape;93;g3f793887413_0_10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04145" y="4623735"/>
            <a:ext cx="238132" cy="190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g3f793887413_0_10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85747" y="4623735"/>
            <a:ext cx="190506" cy="190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7E7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>
            <a:off x="5608812" y="2375500"/>
            <a:ext cx="974100" cy="486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58425" lIns="116900" spcFirstLastPara="1" rIns="116900" wrap="square" tIns="58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1658848" y="2716487"/>
            <a:ext cx="8874300" cy="7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86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Visión General del Proyecto</a:t>
            </a:r>
            <a:endParaRPr sz="1790"/>
          </a:p>
        </p:txBody>
      </p:sp>
      <p:sp>
        <p:nvSpPr>
          <p:cNvPr id="101" name="Google Shape;101;p2"/>
          <p:cNvSpPr txBox="1"/>
          <p:nvPr/>
        </p:nvSpPr>
        <p:spPr>
          <a:xfrm>
            <a:off x="1711823" y="3715092"/>
            <a:ext cx="8768100" cy="7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18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Análisis integral de los objetivos del negocio, el contexto de continuidad y el valor añadido para la toma de decisiones comerciales.</a:t>
            </a:r>
            <a:endParaRPr sz="179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/>
          <p:nvPr/>
        </p:nvSpPr>
        <p:spPr>
          <a:xfrm>
            <a:off x="838200" y="1046900"/>
            <a:ext cx="76068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9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Orientación al Mercado:</a:t>
            </a:r>
            <a:r>
              <a:rPr b="0" i="0" lang="en-US" sz="179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El proyecto de Inteligencia de Mercado proporciona una infraestructura centralizada para capturar, consolidar y analizar información estratégica de competidores y ventas.</a:t>
            </a:r>
            <a:endParaRPr sz="2094"/>
          </a:p>
        </p:txBody>
      </p:sp>
      <p:sp>
        <p:nvSpPr>
          <p:cNvPr id="107" name="Google Shape;107;p3"/>
          <p:cNvSpPr txBox="1"/>
          <p:nvPr/>
        </p:nvSpPr>
        <p:spPr>
          <a:xfrm>
            <a:off x="838200" y="2300453"/>
            <a:ext cx="76068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9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Modalidad Continuidad:</a:t>
            </a:r>
            <a:r>
              <a:rPr b="0" i="0" lang="en-US" sz="179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El desarrollo se realiza sobre la base previa de </a:t>
            </a:r>
            <a:r>
              <a:rPr b="0" i="1" lang="en-US" sz="179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Inteligencia de Mercado Encipharm</a:t>
            </a:r>
            <a:r>
              <a:rPr b="0" i="0" lang="en-US" sz="179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elevando los módulos preexistentes a niveles avanzados de producción.</a:t>
            </a:r>
            <a:endParaRPr sz="2094"/>
          </a:p>
        </p:txBody>
      </p:sp>
      <p:sp>
        <p:nvSpPr>
          <p:cNvPr id="108" name="Google Shape;108;p3"/>
          <p:cNvSpPr txBox="1"/>
          <p:nvPr/>
        </p:nvSpPr>
        <p:spPr>
          <a:xfrm>
            <a:off x="838200" y="3554005"/>
            <a:ext cx="76068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9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Procesamiento Inteligente:</a:t>
            </a:r>
            <a:r>
              <a:rPr b="0" i="0" lang="en-US" sz="179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Integra canalización automatizada de datos para transformar registros dispersos en tableros interactivos de visualización clara para la directiva.</a:t>
            </a:r>
            <a:endParaRPr sz="2094"/>
          </a:p>
        </p:txBody>
      </p:sp>
      <p:sp>
        <p:nvSpPr>
          <p:cNvPr id="109" name="Google Shape;109;p3"/>
          <p:cNvSpPr txBox="1"/>
          <p:nvPr/>
        </p:nvSpPr>
        <p:spPr>
          <a:xfrm>
            <a:off x="838200" y="4807558"/>
            <a:ext cx="76068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9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Valor Comercial:</a:t>
            </a:r>
            <a:r>
              <a:rPr b="0" i="0" lang="en-US" sz="179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Minimiza el tiempo de reacción ante fluctuaciones del sector, permitiendo ajustar precios y catálogo de manera oportuna.</a:t>
            </a:r>
            <a:endParaRPr sz="2094"/>
          </a:p>
        </p:txBody>
      </p:sp>
      <p:pic>
        <p:nvPicPr>
          <p:cNvPr descr="image.png"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8350" y="1687288"/>
            <a:ext cx="3478325" cy="2331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118971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242692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366413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4807562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 txBox="1"/>
          <p:nvPr/>
        </p:nvSpPr>
        <p:spPr>
          <a:xfrm>
            <a:off x="533400" y="457200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Descripción del Proyecto</a:t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533400" y="838200"/>
            <a:ext cx="7210425" cy="1905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475" y="1120407"/>
            <a:ext cx="8286631" cy="33815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2070" y="3978757"/>
            <a:ext cx="8286631" cy="338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/>
          <p:cNvSpPr txBox="1"/>
          <p:nvPr/>
        </p:nvSpPr>
        <p:spPr>
          <a:xfrm>
            <a:off x="707618" y="2145258"/>
            <a:ext cx="73203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4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 trabajo abarca el desarrollo y refinamiento de la arquitectura de datos, la ingesta masiva de archivos de mercado, la consolidación de métricas de competencia y la implementación de tableros ejecutivos en tiempo real con control de acceso por roles.</a:t>
            </a:r>
            <a:endParaRPr sz="2152"/>
          </a:p>
        </p:txBody>
      </p:sp>
      <p:sp>
        <p:nvSpPr>
          <p:cNvPr id="124" name="Google Shape;124;p4"/>
          <p:cNvSpPr txBox="1"/>
          <p:nvPr/>
        </p:nvSpPr>
        <p:spPr>
          <a:xfrm>
            <a:off x="4115213" y="5003608"/>
            <a:ext cx="73203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4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 equipo prioriza la optimización del rendimiento de consultas, la corrección de inconsistencias en bases históricas, la seguridad en las APIs REST de consumo y la documentación exhaustiva para el despliegue mediante infraestructura en contenedores.</a:t>
            </a:r>
            <a:endParaRPr sz="2152"/>
          </a:p>
        </p:txBody>
      </p:sp>
      <p:pic>
        <p:nvPicPr>
          <p:cNvPr descr="image.png" id="125" name="Google Shape;12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7618" y="1610870"/>
            <a:ext cx="351377" cy="351377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4"/>
          <p:cNvSpPr txBox="1"/>
          <p:nvPr/>
        </p:nvSpPr>
        <p:spPr>
          <a:xfrm>
            <a:off x="1205401" y="1603551"/>
            <a:ext cx="39969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6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Alcance Funcional Incluido</a:t>
            </a:r>
            <a:endParaRPr sz="2152"/>
          </a:p>
        </p:txBody>
      </p:sp>
      <p:pic>
        <p:nvPicPr>
          <p:cNvPr descr="image.png" id="127" name="Google Shape;12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1313" y="1610870"/>
            <a:ext cx="351377" cy="351377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4"/>
          <p:cNvSpPr txBox="1"/>
          <p:nvPr/>
        </p:nvSpPr>
        <p:spPr>
          <a:xfrm>
            <a:off x="4612996" y="4461901"/>
            <a:ext cx="25212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6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Límites y Calidad</a:t>
            </a:r>
            <a:endParaRPr sz="2152"/>
          </a:p>
        </p:txBody>
      </p:sp>
      <p:sp>
        <p:nvSpPr>
          <p:cNvPr id="129" name="Google Shape;129;p4"/>
          <p:cNvSpPr txBox="1"/>
          <p:nvPr/>
        </p:nvSpPr>
        <p:spPr>
          <a:xfrm>
            <a:off x="533400" y="457200"/>
            <a:ext cx="1165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Alcance del Proyecto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533400" y="838200"/>
            <a:ext cx="7772400" cy="1905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06666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064512"/>
            <a:ext cx="4341405" cy="3086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33704" y="3846125"/>
            <a:ext cx="4341405" cy="3086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4125" y="1401752"/>
            <a:ext cx="604704" cy="60470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 txBox="1"/>
          <p:nvPr/>
        </p:nvSpPr>
        <p:spPr>
          <a:xfrm>
            <a:off x="824125" y="2215777"/>
            <a:ext cx="39480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31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Ingesta de Datos</a:t>
            </a:r>
            <a:endParaRPr sz="1709"/>
          </a:p>
        </p:txBody>
      </p:sp>
      <p:sp>
        <p:nvSpPr>
          <p:cNvPr id="139" name="Google Shape;139;p5"/>
          <p:cNvSpPr txBox="1"/>
          <p:nvPr/>
        </p:nvSpPr>
        <p:spPr>
          <a:xfrm>
            <a:off x="824125" y="2622790"/>
            <a:ext cx="3759900" cy="13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6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Mecanismos automatizados para canalizar y estructurar orígenes heterogéneos de información sobre productos y precios del mercado.</a:t>
            </a:r>
            <a:endParaRPr sz="1709"/>
          </a:p>
        </p:txBody>
      </p:sp>
      <p:pic>
        <p:nvPicPr>
          <p:cNvPr descr="image.png" id="140" name="Google Shape;14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24429" y="4183364"/>
            <a:ext cx="604704" cy="604704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5"/>
          <p:cNvSpPr txBox="1"/>
          <p:nvPr/>
        </p:nvSpPr>
        <p:spPr>
          <a:xfrm>
            <a:off x="4324429" y="4997390"/>
            <a:ext cx="39480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31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Visualización BI</a:t>
            </a:r>
            <a:endParaRPr sz="1709"/>
          </a:p>
        </p:txBody>
      </p:sp>
      <p:sp>
        <p:nvSpPr>
          <p:cNvPr id="142" name="Google Shape;142;p5"/>
          <p:cNvSpPr txBox="1"/>
          <p:nvPr/>
        </p:nvSpPr>
        <p:spPr>
          <a:xfrm>
            <a:off x="4324429" y="5404402"/>
            <a:ext cx="3759900" cy="9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6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Interfaz intuitiva y reactiva que presenta gráficos dinámicos, reportes descargables y alertas ante anomalías comerciales.</a:t>
            </a:r>
            <a:endParaRPr sz="1709"/>
          </a:p>
        </p:txBody>
      </p:sp>
      <p:pic>
        <p:nvPicPr>
          <p:cNvPr descr="image.png" id="143" name="Google Shape;143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16003" y="1576186"/>
            <a:ext cx="220950" cy="2558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81421" y="4357798"/>
            <a:ext cx="290723" cy="255836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5"/>
          <p:cNvSpPr txBox="1"/>
          <p:nvPr/>
        </p:nvSpPr>
        <p:spPr>
          <a:xfrm>
            <a:off x="533400" y="457200"/>
            <a:ext cx="1165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Pilares Fundamentales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533400" y="838200"/>
            <a:ext cx="7634287" cy="1905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7" name="Google Shape;147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93165" y="1064500"/>
            <a:ext cx="4341405" cy="3086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83889" y="1401739"/>
            <a:ext cx="604704" cy="60470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5"/>
          <p:cNvSpPr txBox="1"/>
          <p:nvPr/>
        </p:nvSpPr>
        <p:spPr>
          <a:xfrm>
            <a:off x="6683889" y="2215765"/>
            <a:ext cx="39480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31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Motor Analítico</a:t>
            </a:r>
            <a:endParaRPr sz="1709"/>
          </a:p>
        </p:txBody>
      </p:sp>
      <p:sp>
        <p:nvSpPr>
          <p:cNvPr id="150" name="Google Shape;150;p5"/>
          <p:cNvSpPr txBox="1"/>
          <p:nvPr/>
        </p:nvSpPr>
        <p:spPr>
          <a:xfrm>
            <a:off x="6683889" y="2622777"/>
            <a:ext cx="3759900" cy="13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6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Algoritmos de agregación que calculan variaciones, participación de mercado y tendencias predictivas clave para la gerencia.</a:t>
            </a:r>
            <a:endParaRPr sz="1709"/>
          </a:p>
        </p:txBody>
      </p:sp>
      <p:pic>
        <p:nvPicPr>
          <p:cNvPr descr="image.png" id="151" name="Google Shape;151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858324" y="1576173"/>
            <a:ext cx="255838" cy="255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DC15">
            <a:alpha val="53460"/>
          </a:srgbClr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"/>
          <p:cNvSpPr txBox="1"/>
          <p:nvPr/>
        </p:nvSpPr>
        <p:spPr>
          <a:xfrm>
            <a:off x="533400" y="533400"/>
            <a:ext cx="528066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Arquitectura de Solución</a:t>
            </a:r>
            <a:endParaRPr/>
          </a:p>
        </p:txBody>
      </p:sp>
      <p:pic>
        <p:nvPicPr>
          <p:cNvPr descr="image.png" id="157" name="Google Shape;157;p6"/>
          <p:cNvPicPr preferRelativeResize="0"/>
          <p:nvPr/>
        </p:nvPicPr>
        <p:blipFill rotWithShape="1">
          <a:blip r:embed="rId3">
            <a:alphaModFix/>
          </a:blip>
          <a:srcRect b="0" l="10360" r="3015" t="25777"/>
          <a:stretch/>
        </p:blipFill>
        <p:spPr>
          <a:xfrm>
            <a:off x="7190975" y="933460"/>
            <a:ext cx="4367100" cy="4209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58" name="Google Shape;158;p6"/>
          <p:cNvSpPr/>
          <p:nvPr/>
        </p:nvSpPr>
        <p:spPr>
          <a:xfrm>
            <a:off x="533400" y="914400"/>
            <a:ext cx="1190625" cy="1905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 txBox="1"/>
          <p:nvPr/>
        </p:nvSpPr>
        <p:spPr>
          <a:xfrm>
            <a:off x="533275" y="1381550"/>
            <a:ext cx="55725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17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Flujo de Datos Unificado</a:t>
            </a:r>
            <a:endParaRPr sz="1690"/>
          </a:p>
        </p:txBody>
      </p:sp>
      <p:sp>
        <p:nvSpPr>
          <p:cNvPr id="160" name="Google Shape;160;p6"/>
          <p:cNvSpPr txBox="1"/>
          <p:nvPr/>
        </p:nvSpPr>
        <p:spPr>
          <a:xfrm>
            <a:off x="533275" y="2031975"/>
            <a:ext cx="60141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49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 arquitectura del sistema contempla un esquema desacoplado donde la capa de datos procesa información mediante pipelines asíncronos en el backend.</a:t>
            </a:r>
            <a:endParaRPr sz="2390"/>
          </a:p>
        </p:txBody>
      </p:sp>
      <p:sp>
        <p:nvSpPr>
          <p:cNvPr id="161" name="Google Shape;161;p6"/>
          <p:cNvSpPr txBox="1"/>
          <p:nvPr/>
        </p:nvSpPr>
        <p:spPr>
          <a:xfrm>
            <a:off x="584725" y="4077700"/>
            <a:ext cx="5911200" cy="23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49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Los datos procesados se exponen a través de una API REST segura con autenticación basada en tokens, garantizando que el frontend cargue tableros analíticos pesados de manera fluida y sin latencia percibida.</a:t>
            </a:r>
            <a:endParaRPr sz="239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/>
          <p:nvPr/>
        </p:nvSpPr>
        <p:spPr>
          <a:xfrm>
            <a:off x="533400" y="2490787"/>
            <a:ext cx="11125200" cy="248602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7" name="Google Shape;167;p9"/>
          <p:cNvGraphicFramePr/>
          <p:nvPr/>
        </p:nvGraphicFramePr>
        <p:xfrm>
          <a:off x="538163" y="15189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{D9B8B9C6-E17D-4CFC-B6BD-E9186A0673FE}</a:tableStyleId>
              </a:tblPr>
              <a:tblGrid>
                <a:gridCol w="1682200"/>
                <a:gridCol w="2576225"/>
                <a:gridCol w="4053025"/>
                <a:gridCol w="2804225"/>
              </a:tblGrid>
              <a:tr h="49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Capa</a:t>
                      </a:r>
                      <a:endParaRPr sz="2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Tecnología Seleccionada</a:t>
                      </a:r>
                      <a:endParaRPr sz="2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Propósito en el Proyecto</a:t>
                      </a:r>
                      <a:endParaRPr sz="2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Estado de Continuidad</a:t>
                      </a:r>
                      <a:endParaRPr sz="2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9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23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Frontend Web</a:t>
                      </a:r>
                      <a:endParaRPr sz="2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3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React / Vue SPA + Tailwind</a:t>
                      </a:r>
                      <a:endParaRPr sz="2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3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Interfaz de usuario y tableros interactivos</a:t>
                      </a:r>
                      <a:endParaRPr sz="2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3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Refactorización UI</a:t>
                      </a:r>
                      <a:endParaRPr sz="2600"/>
                    </a:p>
                  </a:txBody>
                  <a:tcPr marT="25400" marB="25400" marR="63500" marL="25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23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Backend API</a:t>
                      </a:r>
                      <a:endParaRPr sz="2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3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Python (FastAPI / Express)</a:t>
                      </a:r>
                      <a:endParaRPr sz="2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3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Orquestación de lógica y comunicación REST</a:t>
                      </a:r>
                      <a:endParaRPr sz="2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3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Optimización Endpoints</a:t>
                      </a:r>
                      <a:endParaRPr sz="2600"/>
                    </a:p>
                  </a:txBody>
                  <a:tcPr marT="25400" marB="25400" marR="63500" marL="25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9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23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Base de Datos</a:t>
                      </a:r>
                      <a:endParaRPr sz="2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3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PostgreSQL / Relacional</a:t>
                      </a:r>
                      <a:endParaRPr sz="2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3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Almacenamiento estructurado de mercado</a:t>
                      </a:r>
                      <a:endParaRPr sz="2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3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Normalización de Esquema</a:t>
                      </a:r>
                      <a:endParaRPr sz="2600"/>
                    </a:p>
                  </a:txBody>
                  <a:tcPr marT="25400" marB="25400" marR="63500" marL="25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23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Infraestructura</a:t>
                      </a:r>
                      <a:endParaRPr sz="2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3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Docker &amp; Cloud Services</a:t>
                      </a:r>
                      <a:endParaRPr sz="2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3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Despliegue ágil y contenedorizado</a:t>
                      </a:r>
                      <a:endParaRPr sz="2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3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Listo para Producción</a:t>
                      </a:r>
                      <a:endParaRPr sz="2600"/>
                    </a:p>
                  </a:txBody>
                  <a:tcPr marT="25400" marB="25400" marR="63500" marL="2190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68" name="Google Shape;168;p9"/>
          <p:cNvSpPr/>
          <p:nvPr/>
        </p:nvSpPr>
        <p:spPr>
          <a:xfrm>
            <a:off x="538162" y="3476625"/>
            <a:ext cx="16822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2220366" y="3476625"/>
            <a:ext cx="25762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4796581" y="3476625"/>
            <a:ext cx="4053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8849617" y="3476625"/>
            <a:ext cx="28042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538162" y="3971925"/>
            <a:ext cx="16822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2220366" y="3971925"/>
            <a:ext cx="25762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4796581" y="3971925"/>
            <a:ext cx="4053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8849617" y="3971925"/>
            <a:ext cx="28042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538162" y="4467225"/>
            <a:ext cx="16822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2220366" y="4467225"/>
            <a:ext cx="25762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4796581" y="4467225"/>
            <a:ext cx="4053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8849617" y="4467225"/>
            <a:ext cx="28042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 txBox="1"/>
          <p:nvPr/>
        </p:nvSpPr>
        <p:spPr>
          <a:xfrm>
            <a:off x="533400" y="457200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Matriz Tecnológica</a:t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533400" y="838200"/>
            <a:ext cx="8162925" cy="1905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00500" y="4349047"/>
            <a:ext cx="3990975" cy="73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2"/>
          <p:cNvSpPr txBox="1"/>
          <p:nvPr/>
        </p:nvSpPr>
        <p:spPr>
          <a:xfrm>
            <a:off x="1790461" y="2794694"/>
            <a:ext cx="8611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¿Preguntas?</a:t>
            </a:r>
            <a:endParaRPr/>
          </a:p>
        </p:txBody>
      </p:sp>
      <p:sp>
        <p:nvSpPr>
          <p:cNvPr id="189" name="Google Shape;189;p12"/>
          <p:cNvSpPr txBox="1"/>
          <p:nvPr/>
        </p:nvSpPr>
        <p:spPr>
          <a:xfrm>
            <a:off x="5919787" y="4510980"/>
            <a:ext cx="47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|</a:t>
            </a:r>
            <a:endParaRPr/>
          </a:p>
        </p:txBody>
      </p:sp>
      <p:pic>
        <p:nvPicPr>
          <p:cNvPr descr="image.png" id="190" name="Google Shape;19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4837" y="453003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2"/>
          <p:cNvSpPr txBox="1"/>
          <p:nvPr/>
        </p:nvSpPr>
        <p:spPr>
          <a:xfrm>
            <a:off x="4643437" y="4510980"/>
            <a:ext cx="1047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Vicente Rivera</a:t>
            </a:r>
            <a:endParaRPr/>
          </a:p>
        </p:txBody>
      </p:sp>
      <p:pic>
        <p:nvPicPr>
          <p:cNvPr descr="image.png" id="192" name="Google Shape;192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6012" y="453003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2"/>
          <p:cNvSpPr txBox="1"/>
          <p:nvPr/>
        </p:nvSpPr>
        <p:spPr>
          <a:xfrm>
            <a:off x="6424612" y="4510980"/>
            <a:ext cx="13525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Ignacio Fuenzalida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