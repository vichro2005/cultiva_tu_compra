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handoutMasterIdLst>
    <p:handoutMasterId r:id="rId2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embeddedFontLst>
    <p:embeddedFont>
      <p:font typeface="Carlito" panose="020B0604020202020204" charset="0"/>
      <p:regular r:id="rId22"/>
    </p:embeddedFont>
    <p:embeddedFont>
      <p:font typeface="Carlito Bold"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114" y="390"/>
      </p:cViewPr>
      <p:guideLst/>
    </p:cSldViewPr>
  </p:slideViewPr>
  <p:notesTextViewPr>
    <p:cViewPr>
      <p:scale>
        <a:sx n="1" d="1"/>
        <a:sy n="1" d="1"/>
      </p:scale>
      <p:origin x="0" y="0"/>
    </p:cViewPr>
  </p:notesTextViewPr>
  <p:notesViewPr>
    <p:cSldViewPr snapToGrid="0" snapToObjects="1">
      <p:cViewPr varScale="1">
        <p:scale>
          <a:sx n="67" d="100"/>
          <a:sy n="67" d="100"/>
        </p:scale>
        <p:origin x="427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Actividades</c:v>
                </c:pt>
              </c:strCache>
            </c:strRef>
          </c:tx>
          <c:spPr>
            <a:solidFill>
              <a:schemeClr val="accent1"/>
            </a:solidFill>
            <a:ln w="9525" cap="flat">
              <a:solidFill>
                <a:srgbClr val="F9F9F9"/>
              </a:solidFill>
              <a:prstDash val="solid"/>
              <a:round/>
            </a:ln>
            <a:effectLst/>
          </c:spPr>
          <c:dPt>
            <c:idx val="0"/>
            <c:bubble3D val="0"/>
            <c:spPr>
              <a:solidFill>
                <a:srgbClr val="2E7D5B"/>
              </a:solidFill>
              <a:ln w="25400" cap="flat">
                <a:solidFill>
                  <a:srgbClr val="FFFFFF"/>
                </a:solidFill>
                <a:prstDash val="solid"/>
                <a:round/>
              </a:ln>
              <a:effectLst/>
            </c:spPr>
            <c:extLst>
              <c:ext xmlns:c16="http://schemas.microsoft.com/office/drawing/2014/chart" uri="{C3380CC4-5D6E-409C-BE32-E72D297353CC}">
                <c16:uniqueId val="{00000001-3299-4A19-998E-AEE9EEF3C19F}"/>
              </c:ext>
            </c:extLst>
          </c:dPt>
          <c:dPt>
            <c:idx val="1"/>
            <c:bubble3D val="0"/>
            <c:spPr>
              <a:solidFill>
                <a:srgbClr val="C27C0E"/>
              </a:solidFill>
              <a:ln w="25400" cap="flat">
                <a:solidFill>
                  <a:srgbClr val="FFFFFF"/>
                </a:solidFill>
                <a:prstDash val="solid"/>
                <a:round/>
              </a:ln>
              <a:effectLst/>
            </c:spPr>
            <c:extLst>
              <c:ext xmlns:c16="http://schemas.microsoft.com/office/drawing/2014/chart" uri="{C3380CC4-5D6E-409C-BE32-E72D297353CC}">
                <c16:uniqueId val="{00000003-3299-4A19-998E-AEE9EEF3C19F}"/>
              </c:ext>
            </c:extLst>
          </c:dPt>
          <c:dPt>
            <c:idx val="2"/>
            <c:bubble3D val="0"/>
            <c:spPr>
              <a:solidFill>
                <a:srgbClr val="5B6577"/>
              </a:solidFill>
              <a:ln w="25400" cap="flat">
                <a:solidFill>
                  <a:srgbClr val="FFFFFF"/>
                </a:solidFill>
                <a:prstDash val="solid"/>
                <a:round/>
              </a:ln>
              <a:effectLst/>
            </c:spPr>
            <c:extLst>
              <c:ext xmlns:c16="http://schemas.microsoft.com/office/drawing/2014/chart" uri="{C3380CC4-5D6E-409C-BE32-E72D297353CC}">
                <c16:uniqueId val="{00000005-3299-4A19-998E-AEE9EEF3C19F}"/>
              </c:ext>
            </c:extLst>
          </c:dPt>
          <c:dLbls>
            <c:dLbl>
              <c:idx val="0"/>
              <c:tx>
                <c:rich>
                  <a:bodyPr/>
                  <a:lstStyle/>
                  <a:p>
                    <a:pPr>
                      <a:defRPr sz="1800" b="1" i="0" u="none" strike="noStrike">
                        <a:solidFill>
                          <a:srgbClr val="FFFFFF"/>
                        </a:solidFill>
                        <a:latin typeface="+mn-lt"/>
                      </a:defRPr>
                    </a:pPr>
                    <a:r>
                      <a:rPr lang="en-US" dirty="0"/>
                      <a:t>7</a:t>
                    </a:r>
                  </a:p>
                </c:rich>
              </c:tx>
              <c:numFmt formatCode="General"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299-4A19-998E-AEE9EEF3C19F}"/>
                </c:ext>
              </c:extLst>
            </c:dLbl>
            <c:dLbl>
              <c:idx val="1"/>
              <c:tx>
                <c:rich>
                  <a:bodyPr/>
                  <a:lstStyle/>
                  <a:p>
                    <a:pPr>
                      <a:defRPr sz="1800" b="1" i="0" u="none" strike="noStrike">
                        <a:solidFill>
                          <a:srgbClr val="FFFFFF"/>
                        </a:solidFill>
                        <a:latin typeface="+mn-lt"/>
                      </a:defRPr>
                    </a:pPr>
                    <a:r>
                      <a:rPr lang="en-US" dirty="0"/>
                      <a:t>3</a:t>
                    </a:r>
                  </a:p>
                </c:rich>
              </c:tx>
              <c:numFmt formatCode="General"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299-4A19-998E-AEE9EEF3C19F}"/>
                </c:ext>
              </c:extLst>
            </c:dLbl>
            <c:dLbl>
              <c:idx val="2"/>
              <c:tx>
                <c:rich>
                  <a:bodyPr/>
                  <a:lstStyle/>
                  <a:p>
                    <a:pPr>
                      <a:defRPr sz="1800" b="1" i="0" u="none" strike="noStrike">
                        <a:solidFill>
                          <a:srgbClr val="FFFFFF"/>
                        </a:solidFill>
                        <a:latin typeface="+mn-lt"/>
                      </a:defRPr>
                    </a:pPr>
                    <a:r>
                      <a:rPr lang="en-US" dirty="0"/>
                      <a:t>3</a:t>
                    </a:r>
                  </a:p>
                </c:rich>
              </c:tx>
              <c:numFmt formatCode="General" sourceLinked="0"/>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299-4A19-998E-AEE9EEF3C19F}"/>
                </c:ext>
              </c:extLst>
            </c:dLbl>
            <c:numFmt formatCode="General" sourceLinked="0"/>
            <c:spPr>
              <a:noFill/>
              <a:ln>
                <a:noFill/>
              </a:ln>
              <a:effectLst/>
            </c:spPr>
            <c:txPr>
              <a:bodyPr/>
              <a:lstStyle/>
              <a:p>
                <a:pPr>
                  <a:defRPr sz="1800" b="1" i="0" u="none" strike="noStrike">
                    <a:solidFill>
                      <a:srgbClr val="000000"/>
                    </a:solidFill>
                    <a:latin typeface="Arial"/>
                  </a:defRPr>
                </a:pPr>
                <a:endParaRPr lang="es-CL"/>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Completado</c:v>
                </c:pt>
                <c:pt idx="1">
                  <c:v>En curso</c:v>
                </c:pt>
                <c:pt idx="2">
                  <c:v>No iniciado</c:v>
                </c:pt>
              </c:strCache>
            </c:strRef>
          </c:cat>
          <c:val>
            <c:numRef>
              <c:f>Sheet1!$B$2:$B$4</c:f>
              <c:numCache>
                <c:formatCode>General</c:formatCode>
                <c:ptCount val="3"/>
                <c:pt idx="0">
                  <c:v>7</c:v>
                </c:pt>
                <c:pt idx="1">
                  <c:v>3</c:v>
                </c:pt>
                <c:pt idx="2">
                  <c:v>3</c:v>
                </c:pt>
              </c:numCache>
            </c:numRef>
          </c:val>
          <c:extLst>
            <c:ext xmlns:c16="http://schemas.microsoft.com/office/drawing/2014/chart" uri="{C3380CC4-5D6E-409C-BE32-E72D297353CC}">
              <c16:uniqueId val="{00000006-3299-4A19-998E-AEE9EEF3C19F}"/>
            </c:ext>
          </c:extLst>
        </c:ser>
        <c:dLbls>
          <c:showLegendKey val="0"/>
          <c:showVal val="0"/>
          <c:showCatName val="0"/>
          <c:showSerName val="0"/>
          <c:showPercent val="0"/>
          <c:showBubbleSize val="0"/>
          <c:showLeaderLines val="0"/>
        </c:dLbls>
        <c:firstSliceAng val="0"/>
        <c:holeSize val="43"/>
      </c:doughnutChart>
      <c:spPr>
        <a:noFill/>
        <a:ln>
          <a:noFill/>
        </a:ln>
        <a:effectLst/>
      </c:spPr>
    </c:plotArea>
    <c:legend>
      <c:legendPos val="b"/>
      <c:overlay val="0"/>
      <c:txPr>
        <a:bodyPr/>
        <a:lstStyle/>
        <a:p>
          <a:pPr>
            <a:defRPr sz="1400">
              <a:solidFill>
                <a:srgbClr val="1B1F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b="0" i="0" u="none" strike="noStrike">
                <a:solidFill>
                  <a:srgbClr val="0B2A55"/>
                </a:solidFill>
                <a:latin typeface="+mn-lt"/>
              </a:defRPr>
            </a:pPr>
            <a:r>
              <a:rPr lang="es-ES" sz="1600" b="0" i="0" u="none" strike="noStrike">
                <a:solidFill>
                  <a:srgbClr val="0B2A55"/>
                </a:solidFill>
                <a:latin typeface="+mn-lt"/>
              </a:rPr>
              <a:t>Total estimado por escenario (millones de CLP)</a:t>
            </a:r>
          </a:p>
        </c:rich>
      </c:tx>
      <c:overlay val="0"/>
    </c:title>
    <c:autoTitleDeleted val="0"/>
    <c:plotArea>
      <c:layout/>
      <c:barChart>
        <c:barDir val="col"/>
        <c:grouping val="clustered"/>
        <c:varyColors val="0"/>
        <c:ser>
          <c:idx val="0"/>
          <c:order val="0"/>
          <c:tx>
            <c:strRef>
              <c:f>Sheet1!$B$1</c:f>
              <c:strCache>
                <c:ptCount val="1"/>
                <c:pt idx="0">
                  <c:v>Total estimado (millones de CLP)</c:v>
                </c:pt>
              </c:strCache>
            </c:strRef>
          </c:tx>
          <c:spPr>
            <a:solidFill>
              <a:srgbClr val="0B2A55"/>
            </a:solidFill>
            <a:effectLst/>
          </c:spPr>
          <c:invertIfNegative val="0"/>
          <c:dPt>
            <c:idx val="0"/>
            <c:invertIfNegative val="0"/>
            <c:bubble3D val="0"/>
            <c:extLst>
              <c:ext xmlns:c16="http://schemas.microsoft.com/office/drawing/2014/chart" uri="{C3380CC4-5D6E-409C-BE32-E72D297353CC}">
                <c16:uniqueId val="{00000000-16F1-4AD9-A4FC-BC0B3BA4981D}"/>
              </c:ext>
            </c:extLst>
          </c:dPt>
          <c:dPt>
            <c:idx val="1"/>
            <c:invertIfNegative val="0"/>
            <c:bubble3D val="0"/>
            <c:spPr>
              <a:solidFill>
                <a:srgbClr val="5B6577"/>
              </a:solidFill>
              <a:effectLst/>
            </c:spPr>
            <c:extLst>
              <c:ext xmlns:c16="http://schemas.microsoft.com/office/drawing/2014/chart" uri="{C3380CC4-5D6E-409C-BE32-E72D297353CC}">
                <c16:uniqueId val="{00000002-16F1-4AD9-A4FC-BC0B3BA4981D}"/>
              </c:ext>
            </c:extLst>
          </c:dPt>
          <c:dPt>
            <c:idx val="2"/>
            <c:invertIfNegative val="0"/>
            <c:bubble3D val="0"/>
            <c:spPr>
              <a:solidFill>
                <a:srgbClr val="5B6577"/>
              </a:solidFill>
              <a:effectLst/>
            </c:spPr>
            <c:extLst>
              <c:ext xmlns:c16="http://schemas.microsoft.com/office/drawing/2014/chart" uri="{C3380CC4-5D6E-409C-BE32-E72D297353CC}">
                <c16:uniqueId val="{00000004-16F1-4AD9-A4FC-BC0B3BA4981D}"/>
              </c:ext>
            </c:extLst>
          </c:dPt>
          <c:dLbls>
            <c:numFmt formatCode="0.0" sourceLinked="0"/>
            <c:spPr>
              <a:noFill/>
              <a:ln>
                <a:noFill/>
              </a:ln>
              <a:effectLst/>
            </c:spPr>
            <c:txPr>
              <a:bodyPr/>
              <a:lstStyle/>
              <a:p>
                <a:pPr>
                  <a:defRPr sz="1400" b="1" i="0" u="none" strike="noStrike">
                    <a:solidFill>
                      <a:srgbClr val="1B1F2A"/>
                    </a:solidFill>
                    <a:latin typeface="+mn-lt"/>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Opción A (base)</c:v>
                </c:pt>
                <c:pt idx="1">
                  <c:v>A con planes pagados</c:v>
                </c:pt>
                <c:pt idx="2">
                  <c:v>Opción B producción</c:v>
                </c:pt>
              </c:strCache>
            </c:strRef>
          </c:cat>
          <c:val>
            <c:numRef>
              <c:f>Sheet1!$B$2:$B$4</c:f>
              <c:numCache>
                <c:formatCode>General</c:formatCode>
                <c:ptCount val="3"/>
                <c:pt idx="0">
                  <c:v>5.6</c:v>
                </c:pt>
                <c:pt idx="1">
                  <c:v>7.3</c:v>
                </c:pt>
                <c:pt idx="2">
                  <c:v>9.5</c:v>
                </c:pt>
              </c:numCache>
            </c:numRef>
          </c:val>
          <c:extLst>
            <c:ext xmlns:c16="http://schemas.microsoft.com/office/drawing/2014/chart" uri="{C3380CC4-5D6E-409C-BE32-E72D297353CC}">
              <c16:uniqueId val="{00000005-16F1-4AD9-A4FC-BC0B3BA4981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2A"/>
                </a:solidFill>
                <a:latin typeface="+mn-lt"/>
              </a:defRPr>
            </a:pPr>
            <a:endParaRPr lang="en-US"/>
          </a:p>
        </c:txPr>
        <c:crossAx val="2094734552"/>
        <c:crosses val="autoZero"/>
        <c:auto val="1"/>
        <c:lblAlgn val="ctr"/>
        <c:lblOffset val="100"/>
        <c:noMultiLvlLbl val="1"/>
      </c:catAx>
      <c:valAx>
        <c:axId val="2094734552"/>
        <c:scaling>
          <c:orientation val="minMax"/>
          <c:max val="1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6989E83-A684-A44B-7B8A-4B1D00A4B856}"/>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AD42B401-9FDA-8D19-61F2-49559162271C}"/>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DDA92F09-5C33-4A61-9DDE-17FA27B31F65}" type="datetimeFigureOut">
              <a:rPr lang="es-CL" smtClean="0"/>
              <a:t>15-10-2026</a:t>
            </a:fld>
            <a:endParaRPr lang="es-CL"/>
          </a:p>
        </p:txBody>
      </p:sp>
      <p:sp>
        <p:nvSpPr>
          <p:cNvPr id="4" name="Marcador de pie de página 3">
            <a:extLst>
              <a:ext uri="{FF2B5EF4-FFF2-40B4-BE49-F238E27FC236}">
                <a16:creationId xmlns:a16="http://schemas.microsoft.com/office/drawing/2014/main" id="{A935EF3D-2DBB-0D92-6B8B-7602A7B2AA23}"/>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5F6D8BF3-56EF-B260-D26E-E77EAE49D81D}"/>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64AF7E96-7B90-40C7-8BD2-859262FB3EEA}" type="slidenum">
              <a:rPr lang="es-CL" smtClean="0"/>
              <a:t>‹Nº›</a:t>
            </a:fld>
            <a:endParaRPr lang="es-CL"/>
          </a:p>
        </p:txBody>
      </p:sp>
    </p:spTree>
    <p:extLst>
      <p:ext uri="{BB962C8B-B14F-4D97-AF65-F5344CB8AC3E}">
        <p14:creationId xmlns:p14="http://schemas.microsoft.com/office/powerpoint/2010/main" val="1820349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7433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avance de la Fase 2 del Proyecto APT. CuTuCo evoluciona desde un prototipo móvil hacia un marketplace web desacoplado. Estado al 15 de octubre de 2026 (semana 5 de 13).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responde a dos problemas relacionados: la brecha tecnológica de los pequeños productores y la intermediación que reduce su margen. Una tienda propia no resuelve la logística de proximidad, la confianza ni la trazabilidad. CuTuCo integra todo en una plataforma con tres roles.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general y cuatro objetivos específicos: migración de persistencia, construcción de la plataforma, integración de pago y entrega, y aseguramiento de calidad.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 eligió un enfoque tradicional porque la pauta académica exige entregables formales, trazabilidad y control de alcance, y porque el equipo es de dos personas. Las fases se solapan parcialmente: al 15 de octubre la fase 2 (análisis y diseño) quedó cerrada y estamos en la fase 3 (construcción), que ya tiene su base técnica en curso.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hitos de control. H01 está cerrado. H02 (análisis y diseño base) está en su cierre final, con el ERS, la arquitectura, el modelo de datos, los mockups y el plan de calidad ya entregados y actualizados al alcance vigente. El desarrollo termina en la semana 11 y las semanas 12 y 13 se reservan para documentación y entrega.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Planificación, ERS, arquitectura, modelo de datos, mockups y plan de pruebas están completados. Backend y Supabase están en curso. Frontend, pagos, integración y documentación están programados para semanas posteriores y por eso se informan como pendientes, no como atrasados. Las cifras de avance corresponden al último corte registrado, del 05/10 (semana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Detalle del plan de trabajo con responsables y ventanas de tiempo. Las actividades no iniciadas están dentro de su ventana planificada: no hay retrasos. Solo informaremos un retraso cuando una tarea supere su ventana y afecte un hito.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arquitectura separa presentación, API, persistencia y servicios externos. Las consultas simples, el CRUD y la autenticación van directo a Supabase, con roles, RLS, policies y grants; en FastAPI + Docker (Cloud Run) vive solo la lógica específica de la integración con Webpay Mall (Split Payment), donde la pasarela captura y dispersa el pago en tiempo real. Los correos salen con Resend y la habilitación de la cuenta de Transbank es un trámite externo a la plataforma. Para el MVP académico usamos la Opción A; la Opción B queda como proyección productiva.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modelo de datos ya fue rediseñado y corresponde a un modelo revisado y actualizado sobre el alcance final, no a una propuesta pendiente. La tabla payouts se retiró porque la dispersión la realiza la pasarela de Transbank; en su lugar el modelo incorpora los reclamos (RF-027) junto con payments y delivery_tracking. Las reglas de integridad protegen pagos y stock (buy_order y token_ws únicos, eliminación lógica, RLS y policies por rol y stock con SELECT FOR UPDATE). Los datos que envían los postulantes se protegen con roles, RLS, policies, grants y permisos de Storage, sin cifrado propio. Queda en curso la ejecución de la migración desde SQLite y la decisión de si se hace con ALTER TABLE o con recreación de tablas.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alcance vigente queda en 22 requerimientos: los 21 anteriores más RF-027 (Gestión de Reclamos). Se descartaron cinco requerimientos (RF-008, RF-010, RF-013, RF-015 y RF-016) y se retiraron de los flujos activos el escrow o custodia de fondos, las retenciones, los payouts y los reembolsos, que quedan registrados como historial de alcance. Cualquier función descartada solo vuelve con una decisión formal de cambio.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es el recorrido que valida el producto, en orden: invitado, compra con validación de región, pago con Webpay Mall (Split Payment), dispersión directa al productor, entrega con código, calificación de 1 a 5 y, al final, la resolución de reclamos, sanciones y apelaciones. CuTuCo no retiene fondos ni ejecuta payouts: la pasarela dispersa el pago al confirmarse la transacción. El fee base es de 5% más una tarifa fija de delivery de 3.500 CLP, y ambos se descuentan en el Split Payment.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dieciocho riesgos están clasificados por probabilidad e impacto: seis críticos, ocho altos y cuatro medios. Los más urgentes son control de alcance y cierre con errores críticos. Todos tienen respuesta de mitigación y se revisan semanalmente. La matriz incorpora tres riesgos nuevos sobre las obligaciones legales del vendedor: patente comercial, resolución sanitaria y comprobantes de la venta.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estrategia prueba primero unidades pequeñas, luego las conexiones y al final los flujos completos. Para las pruebas unitarias y de integración del backend usamos Pytest con httpx, sin herramientas de cliente HTTP externas; Vitest cubre la integración del frontend. La pasarela se prueba con el Transbank SDK en Modo Integración, el modo que se nos proporciona para realizar las pruebas con datos mock, lo que permite emular las transferencias. Se priorizan los flujos que afectan dinero, seguridad y confianza y las metas de calidad se revisan cada semana desde la semana 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Validación contra el EDT y el flujo de caja del plan de costos: el presupuesto base es la Opción A, con niveles gratuitos y créditos de GCP. El total estimado es de $5.626.158 y el desembolso real con contingencia es de $338.870, compuesto por $308.064 de infraestructura y otros costos más 10 % de contingencia. Las 520 horas del escenario base salen del desglose de HH del EDT: 260 horas por integrante a 20 horas semanales durante 13 semanas, repartidas por rol (JP 50, ASW 45, DBA 45 y PFS 1 120 en Vicente; AP 60 y PFS 2 200 en Ignacio), valorizadas en $4.806.625 a precio de mercado. El trabajo del equipo está valorizado, pero no se paga. Al corte del 05/10 (semana 4) el gasto real es de $81.143 sobre $308.064 planificados, con 136 horas ejecutadas y 0 % de desviación. La Opción B es una proyección de producción y no está incluida, y los trámites de constitución, patente municipal y resolución sanitaria quedan en $0 hasta contar con cotización.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Estas son las evidencias que respaldan el avance. Los documentos de planificación y de análisis y diseño están entregados y actualizados al alcance vigente. El ajuste de alcance obligó a corregir los documentos base (ERS, EDT, modelo de datos, plan de pruebas y plan de calidad y costos), y esa corrección se incorpora de forma explícita como evidencia de avance. Los scripts de base de datos, la configuración de despliegue y las minutas de control siguen en curso. Los resultados de pruebas y las capturas de interfaz se agregarán a medida que se completen los flujos.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principal facilitador es contar con un MVP funcional y una planificación ya documentada. La principal dificultad es que la evolución técnica es mucho mayor que la de un CRUD básico: RLS (Row Level Security), policies y grants por rol, triggers y funciones en la base de datos, la migración de SQLite a PostgreSQL, la integración con Transbank y las transacciones con restricciones UNIQUE e idempotencia. Todo eso se resuelve por capas, con transacciones y validaciones, y somos solo dos personas con dependencias externas.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ajustes mantienen el proyecto viable para dos personas en 13 semanas. El alcance vigente queda en 22 requerimientos: se simplificó la forma de implementar varias funciones y se retiraron de los flujos activos la custodia de fondos, los payouts y los reembolsos, que quedan registrados como historial de alcance. Cualquier función descartada solo vuelve con una decisión formal.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próximas etapas siguen el cronograma: construir frontend, integrar pago y entrega, ejecutar pruebas críticas y reservar las semanas 12 y 13 para documentación y entrega. Cierre con los tres principios del proyecto: simple, eficaz y eficiente.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B2A5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master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master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master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master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master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master 1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master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master 1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master 1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alphaModFix amt="75000"/>
          </a:blip>
          <a:stretch>
            <a:fillRect/>
          </a:stretch>
        </p:blipFill>
        <p:spPr>
          <a:xfrm>
            <a:off x="0" y="0"/>
            <a:ext cx="12191695" cy="6858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master 1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master 1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master 18">
    <p:bg>
      <p:bgPr>
        <a:solidFill>
          <a:srgbClr val="0B2A5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422" y="1311870"/>
            <a:ext cx="7558791" cy="266700"/>
          </a:xfrm>
          <a:prstGeom prst="rect">
            <a:avLst/>
          </a:prstGeom>
          <a:noFill/>
          <a:ln/>
        </p:spPr>
        <p:txBody>
          <a:bodyPr wrap="none" lIns="0" tIns="0" rIns="0" bIns="0" rtlCol="0" anchor="t"/>
          <a:lstStyle/>
          <a:p>
            <a:pPr marL="0" indent="0" algn="l">
              <a:lnSpc>
                <a:spcPct val="125000"/>
              </a:lnSpc>
              <a:buNone/>
            </a:pPr>
            <a:r>
              <a:rPr lang="en-US" sz="1400" b="1" kern="100" spc="300" dirty="0">
                <a:solidFill>
                  <a:srgbClr val="FFC72C"/>
                </a:solidFill>
                <a:latin typeface="Carlito Bold" pitchFamily="34" charset="0"/>
                <a:ea typeface="Carlito Bold" pitchFamily="34" charset="-122"/>
                <a:cs typeface="Carlito Bold" pitchFamily="34" charset="-120"/>
              </a:rPr>
              <a:t>CAPSTONE  ·  FASE 2  ·  AVANCE DEL PROYECTO APT</a:t>
            </a:r>
            <a:endParaRPr lang="en-US" sz="1400" dirty="0"/>
          </a:p>
        </p:txBody>
      </p:sp>
      <p:sp>
        <p:nvSpPr>
          <p:cNvPr id="3" name="Text 1"/>
          <p:cNvSpPr/>
          <p:nvPr/>
        </p:nvSpPr>
        <p:spPr>
          <a:xfrm>
            <a:off x="731422" y="1895793"/>
            <a:ext cx="6949207" cy="1097260"/>
          </a:xfrm>
          <a:prstGeom prst="rect">
            <a:avLst/>
          </a:prstGeom>
          <a:noFill/>
          <a:ln/>
        </p:spPr>
        <p:txBody>
          <a:bodyPr wrap="none" lIns="0" tIns="0" rIns="0" bIns="0" rtlCol="0" anchor="t"/>
          <a:lstStyle/>
          <a:p>
            <a:pPr marL="0" indent="0" algn="l">
              <a:lnSpc>
                <a:spcPct val="100000"/>
              </a:lnSpc>
              <a:buNone/>
            </a:pPr>
            <a:r>
              <a:rPr lang="en-US" sz="7200" b="1" dirty="0">
                <a:solidFill>
                  <a:srgbClr val="FFFFFF"/>
                </a:solidFill>
                <a:latin typeface="Carlito Bold" pitchFamily="34" charset="0"/>
                <a:ea typeface="Carlito Bold" pitchFamily="34" charset="-122"/>
                <a:cs typeface="Carlito Bold" pitchFamily="34" charset="-120"/>
              </a:rPr>
              <a:t>CuTuCo</a:t>
            </a:r>
            <a:endParaRPr lang="en-US" sz="7200" dirty="0"/>
          </a:p>
        </p:txBody>
      </p:sp>
      <p:sp>
        <p:nvSpPr>
          <p:cNvPr id="4" name="Text 2"/>
          <p:cNvSpPr/>
          <p:nvPr/>
        </p:nvSpPr>
        <p:spPr>
          <a:xfrm>
            <a:off x="731422" y="3106360"/>
            <a:ext cx="6709202" cy="670520"/>
          </a:xfrm>
          <a:prstGeom prst="rect">
            <a:avLst/>
          </a:prstGeom>
          <a:noFill/>
          <a:ln/>
        </p:spPr>
        <p:txBody>
          <a:bodyPr wrap="square" lIns="0" tIns="0" rIns="0" bIns="0" rtlCol="0" anchor="t">
            <a:normAutofit lnSpcReduction="10000"/>
          </a:bodyPr>
          <a:lstStyle/>
          <a:p>
            <a:pPr marL="0" indent="0" algn="l">
              <a:lnSpc>
                <a:spcPct val="100000"/>
              </a:lnSpc>
              <a:buNone/>
            </a:pPr>
            <a:r>
              <a:rPr lang="en-US" sz="2200" dirty="0">
                <a:solidFill>
                  <a:srgbClr val="FFFFFF"/>
                </a:solidFill>
                <a:latin typeface="Carlito" pitchFamily="34" charset="0"/>
                <a:ea typeface="Carlito" pitchFamily="34" charset="-122"/>
                <a:cs typeface="Carlito" pitchFamily="34" charset="-120"/>
              </a:rPr>
              <a:t>Cultiva Tu Compra: marketplace SaaS B2B2C de comercio de proximidad para la Agricultura Familiar Campesina</a:t>
            </a:r>
            <a:endParaRPr lang="en-US" sz="2200" dirty="0"/>
          </a:p>
        </p:txBody>
      </p:sp>
      <p:sp>
        <p:nvSpPr>
          <p:cNvPr id="5" name="Text 3"/>
          <p:cNvSpPr/>
          <p:nvPr/>
        </p:nvSpPr>
        <p:spPr>
          <a:xfrm>
            <a:off x="731422" y="4570393"/>
            <a:ext cx="6766351" cy="274241"/>
          </a:xfrm>
          <a:prstGeom prst="rect">
            <a:avLst/>
          </a:prstGeom>
          <a:noFill/>
          <a:ln/>
        </p:spPr>
        <p:txBody>
          <a:bodyPr wrap="none" lIns="0" tIns="0" rIns="0" bIns="0" rtlCol="0" anchor="t"/>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Vicente Rivera  ·  Ignacio Fuenzalida</a:t>
            </a:r>
            <a:endParaRPr lang="en-US" sz="1800" dirty="0"/>
          </a:p>
        </p:txBody>
      </p:sp>
      <p:sp>
        <p:nvSpPr>
          <p:cNvPr id="6" name="Text 4"/>
          <p:cNvSpPr/>
          <p:nvPr/>
        </p:nvSpPr>
        <p:spPr>
          <a:xfrm>
            <a:off x="731422" y="4969470"/>
            <a:ext cx="7375936"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Carlito" pitchFamily="34" charset="0"/>
                <a:ea typeface="Carlito" pitchFamily="34" charset="-122"/>
                <a:cs typeface="Carlito" pitchFamily="34" charset="-120"/>
              </a:rPr>
              <a:t>Duoc UC Plaza Norte  ·  Ingeniería en Informática  ·  Octubre 2026</a:t>
            </a:r>
            <a:endParaRPr lang="en-US" sz="1400" dirty="0"/>
          </a:p>
        </p:txBody>
      </p:sp>
      <p:sp>
        <p:nvSpPr>
          <p:cNvPr id="7" name="Shape 5"/>
          <p:cNvSpPr/>
          <p:nvPr/>
        </p:nvSpPr>
        <p:spPr>
          <a:xfrm>
            <a:off x="7955061" y="1371600"/>
            <a:ext cx="3657509" cy="3657600"/>
          </a:xfrm>
          <a:prstGeom prst="ellipse">
            <a:avLst/>
          </a:prstGeom>
          <a:solidFill>
            <a:srgbClr val="FFFFFF">
              <a:alpha val="8000"/>
            </a:srgbClr>
          </a:solidFill>
          <a:ln/>
        </p:spPr>
        <p:txBody>
          <a:bodyPr/>
          <a:lstStyle/>
          <a:p>
            <a:endParaRPr lang="es-CL"/>
          </a:p>
        </p:txBody>
      </p:sp>
      <p:sp>
        <p:nvSpPr>
          <p:cNvPr id="8" name="Shape 6"/>
          <p:cNvSpPr/>
          <p:nvPr/>
        </p:nvSpPr>
        <p:spPr>
          <a:xfrm>
            <a:off x="8777961" y="2194520"/>
            <a:ext cx="2011610" cy="2011660"/>
          </a:xfrm>
          <a:prstGeom prst="ellipse">
            <a:avLst/>
          </a:prstGeom>
          <a:solidFill>
            <a:srgbClr val="FFC72C"/>
          </a:solidFill>
          <a:ln w="12700">
            <a:solidFill>
              <a:srgbClr val="FFC72C"/>
            </a:solidFill>
            <a:prstDash val="solid"/>
          </a:ln>
        </p:spPr>
        <p:txBody>
          <a:bodyPr/>
          <a:lstStyle/>
          <a:p>
            <a:endParaRPr lang="es-CL"/>
          </a:p>
        </p:txBody>
      </p:sp>
      <p:pic>
        <p:nvPicPr>
          <p:cNvPr id="9" name="Image 0" descr="preencoded.png"/>
          <p:cNvPicPr>
            <a:picLocks noChangeAspect="1"/>
          </p:cNvPicPr>
          <p:nvPr/>
        </p:nvPicPr>
        <p:blipFill>
          <a:blip r:embed="rId3"/>
          <a:stretch>
            <a:fillRect/>
          </a:stretch>
        </p:blipFill>
        <p:spPr>
          <a:xfrm>
            <a:off x="9299144" y="2715716"/>
            <a:ext cx="969145" cy="969169"/>
          </a:xfrm>
          <a:prstGeom prst="rect">
            <a:avLst/>
          </a:prstGeom>
        </p:spPr>
      </p:pic>
      <p:sp>
        <p:nvSpPr>
          <p:cNvPr id="10" name="Shape 7"/>
          <p:cNvSpPr/>
          <p:nvPr/>
        </p:nvSpPr>
        <p:spPr>
          <a:xfrm>
            <a:off x="731422" y="5760641"/>
            <a:ext cx="1508683" cy="411460"/>
          </a:xfrm>
          <a:prstGeom prst="roundRect">
            <a:avLst>
              <a:gd name="adj" fmla="val 49999"/>
            </a:avLst>
          </a:prstGeom>
          <a:solidFill>
            <a:srgbClr val="FFFFFF">
              <a:alpha val="10000"/>
            </a:srgbClr>
          </a:solidFill>
          <a:ln w="12700">
            <a:solidFill>
              <a:srgbClr val="FFC72C"/>
            </a:solidFill>
            <a:prstDash val="solid"/>
          </a:ln>
        </p:spPr>
        <p:txBody>
          <a:bodyPr/>
          <a:lstStyle/>
          <a:p>
            <a:endParaRPr lang="es-CL"/>
          </a:p>
        </p:txBody>
      </p:sp>
      <p:sp>
        <p:nvSpPr>
          <p:cNvPr id="11" name="Text 8"/>
          <p:cNvSpPr/>
          <p:nvPr/>
        </p:nvSpPr>
        <p:spPr>
          <a:xfrm>
            <a:off x="426630" y="5853410"/>
            <a:ext cx="2118267" cy="247650"/>
          </a:xfrm>
          <a:prstGeom prst="rect">
            <a:avLst/>
          </a:prstGeom>
          <a:noFill/>
          <a:ln/>
        </p:spPr>
        <p:txBody>
          <a:bodyPr wrap="none" lIns="0" tIns="0" rIns="0" bIns="0" rtlCol="0" anchor="t"/>
          <a:lstStyle/>
          <a:p>
            <a:pPr marL="0" indent="0" algn="ctr">
              <a:lnSpc>
                <a:spcPct val="125000"/>
              </a:lnSpc>
              <a:buNone/>
            </a:pPr>
            <a:r>
              <a:rPr lang="en-US" sz="1300" b="1" kern="100" spc="200" dirty="0">
                <a:solidFill>
                  <a:srgbClr val="FFFFFF"/>
                </a:solidFill>
                <a:latin typeface="Carlito Bold" pitchFamily="34" charset="0"/>
                <a:ea typeface="Carlito Bold" pitchFamily="34" charset="-122"/>
                <a:cs typeface="Carlito Bold" pitchFamily="34" charset="-120"/>
              </a:rPr>
              <a:t>SIMPLE</a:t>
            </a:r>
            <a:endParaRPr lang="en-US" sz="1300" dirty="0"/>
          </a:p>
        </p:txBody>
      </p:sp>
      <p:sp>
        <p:nvSpPr>
          <p:cNvPr id="12" name="Shape 9"/>
          <p:cNvSpPr/>
          <p:nvPr/>
        </p:nvSpPr>
        <p:spPr>
          <a:xfrm>
            <a:off x="2423060" y="5760641"/>
            <a:ext cx="1508683" cy="411460"/>
          </a:xfrm>
          <a:prstGeom prst="roundRect">
            <a:avLst>
              <a:gd name="adj" fmla="val 49999"/>
            </a:avLst>
          </a:prstGeom>
          <a:solidFill>
            <a:srgbClr val="FFFFFF">
              <a:alpha val="10000"/>
            </a:srgbClr>
          </a:solidFill>
          <a:ln w="12700">
            <a:solidFill>
              <a:srgbClr val="FFC72C"/>
            </a:solidFill>
            <a:prstDash val="solid"/>
          </a:ln>
        </p:spPr>
        <p:txBody>
          <a:bodyPr/>
          <a:lstStyle/>
          <a:p>
            <a:endParaRPr lang="es-CL"/>
          </a:p>
        </p:txBody>
      </p:sp>
      <p:sp>
        <p:nvSpPr>
          <p:cNvPr id="13" name="Text 10"/>
          <p:cNvSpPr/>
          <p:nvPr/>
        </p:nvSpPr>
        <p:spPr>
          <a:xfrm>
            <a:off x="2118267" y="5853410"/>
            <a:ext cx="2118267" cy="247650"/>
          </a:xfrm>
          <a:prstGeom prst="rect">
            <a:avLst/>
          </a:prstGeom>
          <a:noFill/>
          <a:ln/>
        </p:spPr>
        <p:txBody>
          <a:bodyPr wrap="none" lIns="0" tIns="0" rIns="0" bIns="0" rtlCol="0" anchor="t"/>
          <a:lstStyle/>
          <a:p>
            <a:pPr marL="0" indent="0" algn="ctr">
              <a:lnSpc>
                <a:spcPct val="125000"/>
              </a:lnSpc>
              <a:buNone/>
            </a:pPr>
            <a:r>
              <a:rPr lang="en-US" sz="1300" b="1" kern="100" spc="200" dirty="0">
                <a:solidFill>
                  <a:srgbClr val="FFFFFF"/>
                </a:solidFill>
                <a:latin typeface="Carlito Bold" pitchFamily="34" charset="0"/>
                <a:ea typeface="Carlito Bold" pitchFamily="34" charset="-122"/>
                <a:cs typeface="Carlito Bold" pitchFamily="34" charset="-120"/>
              </a:rPr>
              <a:t>EFICAZ</a:t>
            </a:r>
            <a:endParaRPr lang="en-US" sz="1300" dirty="0"/>
          </a:p>
        </p:txBody>
      </p:sp>
      <p:sp>
        <p:nvSpPr>
          <p:cNvPr id="14" name="Shape 11"/>
          <p:cNvSpPr/>
          <p:nvPr/>
        </p:nvSpPr>
        <p:spPr>
          <a:xfrm>
            <a:off x="4114697" y="5760641"/>
            <a:ext cx="1508683" cy="411460"/>
          </a:xfrm>
          <a:prstGeom prst="roundRect">
            <a:avLst>
              <a:gd name="adj" fmla="val 49999"/>
            </a:avLst>
          </a:prstGeom>
          <a:solidFill>
            <a:srgbClr val="FFFFFF">
              <a:alpha val="10000"/>
            </a:srgbClr>
          </a:solidFill>
          <a:ln w="12700">
            <a:solidFill>
              <a:srgbClr val="FFC72C"/>
            </a:solidFill>
            <a:prstDash val="solid"/>
          </a:ln>
        </p:spPr>
        <p:txBody>
          <a:bodyPr/>
          <a:lstStyle/>
          <a:p>
            <a:endParaRPr lang="es-CL"/>
          </a:p>
        </p:txBody>
      </p:sp>
      <p:sp>
        <p:nvSpPr>
          <p:cNvPr id="15" name="Text 12"/>
          <p:cNvSpPr/>
          <p:nvPr/>
        </p:nvSpPr>
        <p:spPr>
          <a:xfrm>
            <a:off x="3809905" y="5853410"/>
            <a:ext cx="2118267" cy="247650"/>
          </a:xfrm>
          <a:prstGeom prst="rect">
            <a:avLst/>
          </a:prstGeom>
          <a:noFill/>
          <a:ln/>
        </p:spPr>
        <p:txBody>
          <a:bodyPr wrap="none" lIns="0" tIns="0" rIns="0" bIns="0" rtlCol="0" anchor="t"/>
          <a:lstStyle/>
          <a:p>
            <a:pPr marL="0" indent="0" algn="ctr">
              <a:lnSpc>
                <a:spcPct val="125000"/>
              </a:lnSpc>
              <a:buNone/>
            </a:pPr>
            <a:r>
              <a:rPr lang="en-US" sz="1300" b="1" kern="100" spc="200" dirty="0">
                <a:solidFill>
                  <a:srgbClr val="FFFFFF"/>
                </a:solidFill>
                <a:latin typeface="Carlito Bold" pitchFamily="34" charset="0"/>
                <a:ea typeface="Carlito Bold" pitchFamily="34" charset="-122"/>
                <a:cs typeface="Carlito Bold" pitchFamily="34" charset="-120"/>
              </a:rPr>
              <a:t>EFICIENTE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El proyecto: CuTuCo</a:t>
            </a:r>
            <a:endParaRPr lang="en-US" sz="3400" dirty="0"/>
          </a:p>
        </p:txBody>
      </p:sp>
      <p:sp>
        <p:nvSpPr>
          <p:cNvPr id="3" name="Shape 1"/>
          <p:cNvSpPr/>
          <p:nvPr/>
        </p:nvSpPr>
        <p:spPr>
          <a:xfrm>
            <a:off x="548567" y="1462980"/>
            <a:ext cx="3502037" cy="4297660"/>
          </a:xfrm>
          <a:prstGeom prst="roundRect">
            <a:avLst>
              <a:gd name="adj" fmla="val 3760"/>
            </a:avLst>
          </a:prstGeom>
          <a:solidFill>
            <a:srgbClr val="EEF2F7"/>
          </a:solidFill>
          <a:ln w="12700">
            <a:solidFill>
              <a:srgbClr val="EEF2F7"/>
            </a:solidFill>
            <a:prstDash val="solid"/>
          </a:ln>
        </p:spPr>
        <p:txBody>
          <a:bodyPr/>
          <a:lstStyle/>
          <a:p>
            <a:endParaRPr lang="es-CL"/>
          </a:p>
        </p:txBody>
      </p:sp>
      <p:sp>
        <p:nvSpPr>
          <p:cNvPr id="4" name="Shape 2"/>
          <p:cNvSpPr/>
          <p:nvPr/>
        </p:nvSpPr>
        <p:spPr>
          <a:xfrm>
            <a:off x="822900" y="1737320"/>
            <a:ext cx="640044" cy="640060"/>
          </a:xfrm>
          <a:prstGeom prst="ellipse">
            <a:avLst/>
          </a:prstGeom>
          <a:solidFill>
            <a:srgbClr val="0B2A55"/>
          </a:solidFill>
          <a:ln w="12700">
            <a:solidFill>
              <a:srgbClr val="0B2A55"/>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982936" y="1897360"/>
            <a:ext cx="319972" cy="319980"/>
          </a:xfrm>
          <a:prstGeom prst="rect">
            <a:avLst/>
          </a:prstGeom>
        </p:spPr>
      </p:pic>
      <p:sp>
        <p:nvSpPr>
          <p:cNvPr id="6" name="Text 3"/>
          <p:cNvSpPr/>
          <p:nvPr/>
        </p:nvSpPr>
        <p:spPr>
          <a:xfrm>
            <a:off x="1645799" y="1862089"/>
            <a:ext cx="2194465" cy="365720"/>
          </a:xfrm>
          <a:prstGeom prst="rect">
            <a:avLst/>
          </a:prstGeom>
          <a:noFill/>
          <a:ln/>
        </p:spPr>
        <p:txBody>
          <a:bodyPr wrap="none" lIns="0" tIns="0" rIns="0" bIns="0" rtlCol="0" anchor="t"/>
          <a:lstStyle/>
          <a:p>
            <a:pPr marL="0" indent="0" algn="l">
              <a:lnSpc>
                <a:spcPct val="100000"/>
              </a:lnSpc>
              <a:buNone/>
            </a:pPr>
            <a:r>
              <a:rPr lang="en-US" sz="2400" b="1" dirty="0">
                <a:solidFill>
                  <a:srgbClr val="0B2A55"/>
                </a:solidFill>
                <a:latin typeface="Carlito Bold" pitchFamily="34" charset="0"/>
                <a:ea typeface="Carlito Bold" pitchFamily="34" charset="-122"/>
                <a:cs typeface="Carlito Bold" pitchFamily="34" charset="-120"/>
              </a:rPr>
              <a:t>Problema</a:t>
            </a:r>
            <a:endParaRPr lang="en-US" sz="2400" dirty="0"/>
          </a:p>
        </p:txBody>
      </p:sp>
      <p:sp>
        <p:nvSpPr>
          <p:cNvPr id="7" name="Text 4"/>
          <p:cNvSpPr/>
          <p:nvPr/>
        </p:nvSpPr>
        <p:spPr>
          <a:xfrm>
            <a:off x="822900" y="2683470"/>
            <a:ext cx="2914577" cy="3098006"/>
          </a:xfrm>
          <a:prstGeom prst="rect">
            <a:avLst/>
          </a:prstGeom>
          <a:noFill/>
          <a:ln/>
        </p:spPr>
        <p:txBody>
          <a:bodyPr wrap="square" lIns="0" tIns="0" rIns="0" bIns="0" rtlCol="0" anchor="t">
            <a:normAutofit/>
          </a:bodyPr>
          <a:lstStyle/>
          <a:p>
            <a:pPr marL="342900" indent="-342900" algn="l">
              <a:lnSpc>
                <a:spcPct val="100000"/>
              </a:lnSpc>
              <a:buSzPct val="100000"/>
              <a:buChar char="•"/>
            </a:pPr>
            <a:r>
              <a:rPr lang="en-US" sz="1800" dirty="0">
                <a:solidFill>
                  <a:srgbClr val="1B1F2A"/>
                </a:solidFill>
                <a:latin typeface="Carlito" pitchFamily="34" charset="0"/>
                <a:ea typeface="Carlito" pitchFamily="34" charset="-122"/>
                <a:cs typeface="Carlito" pitchFamily="34" charset="-120"/>
              </a:rPr>
              <a:t>Brecha tecnológica: el pequeño productor no puede costear su propia tienda digital</a:t>
            </a:r>
            <a:endParaRPr lang="en-US" sz="1800" dirty="0"/>
          </a:p>
          <a:p>
            <a:pPr marL="342900" indent="-342900" algn="l">
              <a:lnSpc>
                <a:spcPct val="100000"/>
              </a:lnSpc>
              <a:buSzPct val="100000"/>
              <a:buChar char="•"/>
            </a:pPr>
            <a:r>
              <a:rPr lang="en-US" sz="1800" dirty="0">
                <a:solidFill>
                  <a:srgbClr val="1B1F2A"/>
                </a:solidFill>
                <a:latin typeface="Carlito" pitchFamily="34" charset="0"/>
                <a:ea typeface="Carlito" pitchFamily="34" charset="-122"/>
                <a:cs typeface="Carlito" pitchFamily="34" charset="-120"/>
              </a:rPr>
              <a:t>La intermediación comercial reduce su margen</a:t>
            </a:r>
            <a:endParaRPr lang="en-US" sz="1800" dirty="0"/>
          </a:p>
          <a:p>
            <a:pPr marL="342900" indent="-342900" algn="l">
              <a:lnSpc>
                <a:spcPct val="100000"/>
              </a:lnSpc>
              <a:buSzPct val="100000"/>
              <a:buChar char="•"/>
            </a:pPr>
            <a:r>
              <a:rPr lang="en-US" sz="1800" dirty="0">
                <a:solidFill>
                  <a:srgbClr val="1B1F2A"/>
                </a:solidFill>
                <a:latin typeface="Carlito" pitchFamily="34" charset="0"/>
                <a:ea typeface="Carlito" pitchFamily="34" charset="-122"/>
                <a:cs typeface="Carlito" pitchFamily="34" charset="-120"/>
              </a:rPr>
              <a:t>Falta confianza y trazabilidad en la compra local</a:t>
            </a:r>
            <a:endParaRPr lang="en-US" sz="1800" dirty="0"/>
          </a:p>
        </p:txBody>
      </p:sp>
      <p:sp>
        <p:nvSpPr>
          <p:cNvPr id="8" name="Shape 5"/>
          <p:cNvSpPr/>
          <p:nvPr/>
        </p:nvSpPr>
        <p:spPr>
          <a:xfrm>
            <a:off x="4343291" y="1462980"/>
            <a:ext cx="3502037" cy="4297660"/>
          </a:xfrm>
          <a:prstGeom prst="roundRect">
            <a:avLst>
              <a:gd name="adj" fmla="val 3760"/>
            </a:avLst>
          </a:prstGeom>
          <a:solidFill>
            <a:srgbClr val="EEF2F7"/>
          </a:solidFill>
          <a:ln w="12700">
            <a:solidFill>
              <a:srgbClr val="EEF2F7"/>
            </a:solidFill>
            <a:prstDash val="solid"/>
          </a:ln>
        </p:spPr>
        <p:txBody>
          <a:bodyPr/>
          <a:lstStyle/>
          <a:p>
            <a:endParaRPr lang="es-CL"/>
          </a:p>
        </p:txBody>
      </p:sp>
      <p:sp>
        <p:nvSpPr>
          <p:cNvPr id="9" name="Shape 6"/>
          <p:cNvSpPr/>
          <p:nvPr/>
        </p:nvSpPr>
        <p:spPr>
          <a:xfrm>
            <a:off x="4617525" y="1737320"/>
            <a:ext cx="640044" cy="640060"/>
          </a:xfrm>
          <a:prstGeom prst="ellipse">
            <a:avLst/>
          </a:prstGeom>
          <a:solidFill>
            <a:srgbClr val="0B2A55"/>
          </a:solidFill>
          <a:ln w="12700">
            <a:solidFill>
              <a:srgbClr val="0B2A55"/>
            </a:solidFill>
            <a:prstDash val="solid"/>
          </a:ln>
        </p:spPr>
        <p:txBody>
          <a:bodyPr/>
          <a:lstStyle/>
          <a:p>
            <a:endParaRPr lang="es-CL"/>
          </a:p>
        </p:txBody>
      </p:sp>
      <p:pic>
        <p:nvPicPr>
          <p:cNvPr id="10" name="Image 1" descr="preencoded.png"/>
          <p:cNvPicPr>
            <a:picLocks noChangeAspect="1"/>
          </p:cNvPicPr>
          <p:nvPr/>
        </p:nvPicPr>
        <p:blipFill>
          <a:blip r:embed="rId4"/>
          <a:stretch>
            <a:fillRect/>
          </a:stretch>
        </p:blipFill>
        <p:spPr>
          <a:xfrm>
            <a:off x="4777561" y="1897360"/>
            <a:ext cx="319972" cy="319980"/>
          </a:xfrm>
          <a:prstGeom prst="rect">
            <a:avLst/>
          </a:prstGeom>
        </p:spPr>
      </p:pic>
      <p:sp>
        <p:nvSpPr>
          <p:cNvPr id="11" name="Text 7"/>
          <p:cNvSpPr/>
          <p:nvPr/>
        </p:nvSpPr>
        <p:spPr>
          <a:xfrm>
            <a:off x="5440524" y="1862089"/>
            <a:ext cx="2194465" cy="365720"/>
          </a:xfrm>
          <a:prstGeom prst="rect">
            <a:avLst/>
          </a:prstGeom>
          <a:noFill/>
          <a:ln/>
        </p:spPr>
        <p:txBody>
          <a:bodyPr wrap="none" lIns="0" tIns="0" rIns="0" bIns="0" rtlCol="0" anchor="t"/>
          <a:lstStyle/>
          <a:p>
            <a:pPr marL="0" indent="0" algn="l">
              <a:lnSpc>
                <a:spcPct val="100000"/>
              </a:lnSpc>
              <a:buNone/>
            </a:pPr>
            <a:r>
              <a:rPr lang="en-US" sz="2400" b="1" dirty="0">
                <a:solidFill>
                  <a:srgbClr val="0B2A55"/>
                </a:solidFill>
                <a:latin typeface="Carlito Bold" pitchFamily="34" charset="0"/>
                <a:ea typeface="Carlito Bold" pitchFamily="34" charset="-122"/>
                <a:cs typeface="Carlito Bold" pitchFamily="34" charset="-120"/>
              </a:rPr>
              <a:t>Propuesta</a:t>
            </a:r>
            <a:endParaRPr lang="en-US" sz="2400" dirty="0"/>
          </a:p>
        </p:txBody>
      </p:sp>
      <p:sp>
        <p:nvSpPr>
          <p:cNvPr id="12" name="Text 8"/>
          <p:cNvSpPr/>
          <p:nvPr/>
        </p:nvSpPr>
        <p:spPr>
          <a:xfrm>
            <a:off x="4617525" y="2683470"/>
            <a:ext cx="2914577" cy="2549525"/>
          </a:xfrm>
          <a:prstGeom prst="rect">
            <a:avLst/>
          </a:prstGeom>
          <a:noFill/>
          <a:ln/>
        </p:spPr>
        <p:txBody>
          <a:bodyPr wrap="square" lIns="0" tIns="0" rIns="0" bIns="0" rtlCol="0" anchor="t">
            <a:normAutofit/>
          </a:bodyPr>
          <a:lstStyle/>
          <a:p>
            <a:pPr marL="342900" indent="-342900" algn="l">
              <a:lnSpc>
                <a:spcPct val="100000"/>
              </a:lnSpc>
              <a:buSzPct val="100000"/>
              <a:buChar char="•"/>
            </a:pPr>
            <a:r>
              <a:rPr lang="en-US" sz="1800" dirty="0">
                <a:solidFill>
                  <a:srgbClr val="1B1F2A"/>
                </a:solidFill>
                <a:latin typeface="Carlito" pitchFamily="34" charset="0"/>
                <a:ea typeface="Carlito" pitchFamily="34" charset="-122"/>
                <a:cs typeface="Carlito" pitchFamily="34" charset="-120"/>
              </a:rPr>
              <a:t>Marketplace web que reúne la oferta de productores y la compra en un solo lugar</a:t>
            </a:r>
            <a:endParaRPr lang="en-US" sz="1800" dirty="0"/>
          </a:p>
          <a:p>
            <a:pPr marL="342900" indent="-342900" algn="l">
              <a:lnSpc>
                <a:spcPct val="100000"/>
              </a:lnSpc>
              <a:buSzPct val="100000"/>
              <a:buChar char="•"/>
            </a:pPr>
            <a:r>
              <a:rPr lang="en-US" sz="1800" dirty="0">
                <a:solidFill>
                  <a:srgbClr val="1B1F2A"/>
                </a:solidFill>
                <a:latin typeface="Carlito" pitchFamily="34" charset="0"/>
                <a:ea typeface="Carlito" pitchFamily="34" charset="-122"/>
                <a:cs typeface="Carlito" pitchFamily="34" charset="-120"/>
              </a:rPr>
              <a:t>Pago con Webpay Mall (Split Payment) al productor</a:t>
            </a:r>
            <a:endParaRPr lang="en-US" sz="1800" dirty="0"/>
          </a:p>
          <a:p>
            <a:pPr marL="342900" indent="-342900" algn="l">
              <a:lnSpc>
                <a:spcPct val="100000"/>
              </a:lnSpc>
              <a:buSzPct val="100000"/>
              <a:buChar char="•"/>
            </a:pPr>
            <a:r>
              <a:rPr lang="en-US" sz="1800" dirty="0">
                <a:solidFill>
                  <a:srgbClr val="1B1F2A"/>
                </a:solidFill>
                <a:latin typeface="Carlito" pitchFamily="34" charset="0"/>
                <a:ea typeface="Carlito" pitchFamily="34" charset="-122"/>
                <a:cs typeface="Carlito" pitchFamily="34" charset="-120"/>
              </a:rPr>
              <a:t>Venta de proximidad, restringida por región</a:t>
            </a:r>
            <a:endParaRPr lang="en-US" sz="1800" dirty="0"/>
          </a:p>
        </p:txBody>
      </p:sp>
      <p:sp>
        <p:nvSpPr>
          <p:cNvPr id="13" name="Shape 9"/>
          <p:cNvSpPr/>
          <p:nvPr/>
        </p:nvSpPr>
        <p:spPr>
          <a:xfrm>
            <a:off x="8137917" y="1462980"/>
            <a:ext cx="3502037" cy="4297660"/>
          </a:xfrm>
          <a:prstGeom prst="roundRect">
            <a:avLst>
              <a:gd name="adj" fmla="val 3760"/>
            </a:avLst>
          </a:prstGeom>
          <a:solidFill>
            <a:srgbClr val="EEF2F7"/>
          </a:solidFill>
          <a:ln w="12700">
            <a:solidFill>
              <a:srgbClr val="EEF2F7"/>
            </a:solidFill>
            <a:prstDash val="solid"/>
          </a:ln>
        </p:spPr>
        <p:txBody>
          <a:bodyPr/>
          <a:lstStyle/>
          <a:p>
            <a:endParaRPr lang="es-CL"/>
          </a:p>
        </p:txBody>
      </p:sp>
      <p:sp>
        <p:nvSpPr>
          <p:cNvPr id="14" name="Shape 10"/>
          <p:cNvSpPr/>
          <p:nvPr/>
        </p:nvSpPr>
        <p:spPr>
          <a:xfrm>
            <a:off x="8412250" y="1737320"/>
            <a:ext cx="640044" cy="640060"/>
          </a:xfrm>
          <a:prstGeom prst="ellipse">
            <a:avLst/>
          </a:prstGeom>
          <a:solidFill>
            <a:srgbClr val="0B2A55"/>
          </a:solidFill>
          <a:ln w="12700">
            <a:solidFill>
              <a:srgbClr val="0B2A55"/>
            </a:solidFill>
            <a:prstDash val="solid"/>
          </a:ln>
        </p:spPr>
        <p:txBody>
          <a:bodyPr/>
          <a:lstStyle/>
          <a:p>
            <a:endParaRPr lang="es-CL"/>
          </a:p>
        </p:txBody>
      </p:sp>
      <p:pic>
        <p:nvPicPr>
          <p:cNvPr id="15" name="Image 2" descr="preencoded.png"/>
          <p:cNvPicPr>
            <a:picLocks noChangeAspect="1"/>
          </p:cNvPicPr>
          <p:nvPr/>
        </p:nvPicPr>
        <p:blipFill>
          <a:blip r:embed="rId5"/>
          <a:stretch>
            <a:fillRect/>
          </a:stretch>
        </p:blipFill>
        <p:spPr>
          <a:xfrm>
            <a:off x="8572286" y="1897360"/>
            <a:ext cx="319972" cy="319980"/>
          </a:xfrm>
          <a:prstGeom prst="rect">
            <a:avLst/>
          </a:prstGeom>
        </p:spPr>
      </p:pic>
      <p:sp>
        <p:nvSpPr>
          <p:cNvPr id="16" name="Text 11"/>
          <p:cNvSpPr/>
          <p:nvPr/>
        </p:nvSpPr>
        <p:spPr>
          <a:xfrm>
            <a:off x="9235149" y="1862089"/>
            <a:ext cx="2194465" cy="365720"/>
          </a:xfrm>
          <a:prstGeom prst="rect">
            <a:avLst/>
          </a:prstGeom>
          <a:noFill/>
          <a:ln/>
        </p:spPr>
        <p:txBody>
          <a:bodyPr wrap="none" lIns="0" tIns="0" rIns="0" bIns="0" rtlCol="0" anchor="t"/>
          <a:lstStyle/>
          <a:p>
            <a:pPr marL="0" indent="0" algn="l">
              <a:lnSpc>
                <a:spcPct val="100000"/>
              </a:lnSpc>
              <a:buNone/>
            </a:pPr>
            <a:r>
              <a:rPr lang="en-US" sz="2400" b="1" dirty="0">
                <a:solidFill>
                  <a:srgbClr val="0B2A55"/>
                </a:solidFill>
                <a:latin typeface="Carlito Bold" pitchFamily="34" charset="0"/>
                <a:ea typeface="Carlito Bold" pitchFamily="34" charset="-122"/>
                <a:cs typeface="Carlito Bold" pitchFamily="34" charset="-120"/>
              </a:rPr>
              <a:t>Usuarios</a:t>
            </a:r>
            <a:endParaRPr lang="en-US" sz="2400" dirty="0"/>
          </a:p>
        </p:txBody>
      </p:sp>
      <p:sp>
        <p:nvSpPr>
          <p:cNvPr id="17" name="Text 12"/>
          <p:cNvSpPr/>
          <p:nvPr/>
        </p:nvSpPr>
        <p:spPr>
          <a:xfrm>
            <a:off x="8412250" y="2683470"/>
            <a:ext cx="2914577" cy="2275284"/>
          </a:xfrm>
          <a:prstGeom prst="rect">
            <a:avLst/>
          </a:prstGeom>
          <a:noFill/>
          <a:ln/>
        </p:spPr>
        <p:txBody>
          <a:bodyPr wrap="square" lIns="0" tIns="0" rIns="0" bIns="0" rtlCol="0" anchor="t">
            <a:normAutofit/>
          </a:bodyPr>
          <a:lstStyle/>
          <a:p>
            <a:pPr marL="342900" indent="-342900" algn="l">
              <a:lnSpc>
                <a:spcPct val="100000"/>
              </a:lnSpc>
              <a:buSzPct val="100000"/>
              <a:buChar char="•"/>
            </a:pPr>
            <a:r>
              <a:rPr lang="en-US" sz="1800" b="1" dirty="0">
                <a:solidFill>
                  <a:srgbClr val="1B1F2A"/>
                </a:solidFill>
                <a:latin typeface="Carlito Bold" pitchFamily="34" charset="0"/>
                <a:ea typeface="Carlito Bold" pitchFamily="34" charset="-122"/>
                <a:cs typeface="Carlito Bold" pitchFamily="34" charset="-120"/>
              </a:rPr>
              <a:t>Cliente: </a:t>
            </a:r>
            <a:r>
              <a:rPr lang="en-US" sz="1800" dirty="0">
                <a:solidFill>
                  <a:srgbClr val="1B1F2A"/>
                </a:solidFill>
                <a:latin typeface="Carlito" pitchFamily="34" charset="0"/>
                <a:ea typeface="Carlito" pitchFamily="34" charset="-122"/>
                <a:cs typeface="Carlito" pitchFamily="34" charset="-120"/>
              </a:rPr>
              <a:t>compra y sigue su pedido</a:t>
            </a:r>
            <a:endParaRPr lang="en-US" sz="1800" dirty="0"/>
          </a:p>
          <a:p>
            <a:pPr marL="342900" indent="-342900" algn="l">
              <a:lnSpc>
                <a:spcPct val="100000"/>
              </a:lnSpc>
              <a:buSzPct val="100000"/>
              <a:buChar char="•"/>
            </a:pPr>
            <a:r>
              <a:rPr lang="en-US" sz="1800" b="1" dirty="0">
                <a:solidFill>
                  <a:srgbClr val="1B1F2A"/>
                </a:solidFill>
                <a:latin typeface="Carlito Bold" pitchFamily="34" charset="0"/>
                <a:ea typeface="Carlito Bold" pitchFamily="34" charset="-122"/>
                <a:cs typeface="Carlito Bold" pitchFamily="34" charset="-120"/>
              </a:rPr>
              <a:t>Vendedor: </a:t>
            </a:r>
            <a:r>
              <a:rPr lang="en-US" sz="1800" dirty="0">
                <a:solidFill>
                  <a:srgbClr val="1B1F2A"/>
                </a:solidFill>
                <a:latin typeface="Carlito" pitchFamily="34" charset="0"/>
                <a:ea typeface="Carlito" pitchFamily="34" charset="-122"/>
                <a:cs typeface="Carlito" pitchFamily="34" charset="-120"/>
              </a:rPr>
              <a:t>productor AFC que gestiona tienda, stock y entregas</a:t>
            </a:r>
            <a:endParaRPr lang="en-US" sz="1800" dirty="0"/>
          </a:p>
          <a:p>
            <a:pPr marL="342900" indent="-342900" algn="l">
              <a:lnSpc>
                <a:spcPct val="100000"/>
              </a:lnSpc>
              <a:buSzPct val="100000"/>
              <a:buChar char="•"/>
            </a:pPr>
            <a:r>
              <a:rPr lang="en-US" sz="1800" b="1" dirty="0">
                <a:solidFill>
                  <a:srgbClr val="1B1F2A"/>
                </a:solidFill>
                <a:latin typeface="Carlito Bold" pitchFamily="34" charset="0"/>
                <a:ea typeface="Carlito Bold" pitchFamily="34" charset="-122"/>
                <a:cs typeface="Carlito Bold" pitchFamily="34" charset="-120"/>
              </a:rPr>
              <a:t>Administrador: aprueba, sanciona y atiende reclamos</a:t>
            </a:r>
            <a:endParaRPr lang="en-US" sz="1800" dirty="0"/>
          </a:p>
        </p:txBody>
      </p:sp>
      <p:sp>
        <p:nvSpPr>
          <p:cNvPr id="18" name="Text 13"/>
          <p:cNvSpPr/>
          <p:nvPr/>
        </p:nvSpPr>
        <p:spPr>
          <a:xfrm>
            <a:off x="548567" y="5929610"/>
            <a:ext cx="11643128" cy="266700"/>
          </a:xfrm>
          <a:prstGeom prst="rect">
            <a:avLst/>
          </a:prstGeom>
          <a:noFill/>
          <a:ln/>
        </p:spPr>
        <p:txBody>
          <a:bodyPr wrap="none" lIns="0" tIns="0" rIns="0" bIns="0" rtlCol="0" anchor="t"/>
          <a:lstStyle/>
          <a:p>
            <a:pPr marL="0" indent="0" algn="l">
              <a:lnSpc>
                <a:spcPct val="125000"/>
              </a:lnSpc>
              <a:buNone/>
            </a:pPr>
            <a:r>
              <a:rPr lang="en-US" sz="1400" dirty="0">
                <a:solidFill>
                  <a:srgbClr val="5B6577"/>
                </a:solidFill>
                <a:latin typeface="Carlito" pitchFamily="34" charset="0"/>
                <a:ea typeface="Carlito" pitchFamily="34" charset="-122"/>
                <a:cs typeface="Carlito" pitchFamily="34" charset="-120"/>
              </a:rPr>
              <a:t>Contexto: Chile  ·  Agricultura Familiar Campesina y pequeños productores locales</a:t>
            </a:r>
            <a:endParaRPr lang="en-US" sz="1400" dirty="0"/>
          </a:p>
        </p:txBody>
      </p:sp>
      <p:sp>
        <p:nvSpPr>
          <p:cNvPr id="19" name="Text 14"/>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20" name="Text 15"/>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Objetivos del proyecto</a:t>
            </a:r>
            <a:endParaRPr lang="en-US" sz="3400" dirty="0"/>
          </a:p>
        </p:txBody>
      </p:sp>
      <p:sp>
        <p:nvSpPr>
          <p:cNvPr id="3" name="Shape 1"/>
          <p:cNvSpPr/>
          <p:nvPr/>
        </p:nvSpPr>
        <p:spPr>
          <a:xfrm>
            <a:off x="548567" y="1417241"/>
            <a:ext cx="11091387" cy="1280120"/>
          </a:xfrm>
          <a:prstGeom prst="roundRect">
            <a:avLst>
              <a:gd name="adj" fmla="val 10286"/>
            </a:avLst>
          </a:prstGeom>
          <a:solidFill>
            <a:srgbClr val="0B2A55"/>
          </a:solidFill>
          <a:ln w="12700">
            <a:solidFill>
              <a:srgbClr val="0B2A55"/>
            </a:solidFill>
            <a:prstDash val="solid"/>
          </a:ln>
        </p:spPr>
        <p:txBody>
          <a:bodyPr/>
          <a:lstStyle/>
          <a:p>
            <a:endParaRPr lang="es-CL"/>
          </a:p>
        </p:txBody>
      </p:sp>
      <p:sp>
        <p:nvSpPr>
          <p:cNvPr id="4" name="Text 2"/>
          <p:cNvSpPr/>
          <p:nvPr/>
        </p:nvSpPr>
        <p:spPr>
          <a:xfrm>
            <a:off x="914377" y="1613595"/>
            <a:ext cx="4267093" cy="228600"/>
          </a:xfrm>
          <a:prstGeom prst="rect">
            <a:avLst/>
          </a:prstGeom>
          <a:noFill/>
          <a:ln/>
        </p:spPr>
        <p:txBody>
          <a:bodyPr wrap="none" lIns="0" tIns="0" rIns="0" bIns="0" rtlCol="0" anchor="t"/>
          <a:lstStyle/>
          <a:p>
            <a:pPr marL="0" indent="0" algn="l">
              <a:lnSpc>
                <a:spcPct val="125000"/>
              </a:lnSpc>
              <a:buNone/>
            </a:pPr>
            <a:r>
              <a:rPr lang="en-US" sz="1200" b="1" kern="100" spc="200" dirty="0">
                <a:solidFill>
                  <a:srgbClr val="FFC72C"/>
                </a:solidFill>
                <a:latin typeface="Carlito Bold" pitchFamily="34" charset="0"/>
                <a:ea typeface="Carlito Bold" pitchFamily="34" charset="-122"/>
                <a:cs typeface="Carlito Bold" pitchFamily="34" charset="-120"/>
              </a:rPr>
              <a:t>OBJETIVO GENERAL</a:t>
            </a:r>
            <a:endParaRPr lang="en-US" sz="1200" dirty="0"/>
          </a:p>
        </p:txBody>
      </p:sp>
      <p:sp>
        <p:nvSpPr>
          <p:cNvPr id="5" name="Text 3"/>
          <p:cNvSpPr/>
          <p:nvPr/>
        </p:nvSpPr>
        <p:spPr>
          <a:xfrm>
            <a:off x="914377" y="1921470"/>
            <a:ext cx="10302716" cy="609600"/>
          </a:xfrm>
          <a:prstGeom prst="rect">
            <a:avLst/>
          </a:prstGeom>
          <a:noFill/>
          <a:ln/>
        </p:spPr>
        <p:txBody>
          <a:bodyPr wrap="square" lIns="0" tIns="0" rIns="0" bIns="0" rtlCol="0" anchor="t">
            <a:normAutofit/>
          </a:bodyPr>
          <a:lstStyle/>
          <a:p>
            <a:pPr marL="0" indent="0" algn="l">
              <a:lnSpc>
                <a:spcPct val="100000"/>
              </a:lnSpc>
              <a:buNone/>
            </a:pPr>
            <a:r>
              <a:rPr lang="en-US" sz="2000" dirty="0">
                <a:solidFill>
                  <a:srgbClr val="FFFFFF"/>
                </a:solidFill>
                <a:latin typeface="Carlito" pitchFamily="34" charset="0"/>
                <a:ea typeface="Carlito" pitchFamily="34" charset="-122"/>
                <a:cs typeface="Carlito" pitchFamily="34" charset="-120"/>
              </a:rPr>
              <a:t>Evolucionar CuTuCo de un prototipo móvil con datos locales a un marketplace web desacoplado, en 13 semanas.</a:t>
            </a:r>
            <a:endParaRPr lang="en-US" sz="2000" dirty="0"/>
          </a:p>
        </p:txBody>
      </p:sp>
      <p:sp>
        <p:nvSpPr>
          <p:cNvPr id="6" name="Shape 4"/>
          <p:cNvSpPr/>
          <p:nvPr/>
        </p:nvSpPr>
        <p:spPr>
          <a:xfrm>
            <a:off x="548567" y="3017441"/>
            <a:ext cx="2567022" cy="3063180"/>
          </a:xfrm>
          <a:prstGeom prst="roundRect">
            <a:avLst>
              <a:gd name="adj" fmla="val 5129"/>
            </a:avLst>
          </a:prstGeom>
          <a:solidFill>
            <a:srgbClr val="EEF2F7"/>
          </a:solidFill>
          <a:ln w="12700">
            <a:solidFill>
              <a:srgbClr val="EEF2F7"/>
            </a:solidFill>
            <a:prstDash val="solid"/>
          </a:ln>
        </p:spPr>
        <p:txBody>
          <a:bodyPr/>
          <a:lstStyle/>
          <a:p>
            <a:endParaRPr lang="es-CL"/>
          </a:p>
        </p:txBody>
      </p:sp>
      <p:sp>
        <p:nvSpPr>
          <p:cNvPr id="7" name="Shape 5"/>
          <p:cNvSpPr/>
          <p:nvPr/>
        </p:nvSpPr>
        <p:spPr>
          <a:xfrm>
            <a:off x="822900" y="3291780"/>
            <a:ext cx="640044" cy="640060"/>
          </a:xfrm>
          <a:prstGeom prst="ellipse">
            <a:avLst/>
          </a:prstGeom>
          <a:solidFill>
            <a:srgbClr val="0B2A55"/>
          </a:solidFill>
          <a:ln w="12700">
            <a:solidFill>
              <a:srgbClr val="0B2A55"/>
            </a:solidFill>
            <a:prstDash val="solid"/>
          </a:ln>
        </p:spPr>
        <p:txBody>
          <a:bodyPr/>
          <a:lstStyle/>
          <a:p>
            <a:endParaRPr lang="es-CL"/>
          </a:p>
        </p:txBody>
      </p:sp>
      <p:pic>
        <p:nvPicPr>
          <p:cNvPr id="8" name="Image 0" descr="preencoded.png"/>
          <p:cNvPicPr>
            <a:picLocks noChangeAspect="1"/>
          </p:cNvPicPr>
          <p:nvPr/>
        </p:nvPicPr>
        <p:blipFill>
          <a:blip r:embed="rId3"/>
          <a:stretch>
            <a:fillRect/>
          </a:stretch>
        </p:blipFill>
        <p:spPr>
          <a:xfrm>
            <a:off x="982936" y="3451820"/>
            <a:ext cx="319972" cy="319980"/>
          </a:xfrm>
          <a:prstGeom prst="rect">
            <a:avLst/>
          </a:prstGeom>
        </p:spPr>
      </p:pic>
      <p:sp>
        <p:nvSpPr>
          <p:cNvPr id="9" name="Text 6"/>
          <p:cNvSpPr/>
          <p:nvPr/>
        </p:nvSpPr>
        <p:spPr>
          <a:xfrm>
            <a:off x="822900" y="4100810"/>
            <a:ext cx="2018456" cy="304800"/>
          </a:xfrm>
          <a:prstGeom prst="rect">
            <a:avLst/>
          </a:prstGeom>
          <a:noFill/>
          <a:ln/>
        </p:spPr>
        <p:txBody>
          <a:bodyPr wrap="none" lIns="0" tIns="0" rIns="0" bIns="0" rtlCol="0" anchor="t"/>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Migrar los datos</a:t>
            </a:r>
            <a:endParaRPr lang="en-US" sz="2000" dirty="0"/>
          </a:p>
        </p:txBody>
      </p:sp>
      <p:sp>
        <p:nvSpPr>
          <p:cNvPr id="10" name="Text 7"/>
          <p:cNvSpPr/>
          <p:nvPr/>
        </p:nvSpPr>
        <p:spPr>
          <a:xfrm>
            <a:off x="822900" y="4792325"/>
            <a:ext cx="1961307" cy="73134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B1F2A"/>
                </a:solidFill>
                <a:latin typeface="Carlito" pitchFamily="34" charset="0"/>
                <a:ea typeface="Carlito" pitchFamily="34" charset="-122"/>
                <a:cs typeface="Carlito" pitchFamily="34" charset="-120"/>
              </a:rPr>
              <a:t>De SQLite a PostgreSQL en Supabase, con un modelo rediseñado</a:t>
            </a:r>
            <a:endParaRPr lang="en-US" sz="1600" dirty="0"/>
          </a:p>
        </p:txBody>
      </p:sp>
      <p:sp>
        <p:nvSpPr>
          <p:cNvPr id="11" name="Shape 8"/>
          <p:cNvSpPr/>
          <p:nvPr/>
        </p:nvSpPr>
        <p:spPr>
          <a:xfrm>
            <a:off x="3390021" y="3017441"/>
            <a:ext cx="2567022" cy="3063180"/>
          </a:xfrm>
          <a:prstGeom prst="roundRect">
            <a:avLst>
              <a:gd name="adj" fmla="val 5129"/>
            </a:avLst>
          </a:prstGeom>
          <a:solidFill>
            <a:srgbClr val="EEF2F7"/>
          </a:solidFill>
          <a:ln w="12700">
            <a:solidFill>
              <a:srgbClr val="EEF2F7"/>
            </a:solidFill>
            <a:prstDash val="solid"/>
          </a:ln>
        </p:spPr>
        <p:txBody>
          <a:bodyPr/>
          <a:lstStyle/>
          <a:p>
            <a:endParaRPr lang="es-CL"/>
          </a:p>
        </p:txBody>
      </p:sp>
      <p:sp>
        <p:nvSpPr>
          <p:cNvPr id="12" name="Shape 9"/>
          <p:cNvSpPr/>
          <p:nvPr/>
        </p:nvSpPr>
        <p:spPr>
          <a:xfrm>
            <a:off x="3664354" y="3291780"/>
            <a:ext cx="640044" cy="640060"/>
          </a:xfrm>
          <a:prstGeom prst="ellipse">
            <a:avLst/>
          </a:prstGeom>
          <a:solidFill>
            <a:srgbClr val="0B2A55"/>
          </a:solidFill>
          <a:ln w="12700">
            <a:solidFill>
              <a:srgbClr val="0B2A55"/>
            </a:solidFill>
            <a:prstDash val="solid"/>
          </a:ln>
        </p:spPr>
        <p:txBody>
          <a:bodyPr/>
          <a:lstStyle/>
          <a:p>
            <a:endParaRPr lang="es-CL"/>
          </a:p>
        </p:txBody>
      </p:sp>
      <p:pic>
        <p:nvPicPr>
          <p:cNvPr id="13" name="Image 1" descr="preencoded.png"/>
          <p:cNvPicPr>
            <a:picLocks noChangeAspect="1"/>
          </p:cNvPicPr>
          <p:nvPr/>
        </p:nvPicPr>
        <p:blipFill>
          <a:blip r:embed="rId4"/>
          <a:stretch>
            <a:fillRect/>
          </a:stretch>
        </p:blipFill>
        <p:spPr>
          <a:xfrm>
            <a:off x="3824291" y="3451820"/>
            <a:ext cx="319972" cy="319980"/>
          </a:xfrm>
          <a:prstGeom prst="rect">
            <a:avLst/>
          </a:prstGeom>
        </p:spPr>
      </p:pic>
      <p:sp>
        <p:nvSpPr>
          <p:cNvPr id="14" name="Text 10"/>
          <p:cNvSpPr/>
          <p:nvPr/>
        </p:nvSpPr>
        <p:spPr>
          <a:xfrm>
            <a:off x="3664354" y="4100810"/>
            <a:ext cx="1961307" cy="6096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Construir la plataforma</a:t>
            </a:r>
            <a:endParaRPr lang="en-US" sz="2000" dirty="0"/>
          </a:p>
        </p:txBody>
      </p:sp>
      <p:sp>
        <p:nvSpPr>
          <p:cNvPr id="15" name="Text 11"/>
          <p:cNvSpPr/>
          <p:nvPr/>
        </p:nvSpPr>
        <p:spPr>
          <a:xfrm>
            <a:off x="3664354" y="4792325"/>
            <a:ext cx="1961307" cy="975122"/>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B1F2A"/>
                </a:solidFill>
                <a:latin typeface="Carlito" pitchFamily="34" charset="0"/>
                <a:ea typeface="Carlito" pitchFamily="34" charset="-122"/>
                <a:cs typeface="Carlito" pitchFamily="34" charset="-120"/>
              </a:rPr>
              <a:t>Frontend Vue.js y Supabase para Cliente, Vendedor y Administrador</a:t>
            </a:r>
            <a:endParaRPr lang="en-US" sz="1600" dirty="0"/>
          </a:p>
        </p:txBody>
      </p:sp>
      <p:sp>
        <p:nvSpPr>
          <p:cNvPr id="16" name="Shape 12"/>
          <p:cNvSpPr/>
          <p:nvPr/>
        </p:nvSpPr>
        <p:spPr>
          <a:xfrm>
            <a:off x="6231476" y="3017441"/>
            <a:ext cx="2567022" cy="3063180"/>
          </a:xfrm>
          <a:prstGeom prst="roundRect">
            <a:avLst>
              <a:gd name="adj" fmla="val 5129"/>
            </a:avLst>
          </a:prstGeom>
          <a:solidFill>
            <a:srgbClr val="EEF2F7"/>
          </a:solidFill>
          <a:ln w="12700">
            <a:solidFill>
              <a:srgbClr val="EEF2F7"/>
            </a:solidFill>
            <a:prstDash val="solid"/>
          </a:ln>
        </p:spPr>
        <p:txBody>
          <a:bodyPr/>
          <a:lstStyle/>
          <a:p>
            <a:endParaRPr lang="es-CL"/>
          </a:p>
        </p:txBody>
      </p:sp>
      <p:sp>
        <p:nvSpPr>
          <p:cNvPr id="17" name="Shape 13"/>
          <p:cNvSpPr/>
          <p:nvPr/>
        </p:nvSpPr>
        <p:spPr>
          <a:xfrm>
            <a:off x="6505710" y="3291780"/>
            <a:ext cx="640044" cy="640060"/>
          </a:xfrm>
          <a:prstGeom prst="ellipse">
            <a:avLst/>
          </a:prstGeom>
          <a:solidFill>
            <a:srgbClr val="0B2A55"/>
          </a:solidFill>
          <a:ln w="12700">
            <a:solidFill>
              <a:srgbClr val="0B2A55"/>
            </a:solidFill>
            <a:prstDash val="solid"/>
          </a:ln>
        </p:spPr>
        <p:txBody>
          <a:bodyPr/>
          <a:lstStyle/>
          <a:p>
            <a:endParaRPr lang="es-CL"/>
          </a:p>
        </p:txBody>
      </p:sp>
      <p:pic>
        <p:nvPicPr>
          <p:cNvPr id="18" name="Image 2" descr="preencoded.png"/>
          <p:cNvPicPr>
            <a:picLocks noChangeAspect="1"/>
          </p:cNvPicPr>
          <p:nvPr/>
        </p:nvPicPr>
        <p:blipFill>
          <a:blip r:embed="rId5"/>
          <a:stretch>
            <a:fillRect/>
          </a:stretch>
        </p:blipFill>
        <p:spPr>
          <a:xfrm>
            <a:off x="6665746" y="3451820"/>
            <a:ext cx="319972" cy="319980"/>
          </a:xfrm>
          <a:prstGeom prst="rect">
            <a:avLst/>
          </a:prstGeom>
        </p:spPr>
      </p:pic>
      <p:sp>
        <p:nvSpPr>
          <p:cNvPr id="19" name="Text 14"/>
          <p:cNvSpPr/>
          <p:nvPr/>
        </p:nvSpPr>
        <p:spPr>
          <a:xfrm>
            <a:off x="6505710" y="4100810"/>
            <a:ext cx="1961307" cy="6096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Integrar pago y entrega</a:t>
            </a:r>
            <a:endParaRPr lang="en-US" sz="2000" dirty="0"/>
          </a:p>
        </p:txBody>
      </p:sp>
      <p:sp>
        <p:nvSpPr>
          <p:cNvPr id="20" name="Text 15"/>
          <p:cNvSpPr/>
          <p:nvPr/>
        </p:nvSpPr>
        <p:spPr>
          <a:xfrm>
            <a:off x="6505710" y="4792325"/>
            <a:ext cx="1961307" cy="731341"/>
          </a:xfrm>
          <a:prstGeom prst="rect">
            <a:avLst/>
          </a:prstGeom>
          <a:noFill/>
          <a:ln/>
        </p:spPr>
        <p:txBody>
          <a:bodyPr wrap="square" lIns="0" tIns="0" rIns="0" bIns="0" rtlCol="0" anchor="t">
            <a:normAutofit fontScale="92500"/>
          </a:bodyPr>
          <a:lstStyle/>
          <a:p>
            <a:pPr marL="0" indent="0" algn="l">
              <a:lnSpc>
                <a:spcPct val="100000"/>
              </a:lnSpc>
              <a:buNone/>
            </a:pPr>
            <a:r>
              <a:rPr lang="en-US" sz="1600" dirty="0">
                <a:solidFill>
                  <a:srgbClr val="1B1F2A"/>
                </a:solidFill>
                <a:latin typeface="Carlito" pitchFamily="34" charset="0"/>
                <a:ea typeface="Carlito" pitchFamily="34" charset="-122"/>
                <a:cs typeface="Carlito" pitchFamily="34" charset="-120"/>
              </a:rPr>
              <a:t>Webpay Mall (Split Payment) y entrega con código de verificación</a:t>
            </a:r>
            <a:endParaRPr lang="en-US" sz="1600" dirty="0"/>
          </a:p>
        </p:txBody>
      </p:sp>
      <p:sp>
        <p:nvSpPr>
          <p:cNvPr id="21" name="Shape 16"/>
          <p:cNvSpPr/>
          <p:nvPr/>
        </p:nvSpPr>
        <p:spPr>
          <a:xfrm>
            <a:off x="9072832" y="3017441"/>
            <a:ext cx="2567022" cy="3063180"/>
          </a:xfrm>
          <a:prstGeom prst="roundRect">
            <a:avLst>
              <a:gd name="adj" fmla="val 5129"/>
            </a:avLst>
          </a:prstGeom>
          <a:solidFill>
            <a:srgbClr val="EEF2F7"/>
          </a:solidFill>
          <a:ln w="12700">
            <a:solidFill>
              <a:srgbClr val="EEF2F7"/>
            </a:solidFill>
            <a:prstDash val="solid"/>
          </a:ln>
        </p:spPr>
        <p:txBody>
          <a:bodyPr/>
          <a:lstStyle/>
          <a:p>
            <a:endParaRPr lang="es-CL"/>
          </a:p>
        </p:txBody>
      </p:sp>
      <p:sp>
        <p:nvSpPr>
          <p:cNvPr id="22" name="Shape 17"/>
          <p:cNvSpPr/>
          <p:nvPr/>
        </p:nvSpPr>
        <p:spPr>
          <a:xfrm>
            <a:off x="9347165" y="3291780"/>
            <a:ext cx="640044" cy="640060"/>
          </a:xfrm>
          <a:prstGeom prst="ellipse">
            <a:avLst/>
          </a:prstGeom>
          <a:solidFill>
            <a:srgbClr val="0B2A55"/>
          </a:solidFill>
          <a:ln w="12700">
            <a:solidFill>
              <a:srgbClr val="0B2A55"/>
            </a:solidFill>
            <a:prstDash val="solid"/>
          </a:ln>
        </p:spPr>
        <p:txBody>
          <a:bodyPr/>
          <a:lstStyle/>
          <a:p>
            <a:endParaRPr lang="es-CL"/>
          </a:p>
        </p:txBody>
      </p:sp>
      <p:pic>
        <p:nvPicPr>
          <p:cNvPr id="23" name="Image 3" descr="preencoded.png"/>
          <p:cNvPicPr>
            <a:picLocks noChangeAspect="1"/>
          </p:cNvPicPr>
          <p:nvPr/>
        </p:nvPicPr>
        <p:blipFill>
          <a:blip r:embed="rId6"/>
          <a:stretch>
            <a:fillRect/>
          </a:stretch>
        </p:blipFill>
        <p:spPr>
          <a:xfrm>
            <a:off x="9507200" y="3451820"/>
            <a:ext cx="319972" cy="319980"/>
          </a:xfrm>
          <a:prstGeom prst="rect">
            <a:avLst/>
          </a:prstGeom>
        </p:spPr>
      </p:pic>
      <p:sp>
        <p:nvSpPr>
          <p:cNvPr id="24" name="Text 18"/>
          <p:cNvSpPr/>
          <p:nvPr/>
        </p:nvSpPr>
        <p:spPr>
          <a:xfrm>
            <a:off x="9347165" y="4100810"/>
            <a:ext cx="2018456" cy="304800"/>
          </a:xfrm>
          <a:prstGeom prst="rect">
            <a:avLst/>
          </a:prstGeom>
          <a:noFill/>
          <a:ln/>
        </p:spPr>
        <p:txBody>
          <a:bodyPr wrap="none" lIns="0" tIns="0" rIns="0" bIns="0" rtlCol="0" anchor="t"/>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Asegurar la calidad</a:t>
            </a:r>
            <a:endParaRPr lang="en-US" sz="2000" dirty="0"/>
          </a:p>
        </p:txBody>
      </p:sp>
      <p:sp>
        <p:nvSpPr>
          <p:cNvPr id="25" name="Text 19"/>
          <p:cNvSpPr/>
          <p:nvPr/>
        </p:nvSpPr>
        <p:spPr>
          <a:xfrm>
            <a:off x="9347165" y="4792325"/>
            <a:ext cx="1961307" cy="975122"/>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B1F2A"/>
                </a:solidFill>
                <a:latin typeface="Carlito" pitchFamily="34" charset="0"/>
                <a:ea typeface="Carlito" pitchFamily="34" charset="-122"/>
                <a:cs typeface="Carlito" pitchFamily="34" charset="-120"/>
              </a:rPr>
              <a:t>Validaciones, pruebas por capas y documentación trazable</a:t>
            </a:r>
            <a:endParaRPr lang="en-US" sz="1600" dirty="0"/>
          </a:p>
        </p:txBody>
      </p:sp>
      <p:sp>
        <p:nvSpPr>
          <p:cNvPr id="26" name="Text 20"/>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27" name="Text 21"/>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Metodología tradicional en 4 fases</a:t>
            </a:r>
            <a:endParaRPr lang="en-US" sz="3400" dirty="0"/>
          </a:p>
        </p:txBody>
      </p:sp>
      <p:sp>
        <p:nvSpPr>
          <p:cNvPr id="3" name="Shape 1"/>
          <p:cNvSpPr/>
          <p:nvPr/>
        </p:nvSpPr>
        <p:spPr>
          <a:xfrm>
            <a:off x="548567" y="1691580"/>
            <a:ext cx="2880248" cy="914400"/>
          </a:xfrm>
          <a:custGeom>
            <a:avLst/>
            <a:gdLst/>
            <a:ahLst/>
            <a:cxnLst/>
            <a:rect l="l" t="t" r="r" b="b"/>
            <a:pathLst>
              <a:path w="2880248" h="914400">
                <a:moveTo>
                  <a:pt x="0" y="0"/>
                </a:moveTo>
                <a:lnTo>
                  <a:pt x="2423153" y="0"/>
                </a:lnTo>
                <a:lnTo>
                  <a:pt x="2880248" y="457200"/>
                </a:lnTo>
                <a:lnTo>
                  <a:pt x="2423153" y="914400"/>
                </a:lnTo>
                <a:lnTo>
                  <a:pt x="0" y="914400"/>
                </a:lnTo>
                <a:lnTo>
                  <a:pt x="457095" y="457200"/>
                </a:lnTo>
                <a:close/>
              </a:path>
            </a:pathLst>
          </a:custGeom>
          <a:solidFill>
            <a:srgbClr val="0B2A55"/>
          </a:solidFill>
          <a:ln/>
        </p:spPr>
        <p:txBody>
          <a:bodyPr/>
          <a:lstStyle/>
          <a:p>
            <a:endParaRPr lang="es-CL"/>
          </a:p>
        </p:txBody>
      </p:sp>
      <p:pic>
        <p:nvPicPr>
          <p:cNvPr id="4" name="Image 0" descr="preencoded.png"/>
          <p:cNvPicPr>
            <a:picLocks noChangeAspect="1"/>
          </p:cNvPicPr>
          <p:nvPr/>
        </p:nvPicPr>
        <p:blipFill>
          <a:blip r:embed="rId3"/>
          <a:stretch>
            <a:fillRect/>
          </a:stretch>
        </p:blipFill>
        <p:spPr>
          <a:xfrm>
            <a:off x="529517" y="1672530"/>
            <a:ext cx="2918347" cy="952500"/>
          </a:xfrm>
          <a:prstGeom prst="rect">
            <a:avLst/>
          </a:prstGeom>
        </p:spPr>
      </p:pic>
      <p:sp>
        <p:nvSpPr>
          <p:cNvPr id="5" name="Text 2"/>
          <p:cNvSpPr/>
          <p:nvPr/>
        </p:nvSpPr>
        <p:spPr>
          <a:xfrm>
            <a:off x="1051494" y="2012950"/>
            <a:ext cx="2621195" cy="304800"/>
          </a:xfrm>
          <a:prstGeom prst="rect">
            <a:avLst/>
          </a:prstGeom>
          <a:noFill/>
          <a:ln/>
        </p:spPr>
        <p:txBody>
          <a:bodyPr wrap="none" lIns="0" tIns="0" rIns="0" bIns="0" rtlCol="0" anchor="t"/>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1  Planificación inicial</a:t>
            </a:r>
            <a:endParaRPr lang="en-US" sz="1600" dirty="0"/>
          </a:p>
        </p:txBody>
      </p:sp>
      <p:sp>
        <p:nvSpPr>
          <p:cNvPr id="6" name="Text 3"/>
          <p:cNvSpPr/>
          <p:nvPr/>
        </p:nvSpPr>
        <p:spPr>
          <a:xfrm>
            <a:off x="685783" y="2820591"/>
            <a:ext cx="3078383"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Semana 1</a:t>
            </a:r>
            <a:endParaRPr lang="en-US" sz="1600" dirty="0"/>
          </a:p>
        </p:txBody>
      </p:sp>
      <p:sp>
        <p:nvSpPr>
          <p:cNvPr id="7" name="Text 4"/>
          <p:cNvSpPr/>
          <p:nvPr/>
        </p:nvSpPr>
        <p:spPr>
          <a:xfrm>
            <a:off x="685783" y="3186410"/>
            <a:ext cx="2320172"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Acta, EDT, hitos, Gantt, RACI, riesgos y plan de pruebas</a:t>
            </a:r>
            <a:endParaRPr lang="en-US" sz="1400" dirty="0"/>
          </a:p>
        </p:txBody>
      </p:sp>
      <p:sp>
        <p:nvSpPr>
          <p:cNvPr id="8" name="Shape 5"/>
          <p:cNvSpPr/>
          <p:nvPr/>
        </p:nvSpPr>
        <p:spPr>
          <a:xfrm>
            <a:off x="3291698" y="1691580"/>
            <a:ext cx="2880248" cy="914400"/>
          </a:xfrm>
          <a:custGeom>
            <a:avLst/>
            <a:gdLst/>
            <a:ahLst/>
            <a:cxnLst/>
            <a:rect l="l" t="t" r="r" b="b"/>
            <a:pathLst>
              <a:path w="2880248" h="914400">
                <a:moveTo>
                  <a:pt x="0" y="0"/>
                </a:moveTo>
                <a:lnTo>
                  <a:pt x="2423153" y="0"/>
                </a:lnTo>
                <a:lnTo>
                  <a:pt x="2880248" y="457200"/>
                </a:lnTo>
                <a:lnTo>
                  <a:pt x="2423153" y="914400"/>
                </a:lnTo>
                <a:lnTo>
                  <a:pt x="0" y="914400"/>
                </a:lnTo>
                <a:lnTo>
                  <a:pt x="457095" y="457200"/>
                </a:lnTo>
                <a:close/>
              </a:path>
            </a:pathLst>
          </a:custGeom>
          <a:solidFill>
            <a:srgbClr val="FFC72C"/>
          </a:solidFill>
          <a:ln/>
        </p:spPr>
        <p:txBody>
          <a:bodyPr/>
          <a:lstStyle/>
          <a:p>
            <a:endParaRPr lang="es-CL"/>
          </a:p>
        </p:txBody>
      </p:sp>
      <p:pic>
        <p:nvPicPr>
          <p:cNvPr id="9" name="Image 1" descr="preencoded.png"/>
          <p:cNvPicPr>
            <a:picLocks noChangeAspect="1"/>
          </p:cNvPicPr>
          <p:nvPr/>
        </p:nvPicPr>
        <p:blipFill>
          <a:blip r:embed="rId4"/>
          <a:stretch>
            <a:fillRect/>
          </a:stretch>
        </p:blipFill>
        <p:spPr>
          <a:xfrm>
            <a:off x="3272649" y="1672530"/>
            <a:ext cx="2918347" cy="952500"/>
          </a:xfrm>
          <a:prstGeom prst="rect">
            <a:avLst/>
          </a:prstGeom>
        </p:spPr>
      </p:pic>
      <p:sp>
        <p:nvSpPr>
          <p:cNvPr id="10" name="Text 6"/>
          <p:cNvSpPr/>
          <p:nvPr/>
        </p:nvSpPr>
        <p:spPr>
          <a:xfrm>
            <a:off x="3794625" y="2012950"/>
            <a:ext cx="2621195"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2  Análisis y diseño</a:t>
            </a:r>
            <a:endParaRPr lang="en-US" sz="1600" dirty="0"/>
          </a:p>
        </p:txBody>
      </p:sp>
      <p:sp>
        <p:nvSpPr>
          <p:cNvPr id="11" name="Text 7"/>
          <p:cNvSpPr/>
          <p:nvPr/>
        </p:nvSpPr>
        <p:spPr>
          <a:xfrm>
            <a:off x="3428914" y="2820591"/>
            <a:ext cx="3078383"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Semanas 2–4</a:t>
            </a:r>
            <a:endParaRPr lang="en-US" sz="1600" dirty="0"/>
          </a:p>
        </p:txBody>
      </p:sp>
      <p:sp>
        <p:nvSpPr>
          <p:cNvPr id="12" name="Text 8"/>
          <p:cNvSpPr/>
          <p:nvPr/>
        </p:nvSpPr>
        <p:spPr>
          <a:xfrm>
            <a:off x="3428914" y="3186410"/>
            <a:ext cx="2320172"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ERS, modelo de datos, arquitectura, mockups, calidad y costos</a:t>
            </a:r>
            <a:endParaRPr lang="en-US" sz="1400" dirty="0"/>
          </a:p>
        </p:txBody>
      </p:sp>
      <p:sp>
        <p:nvSpPr>
          <p:cNvPr id="13" name="Shape 9"/>
          <p:cNvSpPr/>
          <p:nvPr/>
        </p:nvSpPr>
        <p:spPr>
          <a:xfrm>
            <a:off x="6034829" y="1691580"/>
            <a:ext cx="2880248" cy="914400"/>
          </a:xfrm>
          <a:custGeom>
            <a:avLst/>
            <a:gdLst/>
            <a:ahLst/>
            <a:cxnLst/>
            <a:rect l="l" t="t" r="r" b="b"/>
            <a:pathLst>
              <a:path w="2880248" h="914400">
                <a:moveTo>
                  <a:pt x="0" y="0"/>
                </a:moveTo>
                <a:lnTo>
                  <a:pt x="2423153" y="0"/>
                </a:lnTo>
                <a:lnTo>
                  <a:pt x="2880248" y="457200"/>
                </a:lnTo>
                <a:lnTo>
                  <a:pt x="2423153" y="914400"/>
                </a:lnTo>
                <a:lnTo>
                  <a:pt x="0" y="914400"/>
                </a:lnTo>
                <a:lnTo>
                  <a:pt x="457095" y="457200"/>
                </a:lnTo>
                <a:close/>
              </a:path>
            </a:pathLst>
          </a:custGeom>
          <a:solidFill>
            <a:srgbClr val="C00000"/>
          </a:solidFill>
          <a:ln/>
        </p:spPr>
        <p:txBody>
          <a:bodyPr/>
          <a:lstStyle/>
          <a:p>
            <a:endParaRPr lang="es-CL"/>
          </a:p>
        </p:txBody>
      </p:sp>
      <p:pic>
        <p:nvPicPr>
          <p:cNvPr id="14" name="Image 2" descr="preencoded.png"/>
          <p:cNvPicPr>
            <a:picLocks noChangeAspect="1"/>
          </p:cNvPicPr>
          <p:nvPr/>
        </p:nvPicPr>
        <p:blipFill>
          <a:blip r:embed="rId5"/>
          <a:stretch>
            <a:fillRect/>
          </a:stretch>
        </p:blipFill>
        <p:spPr>
          <a:xfrm>
            <a:off x="6015780" y="1672530"/>
            <a:ext cx="2918347" cy="952500"/>
          </a:xfrm>
          <a:prstGeom prst="rect">
            <a:avLst/>
          </a:prstGeom>
        </p:spPr>
      </p:pic>
      <p:sp>
        <p:nvSpPr>
          <p:cNvPr id="15" name="Text 10"/>
          <p:cNvSpPr/>
          <p:nvPr/>
        </p:nvSpPr>
        <p:spPr>
          <a:xfrm>
            <a:off x="6537757" y="2012950"/>
            <a:ext cx="2621195" cy="304800"/>
          </a:xfrm>
          <a:prstGeom prst="rect">
            <a:avLst/>
          </a:prstGeom>
          <a:noFill/>
          <a:ln/>
        </p:spPr>
        <p:txBody>
          <a:bodyPr wrap="none" lIns="0" tIns="0" rIns="0" bIns="0" rtlCol="0" anchor="t"/>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3  Construcción</a:t>
            </a:r>
            <a:endParaRPr lang="en-US" sz="1600" dirty="0"/>
          </a:p>
        </p:txBody>
      </p:sp>
      <p:sp>
        <p:nvSpPr>
          <p:cNvPr id="16" name="Text 11"/>
          <p:cNvSpPr/>
          <p:nvPr/>
        </p:nvSpPr>
        <p:spPr>
          <a:xfrm>
            <a:off x="6172046" y="2820591"/>
            <a:ext cx="3078383"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Semanas 4–10</a:t>
            </a:r>
            <a:endParaRPr lang="en-US" sz="1600" dirty="0"/>
          </a:p>
        </p:txBody>
      </p:sp>
      <p:sp>
        <p:nvSpPr>
          <p:cNvPr id="17" name="Text 12"/>
          <p:cNvSpPr/>
          <p:nvPr/>
        </p:nvSpPr>
        <p:spPr>
          <a:xfrm>
            <a:off x="6172046" y="3188025"/>
            <a:ext cx="2320172" cy="63996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1B1F2A"/>
                </a:solidFill>
                <a:latin typeface="Carlito" pitchFamily="34" charset="0"/>
                <a:ea typeface="Carlito" pitchFamily="34" charset="-122"/>
                <a:cs typeface="Carlito" pitchFamily="34" charset="-120"/>
              </a:rPr>
              <a:t>Backend, frontend, pagos, entrega, panel admin y pruebas unitarias</a:t>
            </a:r>
            <a:endParaRPr lang="en-US" sz="1400" dirty="0"/>
          </a:p>
        </p:txBody>
      </p:sp>
      <p:sp>
        <p:nvSpPr>
          <p:cNvPr id="18" name="Shape 13"/>
          <p:cNvSpPr/>
          <p:nvPr/>
        </p:nvSpPr>
        <p:spPr>
          <a:xfrm>
            <a:off x="8777961" y="1691580"/>
            <a:ext cx="2880248" cy="914400"/>
          </a:xfrm>
          <a:custGeom>
            <a:avLst/>
            <a:gdLst/>
            <a:ahLst/>
            <a:cxnLst/>
            <a:rect l="l" t="t" r="r" b="b"/>
            <a:pathLst>
              <a:path w="2880248" h="914400">
                <a:moveTo>
                  <a:pt x="0" y="0"/>
                </a:moveTo>
                <a:lnTo>
                  <a:pt x="2423153" y="0"/>
                </a:lnTo>
                <a:lnTo>
                  <a:pt x="2880248" y="457200"/>
                </a:lnTo>
                <a:lnTo>
                  <a:pt x="2423153" y="914400"/>
                </a:lnTo>
                <a:lnTo>
                  <a:pt x="0" y="914400"/>
                </a:lnTo>
                <a:lnTo>
                  <a:pt x="457095" y="457200"/>
                </a:lnTo>
                <a:close/>
              </a:path>
            </a:pathLst>
          </a:custGeom>
          <a:solidFill>
            <a:srgbClr val="5B6577"/>
          </a:solidFill>
          <a:ln/>
        </p:spPr>
        <p:txBody>
          <a:bodyPr/>
          <a:lstStyle/>
          <a:p>
            <a:endParaRPr lang="es-CL"/>
          </a:p>
        </p:txBody>
      </p:sp>
      <p:pic>
        <p:nvPicPr>
          <p:cNvPr id="19" name="Image 3" descr="preencoded.png"/>
          <p:cNvPicPr>
            <a:picLocks noChangeAspect="1"/>
          </p:cNvPicPr>
          <p:nvPr/>
        </p:nvPicPr>
        <p:blipFill>
          <a:blip r:embed="rId5"/>
          <a:stretch>
            <a:fillRect/>
          </a:stretch>
        </p:blipFill>
        <p:spPr>
          <a:xfrm>
            <a:off x="8758911" y="1672530"/>
            <a:ext cx="2918347" cy="952500"/>
          </a:xfrm>
          <a:prstGeom prst="rect">
            <a:avLst/>
          </a:prstGeom>
        </p:spPr>
      </p:pic>
      <p:sp>
        <p:nvSpPr>
          <p:cNvPr id="20" name="Text 14"/>
          <p:cNvSpPr/>
          <p:nvPr/>
        </p:nvSpPr>
        <p:spPr>
          <a:xfrm>
            <a:off x="9280888" y="1891010"/>
            <a:ext cx="1954461" cy="609600"/>
          </a:xfrm>
          <a:prstGeom prst="rect">
            <a:avLst/>
          </a:prstGeom>
          <a:noFill/>
          <a:ln/>
        </p:spPr>
        <p:txBody>
          <a:bodyPr wrap="square" lIns="0" tIns="0" rIns="0" bIns="0" rtlCol="0" anchor="t">
            <a:normAutofit/>
          </a:bodyPr>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4  Implementación y cierre</a:t>
            </a:r>
            <a:endParaRPr lang="en-US" sz="1600" dirty="0"/>
          </a:p>
        </p:txBody>
      </p:sp>
      <p:sp>
        <p:nvSpPr>
          <p:cNvPr id="21" name="Text 15"/>
          <p:cNvSpPr/>
          <p:nvPr/>
        </p:nvSpPr>
        <p:spPr>
          <a:xfrm>
            <a:off x="8915177" y="2820591"/>
            <a:ext cx="3078383"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Semanas 9–13</a:t>
            </a:r>
            <a:endParaRPr lang="en-US" sz="1600" dirty="0"/>
          </a:p>
        </p:txBody>
      </p:sp>
      <p:sp>
        <p:nvSpPr>
          <p:cNvPr id="22" name="Text 16"/>
          <p:cNvSpPr/>
          <p:nvPr/>
        </p:nvSpPr>
        <p:spPr>
          <a:xfrm>
            <a:off x="8915177" y="3186410"/>
            <a:ext cx="2320172"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Pruebas de integración y E2E, despliegue, manuales y entrega</a:t>
            </a:r>
            <a:endParaRPr lang="en-US" sz="1400" dirty="0"/>
          </a:p>
        </p:txBody>
      </p:sp>
      <p:sp>
        <p:nvSpPr>
          <p:cNvPr id="23" name="Shape 17"/>
          <p:cNvSpPr/>
          <p:nvPr/>
        </p:nvSpPr>
        <p:spPr>
          <a:xfrm>
            <a:off x="5164548" y="1280120"/>
            <a:ext cx="1737277" cy="310852"/>
          </a:xfrm>
          <a:prstGeom prst="roundRect">
            <a:avLst>
              <a:gd name="adj" fmla="val 49999"/>
            </a:avLst>
          </a:prstGeom>
          <a:solidFill>
            <a:srgbClr val="FFC72C"/>
          </a:solidFill>
          <a:ln w="12700">
            <a:solidFill>
              <a:srgbClr val="FFC72C"/>
            </a:solidFill>
            <a:prstDash val="solid"/>
          </a:ln>
        </p:spPr>
        <p:txBody>
          <a:bodyPr/>
          <a:lstStyle/>
          <a:p>
            <a:endParaRPr lang="es-CL"/>
          </a:p>
        </p:txBody>
      </p:sp>
      <p:sp>
        <p:nvSpPr>
          <p:cNvPr id="24" name="Text 18"/>
          <p:cNvSpPr/>
          <p:nvPr/>
        </p:nvSpPr>
        <p:spPr>
          <a:xfrm>
            <a:off x="3626950" y="1330127"/>
            <a:ext cx="2346862" cy="228600"/>
          </a:xfrm>
          <a:prstGeom prst="rect">
            <a:avLst/>
          </a:prstGeom>
          <a:noFill/>
          <a:ln/>
        </p:spPr>
        <p:txBody>
          <a:bodyPr wrap="none" lIns="0" tIns="0" rIns="0" bIns="0" rtlCol="0" anchor="t">
            <a:noAutofit/>
          </a:bodyPr>
          <a:lstStyle/>
          <a:p>
            <a:pPr marL="0" indent="0" algn="l">
              <a:lnSpc>
                <a:spcPct val="100000"/>
              </a:lnSpc>
              <a:spcAft>
                <a:spcPts val="200"/>
              </a:spcAft>
              <a:buNone/>
            </a:pPr>
            <a:r>
              <a:rPr sz="1150" b="1">
                <a:solidFill>
                  <a:srgbClr val="0B2A55"/>
                </a:solidFill>
                <a:latin typeface="Carlito Bold"/>
              </a:rPr>
              <a:t>Hoy: fase 2 cerrada</a:t>
            </a:r>
            <a:endParaRPr lang="en-US" sz="1200" dirty="0"/>
          </a:p>
        </p:txBody>
      </p:sp>
      <p:sp>
        <p:nvSpPr>
          <p:cNvPr id="25" name="Shape 19"/>
          <p:cNvSpPr/>
          <p:nvPr/>
        </p:nvSpPr>
        <p:spPr>
          <a:xfrm>
            <a:off x="548567" y="4480520"/>
            <a:ext cx="11091387" cy="1600200"/>
          </a:xfrm>
          <a:prstGeom prst="roundRect">
            <a:avLst>
              <a:gd name="adj" fmla="val 8228"/>
            </a:avLst>
          </a:prstGeom>
          <a:solidFill>
            <a:srgbClr val="EEF2F7"/>
          </a:solidFill>
          <a:ln w="12700">
            <a:solidFill>
              <a:srgbClr val="EEF2F7"/>
            </a:solidFill>
            <a:prstDash val="solid"/>
          </a:ln>
        </p:spPr>
        <p:txBody>
          <a:bodyPr/>
          <a:lstStyle/>
          <a:p>
            <a:endParaRPr lang="es-CL"/>
          </a:p>
        </p:txBody>
      </p:sp>
      <p:sp>
        <p:nvSpPr>
          <p:cNvPr id="26" name="Shape 20"/>
          <p:cNvSpPr/>
          <p:nvPr/>
        </p:nvSpPr>
        <p:spPr>
          <a:xfrm>
            <a:off x="868638" y="4846241"/>
            <a:ext cx="548567" cy="548580"/>
          </a:xfrm>
          <a:prstGeom prst="ellipse">
            <a:avLst/>
          </a:prstGeom>
          <a:solidFill>
            <a:srgbClr val="0B2A55"/>
          </a:solidFill>
          <a:ln w="12700">
            <a:solidFill>
              <a:srgbClr val="0B2A55"/>
            </a:solidFill>
            <a:prstDash val="solid"/>
          </a:ln>
        </p:spPr>
        <p:txBody>
          <a:bodyPr/>
          <a:lstStyle/>
          <a:p>
            <a:endParaRPr lang="es-CL"/>
          </a:p>
        </p:txBody>
      </p:sp>
      <p:pic>
        <p:nvPicPr>
          <p:cNvPr id="27" name="Image 4" descr="preencoded.png"/>
          <p:cNvPicPr>
            <a:picLocks noChangeAspect="1"/>
          </p:cNvPicPr>
          <p:nvPr/>
        </p:nvPicPr>
        <p:blipFill>
          <a:blip r:embed="rId6"/>
          <a:stretch>
            <a:fillRect/>
          </a:stretch>
        </p:blipFill>
        <p:spPr>
          <a:xfrm>
            <a:off x="1005755" y="4983460"/>
            <a:ext cx="274234" cy="274241"/>
          </a:xfrm>
          <a:prstGeom prst="rect">
            <a:avLst/>
          </a:prstGeom>
        </p:spPr>
      </p:pic>
      <p:sp>
        <p:nvSpPr>
          <p:cNvPr id="28" name="Text 21"/>
          <p:cNvSpPr/>
          <p:nvPr/>
        </p:nvSpPr>
        <p:spPr>
          <a:xfrm>
            <a:off x="1600160" y="4740870"/>
            <a:ext cx="32612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Revisión semanal</a:t>
            </a:r>
            <a:endParaRPr lang="en-US" sz="1600" dirty="0"/>
          </a:p>
        </p:txBody>
      </p:sp>
      <p:sp>
        <p:nvSpPr>
          <p:cNvPr id="29" name="Text 22"/>
          <p:cNvSpPr/>
          <p:nvPr/>
        </p:nvSpPr>
        <p:spPr>
          <a:xfrm>
            <a:off x="1600160" y="5088334"/>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Alcance, avances, bloqueos y riesgos</a:t>
            </a:r>
            <a:endParaRPr lang="en-US" sz="1400" dirty="0"/>
          </a:p>
        </p:txBody>
      </p:sp>
      <p:sp>
        <p:nvSpPr>
          <p:cNvPr id="30" name="Shape 23"/>
          <p:cNvSpPr/>
          <p:nvPr/>
        </p:nvSpPr>
        <p:spPr>
          <a:xfrm>
            <a:off x="4480408" y="4846241"/>
            <a:ext cx="548567" cy="548580"/>
          </a:xfrm>
          <a:prstGeom prst="ellipse">
            <a:avLst/>
          </a:prstGeom>
          <a:solidFill>
            <a:srgbClr val="0B2A55"/>
          </a:solidFill>
          <a:ln w="12700">
            <a:solidFill>
              <a:srgbClr val="0B2A55"/>
            </a:solidFill>
            <a:prstDash val="solid"/>
          </a:ln>
        </p:spPr>
        <p:txBody>
          <a:bodyPr/>
          <a:lstStyle/>
          <a:p>
            <a:endParaRPr lang="es-CL"/>
          </a:p>
        </p:txBody>
      </p:sp>
      <p:pic>
        <p:nvPicPr>
          <p:cNvPr id="31" name="Image 5" descr="preencoded.png"/>
          <p:cNvPicPr>
            <a:picLocks noChangeAspect="1"/>
          </p:cNvPicPr>
          <p:nvPr/>
        </p:nvPicPr>
        <p:blipFill>
          <a:blip r:embed="rId7"/>
          <a:stretch>
            <a:fillRect/>
          </a:stretch>
        </p:blipFill>
        <p:spPr>
          <a:xfrm>
            <a:off x="4617525" y="4983460"/>
            <a:ext cx="274234" cy="274241"/>
          </a:xfrm>
          <a:prstGeom prst="rect">
            <a:avLst/>
          </a:prstGeom>
        </p:spPr>
      </p:pic>
      <p:sp>
        <p:nvSpPr>
          <p:cNvPr id="32" name="Text 24"/>
          <p:cNvSpPr/>
          <p:nvPr/>
        </p:nvSpPr>
        <p:spPr>
          <a:xfrm>
            <a:off x="5211930" y="4740870"/>
            <a:ext cx="32612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Control de cambios</a:t>
            </a:r>
            <a:endParaRPr lang="en-US" sz="1600" dirty="0"/>
          </a:p>
        </p:txBody>
      </p:sp>
      <p:sp>
        <p:nvSpPr>
          <p:cNvPr id="33" name="Text 25"/>
          <p:cNvSpPr/>
          <p:nvPr/>
        </p:nvSpPr>
        <p:spPr>
          <a:xfrm>
            <a:off x="5211930" y="5088334"/>
            <a:ext cx="2594505"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Todo requerimiento nuevo se evalúa antes de entrar</a:t>
            </a:r>
            <a:endParaRPr lang="en-US" sz="1400" dirty="0"/>
          </a:p>
        </p:txBody>
      </p:sp>
      <p:sp>
        <p:nvSpPr>
          <p:cNvPr id="34" name="Shape 26"/>
          <p:cNvSpPr/>
          <p:nvPr/>
        </p:nvSpPr>
        <p:spPr>
          <a:xfrm>
            <a:off x="8092178" y="4846241"/>
            <a:ext cx="548567" cy="548580"/>
          </a:xfrm>
          <a:prstGeom prst="ellipse">
            <a:avLst/>
          </a:prstGeom>
          <a:solidFill>
            <a:srgbClr val="0B2A55"/>
          </a:solidFill>
          <a:ln w="12700">
            <a:solidFill>
              <a:srgbClr val="0B2A55"/>
            </a:solidFill>
            <a:prstDash val="solid"/>
          </a:ln>
        </p:spPr>
        <p:txBody>
          <a:bodyPr/>
          <a:lstStyle/>
          <a:p>
            <a:endParaRPr lang="es-CL"/>
          </a:p>
        </p:txBody>
      </p:sp>
      <p:pic>
        <p:nvPicPr>
          <p:cNvPr id="35" name="Image 6" descr="preencoded.png"/>
          <p:cNvPicPr>
            <a:picLocks noChangeAspect="1"/>
          </p:cNvPicPr>
          <p:nvPr/>
        </p:nvPicPr>
        <p:blipFill>
          <a:blip r:embed="rId8"/>
          <a:stretch>
            <a:fillRect/>
          </a:stretch>
        </p:blipFill>
        <p:spPr>
          <a:xfrm>
            <a:off x="8229394" y="4983460"/>
            <a:ext cx="274234" cy="274241"/>
          </a:xfrm>
          <a:prstGeom prst="rect">
            <a:avLst/>
          </a:prstGeom>
        </p:spPr>
      </p:pic>
      <p:sp>
        <p:nvSpPr>
          <p:cNvPr id="36" name="Text 27"/>
          <p:cNvSpPr/>
          <p:nvPr/>
        </p:nvSpPr>
        <p:spPr>
          <a:xfrm>
            <a:off x="8823700" y="4740870"/>
            <a:ext cx="32612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Trazabilidad</a:t>
            </a:r>
            <a:endParaRPr lang="en-US" sz="1600" dirty="0"/>
          </a:p>
        </p:txBody>
      </p:sp>
      <p:sp>
        <p:nvSpPr>
          <p:cNvPr id="37" name="Text 28"/>
          <p:cNvSpPr/>
          <p:nvPr/>
        </p:nvSpPr>
        <p:spPr>
          <a:xfrm>
            <a:off x="8823700" y="5088334"/>
            <a:ext cx="2594505"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Requisito → tarea → prueba, con control de versiones Git</a:t>
            </a:r>
            <a:endParaRPr lang="en-US" sz="1400" dirty="0"/>
          </a:p>
        </p:txBody>
      </p:sp>
      <p:sp>
        <p:nvSpPr>
          <p:cNvPr id="38" name="Text 29"/>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39" name="Text 30"/>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4</a:t>
            </a:r>
            <a:endParaRPr lang="en-US" sz="1000" dirty="0"/>
          </a:p>
        </p:txBody>
      </p:sp>
      <p:sp>
        <p:nvSpPr>
          <p:cNvPr id="40" name="Rounded Rectangle 39"/>
          <p:cNvSpPr/>
          <p:nvPr/>
        </p:nvSpPr>
        <p:spPr>
          <a:xfrm>
            <a:off x="548640" y="1115568"/>
            <a:ext cx="11091672" cy="512064"/>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2658289" y="1197864"/>
            <a:ext cx="347472" cy="347472"/>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658289" y="1197864"/>
            <a:ext cx="347472" cy="347472"/>
          </a:xfrm>
          <a:prstGeom prst="rect">
            <a:avLst/>
          </a:prstGeom>
          <a:noFill/>
        </p:spPr>
        <p:txBody>
          <a:bodyPr wrap="none" lIns="0" tIns="0" rIns="0" bIns="0" anchor="ctr">
            <a:spAutoFit/>
          </a:bodyPr>
          <a:lstStyle/>
          <a:p>
            <a:pPr algn="ctr">
              <a:lnSpc>
                <a:spcPct val="100000"/>
              </a:lnSpc>
            </a:pPr>
            <a:r>
              <a:rPr sz="1300" b="1">
                <a:solidFill>
                  <a:srgbClr val="0B2A55"/>
                </a:solidFill>
                <a:latin typeface="Carlito Bold"/>
              </a:rPr>
              <a:t>2</a:t>
            </a:r>
          </a:p>
        </p:txBody>
      </p:sp>
      <p:sp>
        <p:nvSpPr>
          <p:cNvPr id="43" name="TextBox 42"/>
          <p:cNvSpPr txBox="1"/>
          <p:nvPr/>
        </p:nvSpPr>
        <p:spPr>
          <a:xfrm>
            <a:off x="3078913" y="1197864"/>
            <a:ext cx="2103120" cy="347472"/>
          </a:xfrm>
          <a:prstGeom prst="rect">
            <a:avLst/>
          </a:prstGeom>
          <a:noFill/>
        </p:spPr>
        <p:txBody>
          <a:bodyPr wrap="none" lIns="0" tIns="0" rIns="0" bIns="0" anchor="ctr">
            <a:spAutoFit/>
          </a:bodyPr>
          <a:lstStyle/>
          <a:p>
            <a:pPr algn="l">
              <a:lnSpc>
                <a:spcPct val="100000"/>
              </a:lnSpc>
            </a:pPr>
            <a:r>
              <a:rPr sz="1200" b="0">
                <a:solidFill>
                  <a:srgbClr val="1B1F2A"/>
                </a:solidFill>
                <a:latin typeface="Carlito"/>
              </a:rPr>
              <a:t>Análisis y diseño · fase cerrada</a:t>
            </a:r>
          </a:p>
        </p:txBody>
      </p:sp>
      <p:sp>
        <p:nvSpPr>
          <p:cNvPr id="44" name="Right Arrow 43"/>
          <p:cNvSpPr/>
          <p:nvPr/>
        </p:nvSpPr>
        <p:spPr>
          <a:xfrm>
            <a:off x="5218609" y="1289304"/>
            <a:ext cx="457200" cy="164592"/>
          </a:xfrm>
          <a:prstGeom prst="rightArrow">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48960" y="1197864"/>
            <a:ext cx="1234440" cy="347472"/>
          </a:xfrm>
          <a:prstGeom prst="rect">
            <a:avLst/>
          </a:prstGeom>
          <a:noFill/>
        </p:spPr>
        <p:txBody>
          <a:bodyPr wrap="none" lIns="0" tIns="0" rIns="0" bIns="0" anchor="ctr">
            <a:spAutoFit/>
          </a:bodyPr>
          <a:lstStyle/>
          <a:p>
            <a:pPr algn="l">
              <a:lnSpc>
                <a:spcPct val="100000"/>
              </a:lnSpc>
            </a:pPr>
            <a:r>
              <a:rPr sz="1050" b="1" dirty="0">
                <a:solidFill>
                  <a:srgbClr val="0B2A55"/>
                </a:solidFill>
                <a:latin typeface="Carlito Bold"/>
              </a:rPr>
              <a:t>AVANZANDO</a:t>
            </a:r>
          </a:p>
        </p:txBody>
      </p:sp>
      <p:sp>
        <p:nvSpPr>
          <p:cNvPr id="46" name="Oval 45"/>
          <p:cNvSpPr/>
          <p:nvPr/>
        </p:nvSpPr>
        <p:spPr>
          <a:xfrm>
            <a:off x="6618622" y="1197864"/>
            <a:ext cx="347472" cy="3474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18622" y="1271572"/>
            <a:ext cx="347472" cy="200055"/>
          </a:xfrm>
          <a:prstGeom prst="rect">
            <a:avLst/>
          </a:prstGeom>
          <a:noFill/>
        </p:spPr>
        <p:txBody>
          <a:bodyPr wrap="square" lIns="0" tIns="0" rIns="0" bIns="0" anchor="ctr">
            <a:spAutoFit/>
          </a:bodyPr>
          <a:lstStyle/>
          <a:p>
            <a:pPr algn="ctr">
              <a:lnSpc>
                <a:spcPct val="100000"/>
              </a:lnSpc>
            </a:pPr>
            <a:r>
              <a:rPr sz="1300" b="1" dirty="0">
                <a:solidFill>
                  <a:srgbClr val="FFFFFF"/>
                </a:solidFill>
                <a:latin typeface="Carlito Bold"/>
              </a:rPr>
              <a:t>3</a:t>
            </a:r>
          </a:p>
        </p:txBody>
      </p:sp>
      <p:sp>
        <p:nvSpPr>
          <p:cNvPr id="48" name="TextBox 47"/>
          <p:cNvSpPr txBox="1"/>
          <p:nvPr/>
        </p:nvSpPr>
        <p:spPr>
          <a:xfrm>
            <a:off x="7818120" y="1197864"/>
            <a:ext cx="1737360" cy="347472"/>
          </a:xfrm>
          <a:prstGeom prst="rect">
            <a:avLst/>
          </a:prstGeom>
          <a:noFill/>
        </p:spPr>
        <p:txBody>
          <a:bodyPr wrap="none" lIns="0" tIns="0" rIns="0" bIns="0" anchor="ctr">
            <a:spAutoFit/>
          </a:bodyPr>
          <a:lstStyle/>
          <a:p>
            <a:pPr algn="l">
              <a:lnSpc>
                <a:spcPct val="100000"/>
              </a:lnSpc>
            </a:pPr>
            <a:r>
              <a:rPr sz="1200" b="1">
                <a:solidFill>
                  <a:srgbClr val="0B2A55"/>
                </a:solidFill>
                <a:latin typeface="Carlito Bold"/>
              </a:rPr>
              <a:t>Construcción · en curso</a:t>
            </a:r>
          </a:p>
        </p:txBody>
      </p:sp>
      <p:sp>
        <p:nvSpPr>
          <p:cNvPr id="49" name="TextBox 48"/>
          <p:cNvSpPr txBox="1"/>
          <p:nvPr/>
        </p:nvSpPr>
        <p:spPr>
          <a:xfrm>
            <a:off x="9555480" y="1197864"/>
            <a:ext cx="1920240" cy="347472"/>
          </a:xfrm>
          <a:prstGeom prst="rect">
            <a:avLst/>
          </a:prstGeom>
          <a:noFill/>
        </p:spPr>
        <p:txBody>
          <a:bodyPr wrap="none" lIns="0" tIns="0" rIns="0" bIns="0" anchor="ctr">
            <a:spAutoFit/>
          </a:bodyPr>
          <a:lstStyle/>
          <a:p>
            <a:pPr algn="r">
              <a:lnSpc>
                <a:spcPct val="100000"/>
              </a:lnSpc>
            </a:pPr>
            <a:r>
              <a:rPr sz="1100" b="0">
                <a:solidFill>
                  <a:srgbClr val="5B6577"/>
                </a:solidFill>
                <a:latin typeface="Carlito"/>
              </a:rPr>
              <a:t>Hoy · 15 oct · semana 5 de 13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Cronograma e hitos</a:t>
            </a:r>
            <a:endParaRPr lang="en-US" sz="3400" dirty="0"/>
          </a:p>
        </p:txBody>
      </p:sp>
      <p:sp>
        <p:nvSpPr>
          <p:cNvPr id="3" name="Shape 1"/>
          <p:cNvSpPr/>
          <p:nvPr/>
        </p:nvSpPr>
        <p:spPr>
          <a:xfrm>
            <a:off x="1280088" y="3729930"/>
            <a:ext cx="9364428" cy="38100"/>
          </a:xfrm>
          <a:prstGeom prst="rect">
            <a:avLst/>
          </a:prstGeom>
          <a:solidFill>
            <a:srgbClr val="5B6577"/>
          </a:solidFill>
          <a:ln/>
        </p:spPr>
        <p:txBody>
          <a:bodyPr/>
          <a:lstStyle/>
          <a:p>
            <a:endParaRPr lang="es-CL"/>
          </a:p>
        </p:txBody>
      </p:sp>
      <p:sp>
        <p:nvSpPr>
          <p:cNvPr id="4" name="Shape 2"/>
          <p:cNvSpPr/>
          <p:nvPr/>
        </p:nvSpPr>
        <p:spPr>
          <a:xfrm>
            <a:off x="1907730" y="3246041"/>
            <a:ext cx="12700" cy="356691"/>
          </a:xfrm>
          <a:prstGeom prst="rect">
            <a:avLst/>
          </a:prstGeom>
          <a:solidFill>
            <a:srgbClr val="5B6577"/>
          </a:solidFill>
          <a:ln/>
        </p:spPr>
        <p:txBody>
          <a:bodyPr/>
          <a:lstStyle/>
          <a:p>
            <a:endParaRPr lang="es-CL"/>
          </a:p>
        </p:txBody>
      </p:sp>
      <p:sp>
        <p:nvSpPr>
          <p:cNvPr id="5" name="Text 3"/>
          <p:cNvSpPr/>
          <p:nvPr/>
        </p:nvSpPr>
        <p:spPr>
          <a:xfrm>
            <a:off x="1228297" y="2101532"/>
            <a:ext cx="1371566" cy="274241"/>
          </a:xfrm>
          <a:prstGeom prst="rect">
            <a:avLst/>
          </a:prstGeom>
          <a:noFill/>
          <a:ln/>
        </p:spPr>
        <p:txBody>
          <a:bodyPr wrap="none" lIns="0" tIns="0" rIns="0" bIns="0" rtlCol="0" anchor="t"/>
          <a:lstStyle/>
          <a:p>
            <a:pPr marL="0" indent="0" algn="ctr">
              <a:lnSpc>
                <a:spcPct val="100000"/>
              </a:lnSpc>
              <a:buNone/>
            </a:pPr>
            <a:r>
              <a:rPr lang="en-US" sz="1800" b="1" dirty="0">
                <a:solidFill>
                  <a:srgbClr val="0B2A55"/>
                </a:solidFill>
                <a:latin typeface="Carlito Bold" pitchFamily="34" charset="0"/>
                <a:ea typeface="Carlito Bold" pitchFamily="34" charset="-122"/>
                <a:cs typeface="Carlito Bold" pitchFamily="34" charset="-120"/>
              </a:rPr>
              <a:t>H01</a:t>
            </a:r>
            <a:endParaRPr lang="en-US" sz="1800" dirty="0"/>
          </a:p>
        </p:txBody>
      </p:sp>
      <p:sp>
        <p:nvSpPr>
          <p:cNvPr id="6" name="Text 4"/>
          <p:cNvSpPr/>
          <p:nvPr/>
        </p:nvSpPr>
        <p:spPr>
          <a:xfrm>
            <a:off x="923505" y="2365006"/>
            <a:ext cx="1981150" cy="213320"/>
          </a:xfrm>
          <a:prstGeom prst="rect">
            <a:avLst/>
          </a:prstGeom>
          <a:noFill/>
          <a:ln/>
        </p:spPr>
        <p:txBody>
          <a:bodyPr wrap="none" lIns="0" tIns="0" rIns="0" bIns="0" rtlCol="0" anchor="t"/>
          <a:lstStyle/>
          <a:p>
            <a:pPr marL="0" indent="0" algn="ctr">
              <a:lnSpc>
                <a:spcPct val="100000"/>
              </a:lnSpc>
              <a:buNone/>
            </a:pPr>
            <a:r>
              <a:rPr lang="en-US" sz="1400" dirty="0">
                <a:solidFill>
                  <a:srgbClr val="1B1F2A"/>
                </a:solidFill>
                <a:latin typeface="Carlito" pitchFamily="34" charset="0"/>
                <a:ea typeface="Carlito" pitchFamily="34" charset="-122"/>
                <a:cs typeface="Carlito" pitchFamily="34" charset="-120"/>
              </a:rPr>
              <a:t>Planificación inicial</a:t>
            </a:r>
            <a:endParaRPr lang="en-US" sz="1400" dirty="0"/>
          </a:p>
        </p:txBody>
      </p:sp>
      <p:sp>
        <p:nvSpPr>
          <p:cNvPr id="7" name="Text 5"/>
          <p:cNvSpPr/>
          <p:nvPr/>
        </p:nvSpPr>
        <p:spPr>
          <a:xfrm>
            <a:off x="923505" y="2584331"/>
            <a:ext cx="1981150" cy="198041"/>
          </a:xfrm>
          <a:prstGeom prst="rect">
            <a:avLst/>
          </a:prstGeom>
          <a:noFill/>
          <a:ln/>
        </p:spPr>
        <p:txBody>
          <a:bodyPr wrap="none" lIns="0" tIns="0" rIns="0" bIns="0" rtlCol="0" anchor="t"/>
          <a:lstStyle/>
          <a:p>
            <a:pPr marL="0" indent="0" algn="ctr">
              <a:lnSpc>
                <a:spcPct val="100000"/>
              </a:lnSpc>
              <a:buNone/>
            </a:pPr>
            <a:r>
              <a:rPr lang="en-US" sz="1300" dirty="0">
                <a:solidFill>
                  <a:srgbClr val="5B6577"/>
                </a:solidFill>
                <a:latin typeface="Carlito" pitchFamily="34" charset="0"/>
                <a:ea typeface="Carlito" pitchFamily="34" charset="-122"/>
                <a:cs typeface="Carlito" pitchFamily="34" charset="-120"/>
              </a:rPr>
              <a:t>17/09 · S1</a:t>
            </a:r>
            <a:endParaRPr lang="en-US" sz="1300" dirty="0"/>
          </a:p>
        </p:txBody>
      </p:sp>
      <p:sp>
        <p:nvSpPr>
          <p:cNvPr id="8" name="Shape 6"/>
          <p:cNvSpPr/>
          <p:nvPr/>
        </p:nvSpPr>
        <p:spPr>
          <a:xfrm>
            <a:off x="1767736" y="3602732"/>
            <a:ext cx="292589" cy="292596"/>
          </a:xfrm>
          <a:prstGeom prst="ellipse">
            <a:avLst/>
          </a:prstGeom>
          <a:solidFill>
            <a:srgbClr val="2E7D5B"/>
          </a:solidFill>
          <a:ln w="25399">
            <a:solidFill>
              <a:srgbClr val="FFFFFF"/>
            </a:solidFill>
            <a:prstDash val="solid"/>
          </a:ln>
        </p:spPr>
        <p:txBody>
          <a:bodyPr/>
          <a:lstStyle/>
          <a:p>
            <a:endParaRPr lang="es-CL"/>
          </a:p>
        </p:txBody>
      </p:sp>
      <p:sp>
        <p:nvSpPr>
          <p:cNvPr id="9" name="Shape 7"/>
          <p:cNvSpPr/>
          <p:nvPr/>
        </p:nvSpPr>
        <p:spPr>
          <a:xfrm>
            <a:off x="3386946" y="3895130"/>
            <a:ext cx="12700" cy="356691"/>
          </a:xfrm>
          <a:prstGeom prst="rect">
            <a:avLst/>
          </a:prstGeom>
          <a:solidFill>
            <a:srgbClr val="5B6577"/>
          </a:solidFill>
          <a:ln/>
        </p:spPr>
        <p:txBody>
          <a:bodyPr/>
          <a:lstStyle/>
          <a:p>
            <a:endParaRPr lang="es-CL"/>
          </a:p>
        </p:txBody>
      </p:sp>
      <p:sp>
        <p:nvSpPr>
          <p:cNvPr id="10" name="Text 8"/>
          <p:cNvSpPr/>
          <p:nvPr/>
        </p:nvSpPr>
        <p:spPr>
          <a:xfrm>
            <a:off x="2707513" y="4250313"/>
            <a:ext cx="1371566" cy="274241"/>
          </a:xfrm>
          <a:prstGeom prst="rect">
            <a:avLst/>
          </a:prstGeom>
          <a:noFill/>
          <a:ln/>
        </p:spPr>
        <p:txBody>
          <a:bodyPr wrap="none" lIns="0" tIns="0" rIns="0" bIns="0" rtlCol="0" anchor="t"/>
          <a:lstStyle/>
          <a:p>
            <a:pPr marL="0" indent="0" algn="ctr">
              <a:lnSpc>
                <a:spcPct val="100000"/>
              </a:lnSpc>
              <a:buNone/>
            </a:pPr>
            <a:r>
              <a:rPr lang="en-US" sz="1800" b="1" dirty="0">
                <a:solidFill>
                  <a:srgbClr val="0B2A55"/>
                </a:solidFill>
                <a:latin typeface="Carlito Bold" pitchFamily="34" charset="0"/>
                <a:ea typeface="Carlito Bold" pitchFamily="34" charset="-122"/>
                <a:cs typeface="Carlito Bold" pitchFamily="34" charset="-120"/>
              </a:rPr>
              <a:t>H02</a:t>
            </a:r>
            <a:endParaRPr lang="en-US" sz="1800" dirty="0"/>
          </a:p>
        </p:txBody>
      </p:sp>
      <p:sp>
        <p:nvSpPr>
          <p:cNvPr id="11" name="Text 9"/>
          <p:cNvSpPr/>
          <p:nvPr/>
        </p:nvSpPr>
        <p:spPr>
          <a:xfrm>
            <a:off x="2707513" y="4513786"/>
            <a:ext cx="1371566" cy="426641"/>
          </a:xfrm>
          <a:prstGeom prst="rect">
            <a:avLst/>
          </a:prstGeom>
          <a:noFill/>
          <a:ln/>
        </p:spPr>
        <p:txBody>
          <a:bodyPr wrap="square" lIns="0" tIns="0" rIns="0" bIns="0" rtlCol="0" anchor="t">
            <a:normAutofit lnSpcReduction="10000"/>
          </a:bodyPr>
          <a:lstStyle/>
          <a:p>
            <a:pPr marL="0" indent="0" algn="ctr">
              <a:lnSpc>
                <a:spcPct val="100000"/>
              </a:lnSpc>
              <a:buNone/>
            </a:pPr>
            <a:r>
              <a:rPr lang="en-US" sz="1400" dirty="0">
                <a:solidFill>
                  <a:srgbClr val="1B1F2A"/>
                </a:solidFill>
                <a:latin typeface="Carlito" pitchFamily="34" charset="0"/>
                <a:ea typeface="Carlito" pitchFamily="34" charset="-122"/>
                <a:cs typeface="Carlito" pitchFamily="34" charset="-120"/>
              </a:rPr>
              <a:t>Análisis y diseño base</a:t>
            </a:r>
            <a:endParaRPr lang="en-US" sz="1400" dirty="0"/>
          </a:p>
        </p:txBody>
      </p:sp>
      <p:sp>
        <p:nvSpPr>
          <p:cNvPr id="12" name="Text 10"/>
          <p:cNvSpPr/>
          <p:nvPr/>
        </p:nvSpPr>
        <p:spPr>
          <a:xfrm>
            <a:off x="2402720" y="4946432"/>
            <a:ext cx="1981150" cy="198041"/>
          </a:xfrm>
          <a:prstGeom prst="rect">
            <a:avLst/>
          </a:prstGeom>
          <a:noFill/>
          <a:ln/>
        </p:spPr>
        <p:txBody>
          <a:bodyPr wrap="none" lIns="0" tIns="0" rIns="0" bIns="0" rtlCol="0" anchor="t"/>
          <a:lstStyle/>
          <a:p>
            <a:pPr marL="0" indent="0" algn="ctr">
              <a:lnSpc>
                <a:spcPct val="100000"/>
              </a:lnSpc>
              <a:buNone/>
            </a:pPr>
            <a:r>
              <a:rPr lang="en-US" sz="1300" dirty="0">
                <a:solidFill>
                  <a:srgbClr val="5B6577"/>
                </a:solidFill>
                <a:latin typeface="Carlito" pitchFamily="34" charset="0"/>
                <a:ea typeface="Carlito" pitchFamily="34" charset="-122"/>
                <a:cs typeface="Carlito" pitchFamily="34" charset="-120"/>
              </a:rPr>
              <a:t>01/10 · S3</a:t>
            </a:r>
            <a:endParaRPr lang="en-US" sz="1300" dirty="0"/>
          </a:p>
        </p:txBody>
      </p:sp>
      <p:sp>
        <p:nvSpPr>
          <p:cNvPr id="13" name="Shape 11"/>
          <p:cNvSpPr/>
          <p:nvPr/>
        </p:nvSpPr>
        <p:spPr>
          <a:xfrm>
            <a:off x="3247051" y="3602732"/>
            <a:ext cx="292589" cy="292596"/>
          </a:xfrm>
          <a:prstGeom prst="ellipse">
            <a:avLst/>
          </a:prstGeom>
          <a:solidFill>
            <a:srgbClr val="C27C0E"/>
          </a:solidFill>
          <a:ln w="25399">
            <a:solidFill>
              <a:srgbClr val="FFFFFF"/>
            </a:solidFill>
            <a:prstDash val="solid"/>
          </a:ln>
        </p:spPr>
        <p:txBody>
          <a:bodyPr/>
          <a:lstStyle/>
          <a:p>
            <a:endParaRPr lang="es-CL"/>
          </a:p>
        </p:txBody>
      </p:sp>
      <p:sp>
        <p:nvSpPr>
          <p:cNvPr id="14" name="Shape 12"/>
          <p:cNvSpPr/>
          <p:nvPr/>
        </p:nvSpPr>
        <p:spPr>
          <a:xfrm>
            <a:off x="5812593" y="3246041"/>
            <a:ext cx="12700" cy="356691"/>
          </a:xfrm>
          <a:prstGeom prst="rect">
            <a:avLst/>
          </a:prstGeom>
          <a:solidFill>
            <a:srgbClr val="5B6577"/>
          </a:solidFill>
          <a:ln/>
        </p:spPr>
        <p:txBody>
          <a:bodyPr/>
          <a:lstStyle/>
          <a:p>
            <a:endParaRPr lang="es-CL"/>
          </a:p>
        </p:txBody>
      </p:sp>
      <p:sp>
        <p:nvSpPr>
          <p:cNvPr id="15" name="Text 13"/>
          <p:cNvSpPr/>
          <p:nvPr/>
        </p:nvSpPr>
        <p:spPr>
          <a:xfrm>
            <a:off x="5133160" y="2101532"/>
            <a:ext cx="1371566" cy="274241"/>
          </a:xfrm>
          <a:prstGeom prst="rect">
            <a:avLst/>
          </a:prstGeom>
          <a:noFill/>
          <a:ln/>
        </p:spPr>
        <p:txBody>
          <a:bodyPr wrap="none" lIns="0" tIns="0" rIns="0" bIns="0" rtlCol="0" anchor="t"/>
          <a:lstStyle/>
          <a:p>
            <a:pPr marL="0" indent="0" algn="ctr">
              <a:lnSpc>
                <a:spcPct val="100000"/>
              </a:lnSpc>
              <a:buNone/>
            </a:pPr>
            <a:r>
              <a:rPr lang="en-US" sz="1800" b="1" dirty="0">
                <a:solidFill>
                  <a:srgbClr val="0B2A55"/>
                </a:solidFill>
                <a:latin typeface="Carlito Bold" pitchFamily="34" charset="0"/>
                <a:ea typeface="Carlito Bold" pitchFamily="34" charset="-122"/>
                <a:cs typeface="Carlito Bold" pitchFamily="34" charset="-120"/>
              </a:rPr>
              <a:t>H03</a:t>
            </a:r>
            <a:endParaRPr lang="en-US" sz="1800" dirty="0"/>
          </a:p>
        </p:txBody>
      </p:sp>
      <p:sp>
        <p:nvSpPr>
          <p:cNvPr id="16" name="Text 14"/>
          <p:cNvSpPr/>
          <p:nvPr/>
        </p:nvSpPr>
        <p:spPr>
          <a:xfrm>
            <a:off x="5133160" y="2365006"/>
            <a:ext cx="1371566" cy="426641"/>
          </a:xfrm>
          <a:prstGeom prst="rect">
            <a:avLst/>
          </a:prstGeom>
          <a:noFill/>
          <a:ln/>
        </p:spPr>
        <p:txBody>
          <a:bodyPr wrap="square" lIns="0" tIns="0" rIns="0" bIns="0" rtlCol="0" anchor="t">
            <a:normAutofit lnSpcReduction="10000"/>
          </a:bodyPr>
          <a:lstStyle/>
          <a:p>
            <a:pPr marL="0" indent="0" algn="ctr">
              <a:lnSpc>
                <a:spcPct val="100000"/>
              </a:lnSpc>
              <a:buNone/>
            </a:pPr>
            <a:r>
              <a:rPr lang="en-US" sz="1400" dirty="0">
                <a:solidFill>
                  <a:srgbClr val="1B1F2A"/>
                </a:solidFill>
                <a:latin typeface="Carlito" pitchFamily="34" charset="0"/>
                <a:ea typeface="Carlito" pitchFamily="34" charset="-122"/>
                <a:cs typeface="Carlito" pitchFamily="34" charset="-120"/>
              </a:rPr>
              <a:t>Construcción funcional</a:t>
            </a:r>
            <a:endParaRPr lang="en-US" sz="1400" dirty="0"/>
          </a:p>
        </p:txBody>
      </p:sp>
      <p:sp>
        <p:nvSpPr>
          <p:cNvPr id="17" name="Text 15"/>
          <p:cNvSpPr/>
          <p:nvPr/>
        </p:nvSpPr>
        <p:spPr>
          <a:xfrm>
            <a:off x="4828368" y="2797651"/>
            <a:ext cx="1981150" cy="198041"/>
          </a:xfrm>
          <a:prstGeom prst="rect">
            <a:avLst/>
          </a:prstGeom>
          <a:noFill/>
          <a:ln/>
        </p:spPr>
        <p:txBody>
          <a:bodyPr wrap="none" lIns="0" tIns="0" rIns="0" bIns="0" rtlCol="0" anchor="t"/>
          <a:lstStyle/>
          <a:p>
            <a:pPr marL="0" indent="0" algn="ctr">
              <a:lnSpc>
                <a:spcPct val="100000"/>
              </a:lnSpc>
              <a:buNone/>
            </a:pPr>
            <a:r>
              <a:rPr lang="en-US" sz="1300" dirty="0">
                <a:solidFill>
                  <a:srgbClr val="5B6577"/>
                </a:solidFill>
                <a:latin typeface="Carlito" pitchFamily="34" charset="0"/>
                <a:ea typeface="Carlito" pitchFamily="34" charset="-122"/>
                <a:cs typeface="Carlito" pitchFamily="34" charset="-120"/>
              </a:rPr>
              <a:t>08/10 · S4</a:t>
            </a:r>
            <a:endParaRPr lang="en-US" sz="1300" dirty="0"/>
          </a:p>
        </p:txBody>
      </p:sp>
      <p:sp>
        <p:nvSpPr>
          <p:cNvPr id="18" name="Shape 16"/>
          <p:cNvSpPr/>
          <p:nvPr/>
        </p:nvSpPr>
        <p:spPr>
          <a:xfrm>
            <a:off x="5672599" y="3602732"/>
            <a:ext cx="292589" cy="292596"/>
          </a:xfrm>
          <a:prstGeom prst="ellipse">
            <a:avLst/>
          </a:prstGeom>
          <a:solidFill>
            <a:srgbClr val="5B6577"/>
          </a:solidFill>
          <a:ln w="25399">
            <a:solidFill>
              <a:srgbClr val="FFFFFF"/>
            </a:solidFill>
            <a:prstDash val="solid"/>
          </a:ln>
        </p:spPr>
        <p:txBody>
          <a:bodyPr/>
          <a:lstStyle/>
          <a:p>
            <a:endParaRPr lang="es-CL"/>
          </a:p>
        </p:txBody>
      </p:sp>
      <p:sp>
        <p:nvSpPr>
          <p:cNvPr id="19" name="Shape 17"/>
          <p:cNvSpPr/>
          <p:nvPr/>
        </p:nvSpPr>
        <p:spPr>
          <a:xfrm>
            <a:off x="8564348" y="3895130"/>
            <a:ext cx="12700" cy="356691"/>
          </a:xfrm>
          <a:prstGeom prst="rect">
            <a:avLst/>
          </a:prstGeom>
          <a:solidFill>
            <a:srgbClr val="5B6577"/>
          </a:solidFill>
          <a:ln/>
        </p:spPr>
        <p:txBody>
          <a:bodyPr/>
          <a:lstStyle/>
          <a:p>
            <a:endParaRPr lang="es-CL"/>
          </a:p>
        </p:txBody>
      </p:sp>
      <p:sp>
        <p:nvSpPr>
          <p:cNvPr id="20" name="Text 18"/>
          <p:cNvSpPr/>
          <p:nvPr/>
        </p:nvSpPr>
        <p:spPr>
          <a:xfrm>
            <a:off x="7884915" y="4250313"/>
            <a:ext cx="1371566" cy="274241"/>
          </a:xfrm>
          <a:prstGeom prst="rect">
            <a:avLst/>
          </a:prstGeom>
          <a:noFill/>
          <a:ln/>
        </p:spPr>
        <p:txBody>
          <a:bodyPr wrap="none" lIns="0" tIns="0" rIns="0" bIns="0" rtlCol="0" anchor="t"/>
          <a:lstStyle/>
          <a:p>
            <a:pPr marL="0" indent="0" algn="ctr">
              <a:lnSpc>
                <a:spcPct val="100000"/>
              </a:lnSpc>
              <a:buNone/>
            </a:pPr>
            <a:r>
              <a:rPr lang="en-US" sz="1800" b="1" dirty="0">
                <a:solidFill>
                  <a:srgbClr val="0B2A55"/>
                </a:solidFill>
                <a:latin typeface="Carlito Bold" pitchFamily="34" charset="0"/>
                <a:ea typeface="Carlito Bold" pitchFamily="34" charset="-122"/>
                <a:cs typeface="Carlito Bold" pitchFamily="34" charset="-120"/>
              </a:rPr>
              <a:t>H04</a:t>
            </a:r>
            <a:endParaRPr lang="en-US" sz="1800" dirty="0"/>
          </a:p>
        </p:txBody>
      </p:sp>
      <p:sp>
        <p:nvSpPr>
          <p:cNvPr id="21" name="Text 19"/>
          <p:cNvSpPr/>
          <p:nvPr/>
        </p:nvSpPr>
        <p:spPr>
          <a:xfrm>
            <a:off x="7884915" y="4513786"/>
            <a:ext cx="1371566" cy="426641"/>
          </a:xfrm>
          <a:prstGeom prst="rect">
            <a:avLst/>
          </a:prstGeom>
          <a:noFill/>
          <a:ln/>
        </p:spPr>
        <p:txBody>
          <a:bodyPr wrap="square" lIns="0" tIns="0" rIns="0" bIns="0" rtlCol="0" anchor="t">
            <a:normAutofit lnSpcReduction="10000"/>
          </a:bodyPr>
          <a:lstStyle/>
          <a:p>
            <a:pPr marL="0" indent="0" algn="ctr">
              <a:lnSpc>
                <a:spcPct val="100000"/>
              </a:lnSpc>
              <a:buNone/>
            </a:pPr>
            <a:r>
              <a:rPr lang="en-US" sz="1400" dirty="0">
                <a:solidFill>
                  <a:srgbClr val="1B1F2A"/>
                </a:solidFill>
                <a:latin typeface="Carlito" pitchFamily="34" charset="0"/>
                <a:ea typeface="Carlito" pitchFamily="34" charset="-122"/>
                <a:cs typeface="Carlito" pitchFamily="34" charset="-120"/>
              </a:rPr>
              <a:t>Integración y pruebas críticas</a:t>
            </a:r>
            <a:endParaRPr lang="en-US" sz="1400" dirty="0"/>
          </a:p>
        </p:txBody>
      </p:sp>
      <p:sp>
        <p:nvSpPr>
          <p:cNvPr id="22" name="Text 20"/>
          <p:cNvSpPr/>
          <p:nvPr/>
        </p:nvSpPr>
        <p:spPr>
          <a:xfrm>
            <a:off x="7580123" y="4946432"/>
            <a:ext cx="1981150" cy="198041"/>
          </a:xfrm>
          <a:prstGeom prst="rect">
            <a:avLst/>
          </a:prstGeom>
          <a:noFill/>
          <a:ln/>
        </p:spPr>
        <p:txBody>
          <a:bodyPr wrap="none" lIns="0" tIns="0" rIns="0" bIns="0" rtlCol="0" anchor="t"/>
          <a:lstStyle/>
          <a:p>
            <a:pPr marL="0" indent="0" algn="ctr">
              <a:lnSpc>
                <a:spcPct val="100000"/>
              </a:lnSpc>
              <a:buNone/>
            </a:pPr>
            <a:r>
              <a:rPr lang="en-US" sz="1300" dirty="0">
                <a:solidFill>
                  <a:srgbClr val="5B6577"/>
                </a:solidFill>
                <a:latin typeface="Carlito" pitchFamily="34" charset="0"/>
                <a:ea typeface="Carlito" pitchFamily="34" charset="-122"/>
                <a:cs typeface="Carlito" pitchFamily="34" charset="-120"/>
              </a:rPr>
              <a:t>19/11 · S10</a:t>
            </a:r>
            <a:endParaRPr lang="en-US" sz="1300" dirty="0"/>
          </a:p>
        </p:txBody>
      </p:sp>
      <p:sp>
        <p:nvSpPr>
          <p:cNvPr id="23" name="Shape 21"/>
          <p:cNvSpPr/>
          <p:nvPr/>
        </p:nvSpPr>
        <p:spPr>
          <a:xfrm>
            <a:off x="8424453" y="3602732"/>
            <a:ext cx="292589" cy="292596"/>
          </a:xfrm>
          <a:prstGeom prst="ellipse">
            <a:avLst/>
          </a:prstGeom>
          <a:solidFill>
            <a:srgbClr val="5B6577"/>
          </a:solidFill>
          <a:ln w="25399">
            <a:solidFill>
              <a:srgbClr val="FFFFFF"/>
            </a:solidFill>
            <a:prstDash val="solid"/>
          </a:ln>
        </p:spPr>
        <p:txBody>
          <a:bodyPr/>
          <a:lstStyle/>
          <a:p>
            <a:endParaRPr lang="es-CL"/>
          </a:p>
        </p:txBody>
      </p:sp>
      <p:sp>
        <p:nvSpPr>
          <p:cNvPr id="24" name="Shape 22"/>
          <p:cNvSpPr/>
          <p:nvPr/>
        </p:nvSpPr>
        <p:spPr>
          <a:xfrm>
            <a:off x="9304006" y="3246041"/>
            <a:ext cx="12700" cy="356691"/>
          </a:xfrm>
          <a:prstGeom prst="rect">
            <a:avLst/>
          </a:prstGeom>
          <a:solidFill>
            <a:srgbClr val="5B6577"/>
          </a:solidFill>
          <a:ln/>
        </p:spPr>
        <p:txBody>
          <a:bodyPr/>
          <a:lstStyle/>
          <a:p>
            <a:endParaRPr lang="es-CL"/>
          </a:p>
        </p:txBody>
      </p:sp>
      <p:sp>
        <p:nvSpPr>
          <p:cNvPr id="25" name="Text 23"/>
          <p:cNvSpPr/>
          <p:nvPr/>
        </p:nvSpPr>
        <p:spPr>
          <a:xfrm>
            <a:off x="8624573" y="2101532"/>
            <a:ext cx="1371566" cy="274241"/>
          </a:xfrm>
          <a:prstGeom prst="rect">
            <a:avLst/>
          </a:prstGeom>
          <a:noFill/>
          <a:ln/>
        </p:spPr>
        <p:txBody>
          <a:bodyPr wrap="none" lIns="0" tIns="0" rIns="0" bIns="0" rtlCol="0" anchor="t"/>
          <a:lstStyle/>
          <a:p>
            <a:pPr marL="0" indent="0" algn="ctr">
              <a:lnSpc>
                <a:spcPct val="100000"/>
              </a:lnSpc>
              <a:buNone/>
            </a:pPr>
            <a:r>
              <a:rPr lang="en-US" sz="1800" b="1" dirty="0">
                <a:solidFill>
                  <a:srgbClr val="0B2A55"/>
                </a:solidFill>
                <a:latin typeface="Carlito Bold" pitchFamily="34" charset="0"/>
                <a:ea typeface="Carlito Bold" pitchFamily="34" charset="-122"/>
                <a:cs typeface="Carlito Bold" pitchFamily="34" charset="-120"/>
              </a:rPr>
              <a:t>H05</a:t>
            </a:r>
            <a:endParaRPr lang="en-US" sz="1800" dirty="0"/>
          </a:p>
        </p:txBody>
      </p:sp>
      <p:sp>
        <p:nvSpPr>
          <p:cNvPr id="26" name="Text 24"/>
          <p:cNvSpPr/>
          <p:nvPr/>
        </p:nvSpPr>
        <p:spPr>
          <a:xfrm>
            <a:off x="8624573" y="2365006"/>
            <a:ext cx="1371566" cy="426641"/>
          </a:xfrm>
          <a:prstGeom prst="rect">
            <a:avLst/>
          </a:prstGeom>
          <a:noFill/>
          <a:ln/>
        </p:spPr>
        <p:txBody>
          <a:bodyPr wrap="square" lIns="0" tIns="0" rIns="0" bIns="0" rtlCol="0" anchor="t">
            <a:normAutofit lnSpcReduction="10000"/>
          </a:bodyPr>
          <a:lstStyle/>
          <a:p>
            <a:pPr marL="0" indent="0" algn="ctr">
              <a:lnSpc>
                <a:spcPct val="100000"/>
              </a:lnSpc>
              <a:buNone/>
            </a:pPr>
            <a:r>
              <a:rPr lang="en-US" sz="1400" dirty="0">
                <a:solidFill>
                  <a:srgbClr val="1B1F2A"/>
                </a:solidFill>
                <a:latin typeface="Carlito" pitchFamily="34" charset="0"/>
                <a:ea typeface="Carlito" pitchFamily="34" charset="-122"/>
                <a:cs typeface="Carlito" pitchFamily="34" charset="-120"/>
              </a:rPr>
              <a:t>Cierre del desarrollo</a:t>
            </a:r>
            <a:endParaRPr lang="en-US" sz="1400" dirty="0"/>
          </a:p>
        </p:txBody>
      </p:sp>
      <p:sp>
        <p:nvSpPr>
          <p:cNvPr id="27" name="Text 25"/>
          <p:cNvSpPr/>
          <p:nvPr/>
        </p:nvSpPr>
        <p:spPr>
          <a:xfrm>
            <a:off x="8319780" y="2797651"/>
            <a:ext cx="1981150" cy="198041"/>
          </a:xfrm>
          <a:prstGeom prst="rect">
            <a:avLst/>
          </a:prstGeom>
          <a:noFill/>
          <a:ln/>
        </p:spPr>
        <p:txBody>
          <a:bodyPr wrap="none" lIns="0" tIns="0" rIns="0" bIns="0" rtlCol="0" anchor="t"/>
          <a:lstStyle/>
          <a:p>
            <a:pPr marL="0" indent="0" algn="ctr">
              <a:lnSpc>
                <a:spcPct val="100000"/>
              </a:lnSpc>
              <a:buNone/>
            </a:pPr>
            <a:r>
              <a:rPr lang="en-US" sz="1300" dirty="0">
                <a:solidFill>
                  <a:srgbClr val="5B6577"/>
                </a:solidFill>
                <a:latin typeface="Carlito" pitchFamily="34" charset="0"/>
                <a:ea typeface="Carlito" pitchFamily="34" charset="-122"/>
                <a:cs typeface="Carlito" pitchFamily="34" charset="-120"/>
              </a:rPr>
              <a:t>26/11 · S11</a:t>
            </a:r>
            <a:endParaRPr lang="en-US" sz="1300" dirty="0"/>
          </a:p>
        </p:txBody>
      </p:sp>
      <p:sp>
        <p:nvSpPr>
          <p:cNvPr id="28" name="Shape 26"/>
          <p:cNvSpPr/>
          <p:nvPr/>
        </p:nvSpPr>
        <p:spPr>
          <a:xfrm>
            <a:off x="9164011" y="3602732"/>
            <a:ext cx="292589" cy="292596"/>
          </a:xfrm>
          <a:prstGeom prst="ellipse">
            <a:avLst/>
          </a:prstGeom>
          <a:solidFill>
            <a:srgbClr val="5B6577"/>
          </a:solidFill>
          <a:ln w="25399">
            <a:solidFill>
              <a:srgbClr val="FFFFFF"/>
            </a:solidFill>
            <a:prstDash val="solid"/>
          </a:ln>
        </p:spPr>
        <p:txBody>
          <a:bodyPr/>
          <a:lstStyle/>
          <a:p>
            <a:endParaRPr lang="es-CL"/>
          </a:p>
        </p:txBody>
      </p:sp>
      <p:sp>
        <p:nvSpPr>
          <p:cNvPr id="29" name="Shape 27"/>
          <p:cNvSpPr/>
          <p:nvPr/>
        </p:nvSpPr>
        <p:spPr>
          <a:xfrm>
            <a:off x="10043663" y="3895130"/>
            <a:ext cx="12700" cy="356691"/>
          </a:xfrm>
          <a:prstGeom prst="rect">
            <a:avLst/>
          </a:prstGeom>
          <a:solidFill>
            <a:srgbClr val="5B6577"/>
          </a:solidFill>
          <a:ln/>
        </p:spPr>
        <p:txBody>
          <a:bodyPr/>
          <a:lstStyle/>
          <a:p>
            <a:endParaRPr lang="es-CL"/>
          </a:p>
        </p:txBody>
      </p:sp>
      <p:sp>
        <p:nvSpPr>
          <p:cNvPr id="30" name="Text 28"/>
          <p:cNvSpPr/>
          <p:nvPr/>
        </p:nvSpPr>
        <p:spPr>
          <a:xfrm>
            <a:off x="9364230" y="4250313"/>
            <a:ext cx="1371566" cy="274241"/>
          </a:xfrm>
          <a:prstGeom prst="rect">
            <a:avLst/>
          </a:prstGeom>
          <a:noFill/>
          <a:ln/>
        </p:spPr>
        <p:txBody>
          <a:bodyPr wrap="none" lIns="0" tIns="0" rIns="0" bIns="0" rtlCol="0" anchor="t"/>
          <a:lstStyle/>
          <a:p>
            <a:pPr marL="0" indent="0" algn="ctr">
              <a:lnSpc>
                <a:spcPct val="100000"/>
              </a:lnSpc>
              <a:buNone/>
            </a:pPr>
            <a:r>
              <a:rPr lang="en-US" sz="1800" b="1" dirty="0">
                <a:solidFill>
                  <a:srgbClr val="0B2A55"/>
                </a:solidFill>
                <a:latin typeface="Carlito Bold" pitchFamily="34" charset="0"/>
                <a:ea typeface="Carlito Bold" pitchFamily="34" charset="-122"/>
                <a:cs typeface="Carlito Bold" pitchFamily="34" charset="-120"/>
              </a:rPr>
              <a:t>H06</a:t>
            </a:r>
            <a:endParaRPr lang="en-US" sz="1800" dirty="0"/>
          </a:p>
        </p:txBody>
      </p:sp>
      <p:sp>
        <p:nvSpPr>
          <p:cNvPr id="31" name="Text 29"/>
          <p:cNvSpPr/>
          <p:nvPr/>
        </p:nvSpPr>
        <p:spPr>
          <a:xfrm>
            <a:off x="9364230" y="4513786"/>
            <a:ext cx="1371566" cy="426641"/>
          </a:xfrm>
          <a:prstGeom prst="rect">
            <a:avLst/>
          </a:prstGeom>
          <a:noFill/>
          <a:ln/>
        </p:spPr>
        <p:txBody>
          <a:bodyPr wrap="square" lIns="0" tIns="0" rIns="0" bIns="0" rtlCol="0" anchor="t">
            <a:normAutofit lnSpcReduction="10000"/>
          </a:bodyPr>
          <a:lstStyle/>
          <a:p>
            <a:pPr marL="0" indent="0" algn="ctr">
              <a:lnSpc>
                <a:spcPct val="100000"/>
              </a:lnSpc>
              <a:buNone/>
            </a:pPr>
            <a:r>
              <a:rPr lang="en-US" sz="1400" dirty="0">
                <a:solidFill>
                  <a:srgbClr val="1B1F2A"/>
                </a:solidFill>
                <a:latin typeface="Carlito" pitchFamily="34" charset="0"/>
                <a:ea typeface="Carlito" pitchFamily="34" charset="-122"/>
                <a:cs typeface="Carlito" pitchFamily="34" charset="-120"/>
              </a:rPr>
              <a:t>Documentación técnica</a:t>
            </a:r>
            <a:endParaRPr lang="en-US" sz="1400" dirty="0"/>
          </a:p>
        </p:txBody>
      </p:sp>
      <p:sp>
        <p:nvSpPr>
          <p:cNvPr id="32" name="Text 30"/>
          <p:cNvSpPr/>
          <p:nvPr/>
        </p:nvSpPr>
        <p:spPr>
          <a:xfrm>
            <a:off x="9059437" y="4946432"/>
            <a:ext cx="1981150" cy="198041"/>
          </a:xfrm>
          <a:prstGeom prst="rect">
            <a:avLst/>
          </a:prstGeom>
          <a:noFill/>
          <a:ln/>
        </p:spPr>
        <p:txBody>
          <a:bodyPr wrap="none" lIns="0" tIns="0" rIns="0" bIns="0" rtlCol="0" anchor="t"/>
          <a:lstStyle/>
          <a:p>
            <a:pPr marL="0" indent="0" algn="ctr">
              <a:lnSpc>
                <a:spcPct val="100000"/>
              </a:lnSpc>
              <a:buNone/>
            </a:pPr>
            <a:r>
              <a:rPr lang="en-US" sz="1300" dirty="0">
                <a:solidFill>
                  <a:srgbClr val="5B6577"/>
                </a:solidFill>
                <a:latin typeface="Carlito" pitchFamily="34" charset="0"/>
                <a:ea typeface="Carlito" pitchFamily="34" charset="-122"/>
                <a:cs typeface="Carlito" pitchFamily="34" charset="-120"/>
              </a:rPr>
              <a:t>03/12 · S12</a:t>
            </a:r>
            <a:endParaRPr lang="en-US" sz="1300" dirty="0"/>
          </a:p>
        </p:txBody>
      </p:sp>
      <p:sp>
        <p:nvSpPr>
          <p:cNvPr id="33" name="Shape 31"/>
          <p:cNvSpPr/>
          <p:nvPr/>
        </p:nvSpPr>
        <p:spPr>
          <a:xfrm>
            <a:off x="9903669" y="3602732"/>
            <a:ext cx="292589" cy="292596"/>
          </a:xfrm>
          <a:prstGeom prst="ellipse">
            <a:avLst/>
          </a:prstGeom>
          <a:solidFill>
            <a:srgbClr val="5B6577"/>
          </a:solidFill>
          <a:ln w="25399">
            <a:solidFill>
              <a:srgbClr val="FFFFFF"/>
            </a:solidFill>
            <a:prstDash val="solid"/>
          </a:ln>
        </p:spPr>
        <p:txBody>
          <a:bodyPr/>
          <a:lstStyle/>
          <a:p>
            <a:endParaRPr lang="es-CL"/>
          </a:p>
        </p:txBody>
      </p:sp>
      <p:sp>
        <p:nvSpPr>
          <p:cNvPr id="34" name="Shape 32"/>
          <p:cNvSpPr/>
          <p:nvPr/>
        </p:nvSpPr>
        <p:spPr>
          <a:xfrm>
            <a:off x="10783221" y="3246041"/>
            <a:ext cx="12700" cy="356691"/>
          </a:xfrm>
          <a:prstGeom prst="rect">
            <a:avLst/>
          </a:prstGeom>
          <a:solidFill>
            <a:srgbClr val="5B6577"/>
          </a:solidFill>
          <a:ln/>
        </p:spPr>
        <p:txBody>
          <a:bodyPr/>
          <a:lstStyle/>
          <a:p>
            <a:endParaRPr lang="es-CL"/>
          </a:p>
        </p:txBody>
      </p:sp>
      <p:sp>
        <p:nvSpPr>
          <p:cNvPr id="35" name="Text 33"/>
          <p:cNvSpPr/>
          <p:nvPr/>
        </p:nvSpPr>
        <p:spPr>
          <a:xfrm>
            <a:off x="10103788" y="2375773"/>
            <a:ext cx="1371566" cy="274241"/>
          </a:xfrm>
          <a:prstGeom prst="rect">
            <a:avLst/>
          </a:prstGeom>
          <a:noFill/>
          <a:ln/>
        </p:spPr>
        <p:txBody>
          <a:bodyPr wrap="none" lIns="0" tIns="0" rIns="0" bIns="0" rtlCol="0" anchor="t"/>
          <a:lstStyle/>
          <a:p>
            <a:pPr marL="0" indent="0" algn="ctr">
              <a:lnSpc>
                <a:spcPct val="100000"/>
              </a:lnSpc>
              <a:buNone/>
            </a:pPr>
            <a:r>
              <a:rPr lang="en-US" sz="1800" b="1" dirty="0">
                <a:solidFill>
                  <a:srgbClr val="0B2A55"/>
                </a:solidFill>
                <a:latin typeface="Carlito Bold" pitchFamily="34" charset="0"/>
                <a:ea typeface="Carlito Bold" pitchFamily="34" charset="-122"/>
                <a:cs typeface="Carlito Bold" pitchFamily="34" charset="-120"/>
              </a:rPr>
              <a:t>H07</a:t>
            </a:r>
            <a:endParaRPr lang="en-US" sz="1800" dirty="0"/>
          </a:p>
        </p:txBody>
      </p:sp>
      <p:sp>
        <p:nvSpPr>
          <p:cNvPr id="36" name="Text 34"/>
          <p:cNvSpPr/>
          <p:nvPr/>
        </p:nvSpPr>
        <p:spPr>
          <a:xfrm>
            <a:off x="9798995" y="2639246"/>
            <a:ext cx="1981150" cy="213320"/>
          </a:xfrm>
          <a:prstGeom prst="rect">
            <a:avLst/>
          </a:prstGeom>
          <a:noFill/>
          <a:ln/>
        </p:spPr>
        <p:txBody>
          <a:bodyPr wrap="none" lIns="0" tIns="0" rIns="0" bIns="0" rtlCol="0" anchor="t"/>
          <a:lstStyle/>
          <a:p>
            <a:pPr marL="0" indent="0" algn="ctr">
              <a:lnSpc>
                <a:spcPct val="100000"/>
              </a:lnSpc>
              <a:buNone/>
            </a:pPr>
            <a:r>
              <a:rPr lang="en-US" sz="1400" dirty="0">
                <a:solidFill>
                  <a:srgbClr val="1B1F2A"/>
                </a:solidFill>
                <a:latin typeface="Carlito" pitchFamily="34" charset="0"/>
                <a:ea typeface="Carlito" pitchFamily="34" charset="-122"/>
                <a:cs typeface="Carlito" pitchFamily="34" charset="-120"/>
              </a:rPr>
              <a:t>Entrega final</a:t>
            </a:r>
            <a:endParaRPr lang="en-US" sz="1400" dirty="0"/>
          </a:p>
        </p:txBody>
      </p:sp>
      <p:sp>
        <p:nvSpPr>
          <p:cNvPr id="37" name="Text 35"/>
          <p:cNvSpPr/>
          <p:nvPr/>
        </p:nvSpPr>
        <p:spPr>
          <a:xfrm>
            <a:off x="9798995" y="2858572"/>
            <a:ext cx="1981150" cy="198041"/>
          </a:xfrm>
          <a:prstGeom prst="rect">
            <a:avLst/>
          </a:prstGeom>
          <a:noFill/>
          <a:ln/>
        </p:spPr>
        <p:txBody>
          <a:bodyPr wrap="none" lIns="0" tIns="0" rIns="0" bIns="0" rtlCol="0" anchor="t"/>
          <a:lstStyle/>
          <a:p>
            <a:pPr marL="0" indent="0" algn="ctr">
              <a:lnSpc>
                <a:spcPct val="100000"/>
              </a:lnSpc>
              <a:buNone/>
            </a:pPr>
            <a:r>
              <a:rPr lang="en-US" sz="1300" dirty="0">
                <a:solidFill>
                  <a:srgbClr val="5B6577"/>
                </a:solidFill>
                <a:latin typeface="Carlito" pitchFamily="34" charset="0"/>
                <a:ea typeface="Carlito" pitchFamily="34" charset="-122"/>
                <a:cs typeface="Carlito" pitchFamily="34" charset="-120"/>
              </a:rPr>
              <a:t>10/12 · S13</a:t>
            </a:r>
            <a:endParaRPr lang="en-US" sz="1300" dirty="0"/>
          </a:p>
        </p:txBody>
      </p:sp>
      <p:sp>
        <p:nvSpPr>
          <p:cNvPr id="38" name="Shape 36"/>
          <p:cNvSpPr/>
          <p:nvPr/>
        </p:nvSpPr>
        <p:spPr>
          <a:xfrm>
            <a:off x="10643326" y="3602732"/>
            <a:ext cx="292589" cy="292596"/>
          </a:xfrm>
          <a:prstGeom prst="ellipse">
            <a:avLst/>
          </a:prstGeom>
          <a:solidFill>
            <a:srgbClr val="5B6577"/>
          </a:solidFill>
          <a:ln w="25399">
            <a:solidFill>
              <a:srgbClr val="FFFFFF"/>
            </a:solidFill>
            <a:prstDash val="solid"/>
          </a:ln>
        </p:spPr>
        <p:txBody>
          <a:bodyPr/>
          <a:lstStyle/>
          <a:p>
            <a:endParaRPr lang="es-CL"/>
          </a:p>
        </p:txBody>
      </p:sp>
      <p:sp>
        <p:nvSpPr>
          <p:cNvPr id="39" name="Shape 37"/>
          <p:cNvSpPr/>
          <p:nvPr/>
        </p:nvSpPr>
        <p:spPr>
          <a:xfrm>
            <a:off x="6897992" y="3154660"/>
            <a:ext cx="25399" cy="594320"/>
          </a:xfrm>
          <a:prstGeom prst="rect">
            <a:avLst/>
          </a:prstGeom>
          <a:solidFill>
            <a:srgbClr val="FFC72C"/>
          </a:solidFill>
          <a:ln/>
        </p:spPr>
        <p:txBody>
          <a:bodyPr/>
          <a:lstStyle/>
          <a:p>
            <a:endParaRPr lang="es-CL"/>
          </a:p>
        </p:txBody>
      </p:sp>
      <p:sp>
        <p:nvSpPr>
          <p:cNvPr id="40" name="Shape 38"/>
          <p:cNvSpPr/>
          <p:nvPr/>
        </p:nvSpPr>
        <p:spPr>
          <a:xfrm>
            <a:off x="6270647" y="2816324"/>
            <a:ext cx="1280088" cy="338237"/>
          </a:xfrm>
          <a:prstGeom prst="roundRect">
            <a:avLst>
              <a:gd name="adj" fmla="val 49999"/>
            </a:avLst>
          </a:prstGeom>
          <a:solidFill>
            <a:srgbClr val="FFC72C"/>
          </a:solidFill>
          <a:ln w="12700">
            <a:solidFill>
              <a:srgbClr val="FFC72C"/>
            </a:solidFill>
            <a:prstDash val="solid"/>
          </a:ln>
        </p:spPr>
        <p:txBody>
          <a:bodyPr/>
          <a:lstStyle/>
          <a:p>
            <a:endParaRPr lang="es-CL"/>
          </a:p>
        </p:txBody>
      </p:sp>
      <p:sp>
        <p:nvSpPr>
          <p:cNvPr id="41" name="Text 39"/>
          <p:cNvSpPr/>
          <p:nvPr/>
        </p:nvSpPr>
        <p:spPr>
          <a:xfrm>
            <a:off x="5965855" y="2872482"/>
            <a:ext cx="1889673" cy="247650"/>
          </a:xfrm>
          <a:prstGeom prst="rect">
            <a:avLst/>
          </a:prstGeom>
          <a:noFill/>
          <a:ln/>
        </p:spPr>
        <p:txBody>
          <a:bodyPr wrap="none" lIns="0" tIns="0" rIns="0" bIns="0" rtlCol="0" anchor="t"/>
          <a:lstStyle/>
          <a:p>
            <a:pPr marL="0" indent="0" algn="ctr">
              <a:lnSpc>
                <a:spcPct val="125000"/>
              </a:lnSpc>
              <a:buNone/>
            </a:pPr>
            <a:r>
              <a:rPr lang="en-US" sz="1300" b="1" dirty="0">
                <a:solidFill>
                  <a:srgbClr val="0B2A55"/>
                </a:solidFill>
                <a:latin typeface="Carlito Bold" pitchFamily="34" charset="0"/>
                <a:ea typeface="Carlito Bold" pitchFamily="34" charset="-122"/>
                <a:cs typeface="Carlito Bold" pitchFamily="34" charset="-120"/>
              </a:rPr>
              <a:t>Hoy · 15 oct</a:t>
            </a:r>
            <a:endParaRPr lang="en-US" sz="1300" dirty="0"/>
          </a:p>
        </p:txBody>
      </p:sp>
      <p:sp>
        <p:nvSpPr>
          <p:cNvPr id="42" name="Shape 40"/>
          <p:cNvSpPr/>
          <p:nvPr/>
        </p:nvSpPr>
        <p:spPr>
          <a:xfrm>
            <a:off x="548567" y="5577780"/>
            <a:ext cx="182856" cy="182860"/>
          </a:xfrm>
          <a:prstGeom prst="ellipse">
            <a:avLst/>
          </a:prstGeom>
          <a:solidFill>
            <a:srgbClr val="2E7D5B"/>
          </a:solidFill>
          <a:ln w="12700">
            <a:solidFill>
              <a:srgbClr val="2E7D5B"/>
            </a:solidFill>
            <a:prstDash val="solid"/>
          </a:ln>
        </p:spPr>
        <p:txBody>
          <a:bodyPr/>
          <a:lstStyle/>
          <a:p>
            <a:endParaRPr lang="es-CL"/>
          </a:p>
        </p:txBody>
      </p:sp>
      <p:sp>
        <p:nvSpPr>
          <p:cNvPr id="43" name="Text 41"/>
          <p:cNvSpPr/>
          <p:nvPr/>
        </p:nvSpPr>
        <p:spPr>
          <a:xfrm>
            <a:off x="822900" y="5556250"/>
            <a:ext cx="1981150" cy="247650"/>
          </a:xfrm>
          <a:prstGeom prst="rect">
            <a:avLst/>
          </a:prstGeom>
          <a:noFill/>
          <a:ln/>
        </p:spPr>
        <p:txBody>
          <a:bodyPr wrap="none" lIns="0" tIns="0" rIns="0" bIns="0" rtlCol="0" anchor="t"/>
          <a:lstStyle/>
          <a:p>
            <a:pPr marL="0" indent="0" algn="l">
              <a:lnSpc>
                <a:spcPct val="125000"/>
              </a:lnSpc>
              <a:buNone/>
            </a:pPr>
            <a:r>
              <a:rPr lang="en-US" sz="1300" dirty="0">
                <a:solidFill>
                  <a:srgbClr val="1B1F2A"/>
                </a:solidFill>
                <a:latin typeface="Carlito" pitchFamily="34" charset="0"/>
                <a:ea typeface="Carlito" pitchFamily="34" charset="-122"/>
                <a:cs typeface="Carlito" pitchFamily="34" charset="-120"/>
              </a:rPr>
              <a:t>Completado</a:t>
            </a:r>
            <a:endParaRPr lang="en-US" sz="1300" dirty="0"/>
          </a:p>
        </p:txBody>
      </p:sp>
      <p:sp>
        <p:nvSpPr>
          <p:cNvPr id="44" name="Shape 42"/>
          <p:cNvSpPr/>
          <p:nvPr/>
        </p:nvSpPr>
        <p:spPr>
          <a:xfrm>
            <a:off x="2285943" y="5577780"/>
            <a:ext cx="182856" cy="182860"/>
          </a:xfrm>
          <a:prstGeom prst="ellipse">
            <a:avLst/>
          </a:prstGeom>
          <a:solidFill>
            <a:srgbClr val="C27C0E"/>
          </a:solidFill>
          <a:ln w="12700">
            <a:solidFill>
              <a:srgbClr val="C27C0E"/>
            </a:solidFill>
            <a:prstDash val="solid"/>
          </a:ln>
        </p:spPr>
        <p:txBody>
          <a:bodyPr/>
          <a:lstStyle/>
          <a:p>
            <a:endParaRPr lang="es-CL"/>
          </a:p>
        </p:txBody>
      </p:sp>
      <p:sp>
        <p:nvSpPr>
          <p:cNvPr id="45" name="Text 43"/>
          <p:cNvSpPr/>
          <p:nvPr/>
        </p:nvSpPr>
        <p:spPr>
          <a:xfrm>
            <a:off x="2560177" y="5556250"/>
            <a:ext cx="1981150" cy="247650"/>
          </a:xfrm>
          <a:prstGeom prst="rect">
            <a:avLst/>
          </a:prstGeom>
          <a:noFill/>
          <a:ln/>
        </p:spPr>
        <p:txBody>
          <a:bodyPr wrap="none" lIns="0" tIns="0" rIns="0" bIns="0" rtlCol="0" anchor="t"/>
          <a:lstStyle/>
          <a:p>
            <a:pPr marL="0" indent="0" algn="l">
              <a:lnSpc>
                <a:spcPct val="125000"/>
              </a:lnSpc>
              <a:buNone/>
            </a:pPr>
            <a:r>
              <a:rPr lang="en-US" sz="1300" dirty="0">
                <a:solidFill>
                  <a:srgbClr val="1B1F2A"/>
                </a:solidFill>
                <a:latin typeface="Carlito" pitchFamily="34" charset="0"/>
                <a:ea typeface="Carlito" pitchFamily="34" charset="-122"/>
                <a:cs typeface="Carlito" pitchFamily="34" charset="-120"/>
              </a:rPr>
              <a:t>En cierre</a:t>
            </a:r>
            <a:endParaRPr lang="en-US" sz="1300" dirty="0"/>
          </a:p>
        </p:txBody>
      </p:sp>
      <p:sp>
        <p:nvSpPr>
          <p:cNvPr id="46" name="Shape 44"/>
          <p:cNvSpPr/>
          <p:nvPr/>
        </p:nvSpPr>
        <p:spPr>
          <a:xfrm>
            <a:off x="4023220" y="5577780"/>
            <a:ext cx="182856" cy="182860"/>
          </a:xfrm>
          <a:prstGeom prst="ellipse">
            <a:avLst/>
          </a:prstGeom>
          <a:solidFill>
            <a:srgbClr val="5B6577"/>
          </a:solidFill>
          <a:ln w="12700">
            <a:solidFill>
              <a:srgbClr val="5B6577"/>
            </a:solidFill>
            <a:prstDash val="solid"/>
          </a:ln>
        </p:spPr>
        <p:txBody>
          <a:bodyPr/>
          <a:lstStyle/>
          <a:p>
            <a:endParaRPr lang="es-CL"/>
          </a:p>
        </p:txBody>
      </p:sp>
      <p:sp>
        <p:nvSpPr>
          <p:cNvPr id="47" name="Text 45"/>
          <p:cNvSpPr/>
          <p:nvPr/>
        </p:nvSpPr>
        <p:spPr>
          <a:xfrm>
            <a:off x="4297553" y="5556250"/>
            <a:ext cx="1981150" cy="247650"/>
          </a:xfrm>
          <a:prstGeom prst="rect">
            <a:avLst/>
          </a:prstGeom>
          <a:noFill/>
          <a:ln/>
        </p:spPr>
        <p:txBody>
          <a:bodyPr wrap="none" lIns="0" tIns="0" rIns="0" bIns="0" rtlCol="0" anchor="t"/>
          <a:lstStyle/>
          <a:p>
            <a:pPr marL="0" indent="0" algn="l">
              <a:lnSpc>
                <a:spcPct val="125000"/>
              </a:lnSpc>
              <a:buNone/>
            </a:pPr>
            <a:r>
              <a:rPr lang="en-US" sz="1300" dirty="0">
                <a:solidFill>
                  <a:srgbClr val="1B1F2A"/>
                </a:solidFill>
                <a:latin typeface="Carlito" pitchFamily="34" charset="0"/>
                <a:ea typeface="Carlito" pitchFamily="34" charset="-122"/>
                <a:cs typeface="Carlito" pitchFamily="34" charset="-120"/>
              </a:rPr>
              <a:t>Pendiente</a:t>
            </a:r>
            <a:endParaRPr lang="en-US" sz="1300" dirty="0"/>
          </a:p>
        </p:txBody>
      </p:sp>
      <p:sp>
        <p:nvSpPr>
          <p:cNvPr id="48" name="Text 46"/>
          <p:cNvSpPr/>
          <p:nvPr/>
        </p:nvSpPr>
        <p:spPr>
          <a:xfrm>
            <a:off x="5059534" y="5556250"/>
            <a:ext cx="6580420" cy="247650"/>
          </a:xfrm>
          <a:prstGeom prst="rect">
            <a:avLst/>
          </a:prstGeom>
          <a:noFill/>
          <a:ln/>
        </p:spPr>
        <p:txBody>
          <a:bodyPr wrap="none" lIns="0" tIns="0" rIns="0" bIns="0" rtlCol="0" anchor="t"/>
          <a:lstStyle/>
          <a:p>
            <a:pPr marL="0" indent="0" algn="r">
              <a:lnSpc>
                <a:spcPct val="125000"/>
              </a:lnSpc>
              <a:buNone/>
            </a:pPr>
            <a:r>
              <a:rPr lang="en-US" sz="1300" dirty="0">
                <a:solidFill>
                  <a:srgbClr val="5B6577"/>
                </a:solidFill>
                <a:latin typeface="Carlito" pitchFamily="34" charset="0"/>
                <a:ea typeface="Carlito" pitchFamily="34" charset="-122"/>
                <a:cs typeface="Carlito" pitchFamily="34" charset="-120"/>
              </a:rPr>
              <a:t>Semana 1 = 11/09/2026  ·  Desarrollo hasta S11  ·  Entrega en S13</a:t>
            </a:r>
            <a:endParaRPr lang="en-US" sz="1300" dirty="0"/>
          </a:p>
        </p:txBody>
      </p:sp>
      <p:sp>
        <p:nvSpPr>
          <p:cNvPr id="49" name="Text 47"/>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50" name="Text 48"/>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Resumen de avance al 15 de octubre</a:t>
            </a:r>
            <a:endParaRPr lang="en-US" sz="3400" dirty="0"/>
          </a:p>
        </p:txBody>
      </p:sp>
      <p:sp>
        <p:nvSpPr>
          <p:cNvPr id="3" name="Text 1"/>
          <p:cNvSpPr/>
          <p:nvPr/>
        </p:nvSpPr>
        <p:spPr>
          <a:xfrm>
            <a:off x="300923" y="1403350"/>
            <a:ext cx="5432884" cy="266700"/>
          </a:xfrm>
          <a:prstGeom prst="rect">
            <a:avLst/>
          </a:prstGeom>
          <a:noFill/>
          <a:ln/>
        </p:spPr>
        <p:txBody>
          <a:bodyPr wrap="none" lIns="0" tIns="0" rIns="0" bIns="0" rtlCol="0" anchor="t"/>
          <a:lstStyle/>
          <a:p>
            <a:pPr marL="0" indent="0" algn="ctr">
              <a:lnSpc>
                <a:spcPct val="125000"/>
              </a:lnSpc>
              <a:buNone/>
            </a:pPr>
            <a:r>
              <a:rPr lang="en-US" sz="1400" b="1" dirty="0">
                <a:solidFill>
                  <a:srgbClr val="1B1F2A"/>
                </a:solidFill>
                <a:latin typeface="Carlito Bold" pitchFamily="34" charset="0"/>
                <a:ea typeface="Carlito Bold" pitchFamily="34" charset="-122"/>
                <a:cs typeface="Carlito Bold" pitchFamily="34" charset="-120"/>
              </a:rPr>
              <a:t>Estado de las 13 actividades del plan al corte del 05/10</a:t>
            </a:r>
            <a:endParaRPr lang="en-US" sz="1400" dirty="0"/>
          </a:p>
        </p:txBody>
      </p:sp>
      <p:sp>
        <p:nvSpPr>
          <p:cNvPr id="5" name="Shape 2"/>
          <p:cNvSpPr/>
          <p:nvPr/>
        </p:nvSpPr>
        <p:spPr>
          <a:xfrm>
            <a:off x="5851974" y="1462980"/>
            <a:ext cx="5787979" cy="1371600"/>
          </a:xfrm>
          <a:prstGeom prst="roundRect">
            <a:avLst>
              <a:gd name="adj" fmla="val 9600"/>
            </a:avLst>
          </a:prstGeom>
          <a:solidFill>
            <a:srgbClr val="EEF2F7"/>
          </a:solidFill>
          <a:ln w="12700">
            <a:solidFill>
              <a:srgbClr val="EEF2F7"/>
            </a:solidFill>
            <a:prstDash val="solid"/>
          </a:ln>
        </p:spPr>
        <p:txBody>
          <a:bodyPr/>
          <a:lstStyle/>
          <a:p>
            <a:endParaRPr lang="es-CL"/>
          </a:p>
        </p:txBody>
      </p:sp>
      <p:sp>
        <p:nvSpPr>
          <p:cNvPr id="6" name="Text 3"/>
          <p:cNvSpPr/>
          <p:nvPr/>
        </p:nvSpPr>
        <p:spPr>
          <a:xfrm>
            <a:off x="6126307" y="1848404"/>
            <a:ext cx="2102988" cy="579041"/>
          </a:xfrm>
          <a:prstGeom prst="rect">
            <a:avLst/>
          </a:prstGeom>
          <a:noFill/>
          <a:ln/>
        </p:spPr>
        <p:txBody>
          <a:bodyPr wrap="none" lIns="0" tIns="0" rIns="0" bIns="0" rtlCol="0" anchor="t"/>
          <a:lstStyle/>
          <a:p>
            <a:pPr marL="0" indent="0" algn="l">
              <a:lnSpc>
                <a:spcPct val="100000"/>
              </a:lnSpc>
              <a:buNone/>
            </a:pPr>
            <a:r>
              <a:rPr lang="en-US" sz="3800" b="1" dirty="0">
                <a:solidFill>
                  <a:srgbClr val="0B2A55"/>
                </a:solidFill>
                <a:latin typeface="Carlito Bold" pitchFamily="34" charset="0"/>
                <a:ea typeface="Carlito Bold" pitchFamily="34" charset="-122"/>
                <a:cs typeface="Carlito Bold" pitchFamily="34" charset="-120"/>
              </a:rPr>
              <a:t>7 de 13</a:t>
            </a:r>
            <a:endParaRPr lang="en-US" sz="3800" dirty="0"/>
          </a:p>
        </p:txBody>
      </p:sp>
      <p:sp>
        <p:nvSpPr>
          <p:cNvPr id="7" name="Text 4"/>
          <p:cNvSpPr/>
          <p:nvPr/>
        </p:nvSpPr>
        <p:spPr>
          <a:xfrm>
            <a:off x="8275034" y="1814810"/>
            <a:ext cx="3051694"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actividades completadas: alcance, planificación, ERS, arquitectura y plan de pruebas</a:t>
            </a:r>
            <a:endParaRPr lang="en-US" sz="1400" dirty="0"/>
          </a:p>
        </p:txBody>
      </p:sp>
      <p:sp>
        <p:nvSpPr>
          <p:cNvPr id="8" name="Shape 5"/>
          <p:cNvSpPr/>
          <p:nvPr/>
        </p:nvSpPr>
        <p:spPr>
          <a:xfrm>
            <a:off x="5851974" y="3017441"/>
            <a:ext cx="5787979" cy="1371600"/>
          </a:xfrm>
          <a:prstGeom prst="roundRect">
            <a:avLst>
              <a:gd name="adj" fmla="val 9600"/>
            </a:avLst>
          </a:prstGeom>
          <a:solidFill>
            <a:srgbClr val="EEF2F7"/>
          </a:solidFill>
          <a:ln w="12700">
            <a:solidFill>
              <a:srgbClr val="EEF2F7"/>
            </a:solidFill>
            <a:prstDash val="solid"/>
          </a:ln>
        </p:spPr>
        <p:txBody>
          <a:bodyPr/>
          <a:lstStyle/>
          <a:p>
            <a:endParaRPr lang="es-CL"/>
          </a:p>
        </p:txBody>
      </p:sp>
      <p:sp>
        <p:nvSpPr>
          <p:cNvPr id="9" name="Text 6"/>
          <p:cNvSpPr/>
          <p:nvPr/>
        </p:nvSpPr>
        <p:spPr>
          <a:xfrm>
            <a:off x="6126307" y="3402865"/>
            <a:ext cx="2102988" cy="579041"/>
          </a:xfrm>
          <a:prstGeom prst="rect">
            <a:avLst/>
          </a:prstGeom>
          <a:noFill/>
          <a:ln/>
        </p:spPr>
        <p:txBody>
          <a:bodyPr wrap="none" lIns="0" tIns="0" rIns="0" bIns="0" rtlCol="0" anchor="t"/>
          <a:lstStyle/>
          <a:p>
            <a:pPr marL="0" indent="0" algn="l">
              <a:lnSpc>
                <a:spcPct val="100000"/>
              </a:lnSpc>
              <a:buNone/>
            </a:pPr>
            <a:r>
              <a:rPr lang="en-US" sz="3800" b="1" dirty="0">
                <a:solidFill>
                  <a:srgbClr val="0B2A55"/>
                </a:solidFill>
                <a:latin typeface="Carlito Bold" pitchFamily="34" charset="0"/>
                <a:ea typeface="Carlito Bold" pitchFamily="34" charset="-122"/>
                <a:cs typeface="Carlito Bold" pitchFamily="34" charset="-120"/>
              </a:rPr>
              <a:t>136 h</a:t>
            </a:r>
            <a:endParaRPr lang="en-US" sz="3800" dirty="0"/>
          </a:p>
        </p:txBody>
      </p:sp>
      <p:sp>
        <p:nvSpPr>
          <p:cNvPr id="10" name="Text 7"/>
          <p:cNvSpPr/>
          <p:nvPr/>
        </p:nvSpPr>
        <p:spPr>
          <a:xfrm>
            <a:off x="8275034" y="3475930"/>
            <a:ext cx="3051694"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registradas al corte del 05/10 de 520 h planificadas para el equipo</a:t>
            </a:r>
            <a:endParaRPr lang="en-US" sz="1400" dirty="0"/>
          </a:p>
        </p:txBody>
      </p:sp>
      <p:sp>
        <p:nvSpPr>
          <p:cNvPr id="11" name="Shape 8"/>
          <p:cNvSpPr/>
          <p:nvPr/>
        </p:nvSpPr>
        <p:spPr>
          <a:xfrm>
            <a:off x="5851974" y="4572000"/>
            <a:ext cx="5787979" cy="1371600"/>
          </a:xfrm>
          <a:prstGeom prst="roundRect">
            <a:avLst>
              <a:gd name="adj" fmla="val 9600"/>
            </a:avLst>
          </a:prstGeom>
          <a:solidFill>
            <a:srgbClr val="EEF2F7"/>
          </a:solidFill>
          <a:ln w="12700">
            <a:solidFill>
              <a:srgbClr val="EEF2F7"/>
            </a:solidFill>
            <a:prstDash val="solid"/>
          </a:ln>
        </p:spPr>
        <p:txBody>
          <a:bodyPr/>
          <a:lstStyle/>
          <a:p>
            <a:endParaRPr lang="es-CL"/>
          </a:p>
        </p:txBody>
      </p:sp>
      <p:sp>
        <p:nvSpPr>
          <p:cNvPr id="12" name="Text 9"/>
          <p:cNvSpPr/>
          <p:nvPr/>
        </p:nvSpPr>
        <p:spPr>
          <a:xfrm>
            <a:off x="6126307" y="4957325"/>
            <a:ext cx="2102988" cy="579041"/>
          </a:xfrm>
          <a:prstGeom prst="rect">
            <a:avLst/>
          </a:prstGeom>
          <a:noFill/>
          <a:ln/>
        </p:spPr>
        <p:txBody>
          <a:bodyPr wrap="none" lIns="0" tIns="0" rIns="0" bIns="0" rtlCol="0" anchor="t"/>
          <a:lstStyle/>
          <a:p>
            <a:pPr marL="0" indent="0" algn="l">
              <a:lnSpc>
                <a:spcPct val="100000"/>
              </a:lnSpc>
              <a:buNone/>
            </a:pPr>
            <a:r>
              <a:rPr lang="en-US" sz="3800" b="1" dirty="0">
                <a:solidFill>
                  <a:srgbClr val="0B2A55"/>
                </a:solidFill>
                <a:latin typeface="Carlito Bold" pitchFamily="34" charset="0"/>
                <a:ea typeface="Carlito Bold" pitchFamily="34" charset="-122"/>
                <a:cs typeface="Carlito Bold" pitchFamily="34" charset="-120"/>
              </a:rPr>
              <a:t>0 %</a:t>
            </a:r>
            <a:endParaRPr lang="en-US" sz="3800" dirty="0"/>
          </a:p>
        </p:txBody>
      </p:sp>
      <p:sp>
        <p:nvSpPr>
          <p:cNvPr id="13" name="Text 10"/>
          <p:cNvSpPr/>
          <p:nvPr/>
        </p:nvSpPr>
        <p:spPr>
          <a:xfrm>
            <a:off x="8275034" y="5030391"/>
            <a:ext cx="3051694"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de desviación de costo al corte: semáforo verde y sin hitos críticos retrasados</a:t>
            </a:r>
            <a:endParaRPr lang="en-US" sz="1400" dirty="0"/>
          </a:p>
        </p:txBody>
      </p:sp>
      <p:sp>
        <p:nvSpPr>
          <p:cNvPr id="14" name="Text 11"/>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15" name="Text 12"/>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6</a:t>
            </a:r>
            <a:endParaRPr lang="en-US" sz="1000" dirty="0"/>
          </a:p>
        </p:txBody>
      </p:sp>
      <p:graphicFrame>
        <p:nvGraphicFramePr>
          <p:cNvPr id="17" name="Chart 0">
            <a:extLst>
              <a:ext uri="{FF2B5EF4-FFF2-40B4-BE49-F238E27FC236}">
                <a16:creationId xmlns:a16="http://schemas.microsoft.com/office/drawing/2014/main" id="{CAE29A60-E428-8C97-E7DD-D970D6BE28ED}"/>
              </a:ext>
            </a:extLst>
          </p:cNvPr>
          <p:cNvGraphicFramePr/>
          <p:nvPr>
            <p:extLst>
              <p:ext uri="{D42A27DB-BD31-4B8C-83A1-F6EECF244321}">
                <p14:modId xmlns:p14="http://schemas.microsoft.com/office/powerpoint/2010/main" val="1629944090"/>
              </p:ext>
            </p:extLst>
          </p:nvPr>
        </p:nvGraphicFramePr>
        <p:xfrm>
          <a:off x="548640" y="1371600"/>
          <a:ext cx="4937760" cy="47548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Plan de trabajo: estado por actividad</a:t>
            </a:r>
            <a:endParaRPr lang="en-US" sz="3400" dirty="0"/>
          </a:p>
        </p:txBody>
      </p:sp>
      <p:sp>
        <p:nvSpPr>
          <p:cNvPr id="3" name="Shape 1"/>
          <p:cNvSpPr/>
          <p:nvPr/>
        </p:nvSpPr>
        <p:spPr>
          <a:xfrm>
            <a:off x="548567" y="1417241"/>
            <a:ext cx="3514240" cy="457200"/>
          </a:xfrm>
          <a:prstGeom prst="roundRect">
            <a:avLst>
              <a:gd name="adj" fmla="val 28799"/>
            </a:avLst>
          </a:prstGeom>
          <a:solidFill>
            <a:srgbClr val="2E7D5B"/>
          </a:solidFill>
          <a:ln w="12700">
            <a:solidFill>
              <a:srgbClr val="2E7D5B"/>
            </a:solidFill>
            <a:prstDash val="solid"/>
          </a:ln>
        </p:spPr>
        <p:txBody>
          <a:bodyPr/>
          <a:lstStyle/>
          <a:p>
            <a:endParaRPr lang="es-CL" dirty="0"/>
          </a:p>
        </p:txBody>
      </p:sp>
      <p:sp>
        <p:nvSpPr>
          <p:cNvPr id="4" name="Text 2"/>
          <p:cNvSpPr/>
          <p:nvPr/>
        </p:nvSpPr>
        <p:spPr>
          <a:xfrm>
            <a:off x="777161" y="1510010"/>
            <a:ext cx="3666636" cy="304800"/>
          </a:xfrm>
          <a:prstGeom prst="rect">
            <a:avLst/>
          </a:prstGeom>
          <a:noFill/>
          <a:ln/>
        </p:spPr>
        <p:txBody>
          <a:bodyPr wrap="none" lIns="0" tIns="0" rIns="0" bIns="0" rtlCol="0" anchor="t"/>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Completado · 7</a:t>
            </a:r>
            <a:endParaRPr lang="en-US" sz="1600" dirty="0"/>
          </a:p>
        </p:txBody>
      </p:sp>
      <p:sp>
        <p:nvSpPr>
          <p:cNvPr id="5" name="Shape 3"/>
          <p:cNvSpPr/>
          <p:nvPr/>
        </p:nvSpPr>
        <p:spPr>
          <a:xfrm>
            <a:off x="548567" y="2011660"/>
            <a:ext cx="3514240" cy="694928"/>
          </a:xfrm>
          <a:prstGeom prst="roundRect">
            <a:avLst>
              <a:gd name="adj" fmla="val 18947"/>
            </a:avLst>
          </a:prstGeom>
          <a:solidFill>
            <a:schemeClr val="accent6">
              <a:lumMod val="20000"/>
              <a:lumOff val="80000"/>
            </a:schemeClr>
          </a:solidFill>
          <a:ln w="12700">
            <a:solidFill>
              <a:srgbClr val="EEF2F7"/>
            </a:solidFill>
            <a:prstDash val="solid"/>
          </a:ln>
        </p:spPr>
        <p:txBody>
          <a:bodyPr/>
          <a:lstStyle/>
          <a:p>
            <a:endParaRPr lang="es-CL"/>
          </a:p>
        </p:txBody>
      </p:sp>
      <p:sp>
        <p:nvSpPr>
          <p:cNvPr id="6" name="Text 4"/>
          <p:cNvSpPr/>
          <p:nvPr/>
        </p:nvSpPr>
        <p:spPr>
          <a:xfrm>
            <a:off x="777161" y="2131814"/>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Inicio y alcance</a:t>
            </a:r>
            <a:endParaRPr lang="en-US" sz="1400" dirty="0"/>
          </a:p>
        </p:txBody>
      </p:sp>
      <p:sp>
        <p:nvSpPr>
          <p:cNvPr id="7" name="Text 5"/>
          <p:cNvSpPr/>
          <p:nvPr/>
        </p:nvSpPr>
        <p:spPr>
          <a:xfrm>
            <a:off x="777161" y="2398514"/>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S1 · VR + IF</a:t>
            </a:r>
            <a:endParaRPr lang="en-US" sz="1200" dirty="0"/>
          </a:p>
        </p:txBody>
      </p:sp>
      <p:sp>
        <p:nvSpPr>
          <p:cNvPr id="8" name="Shape 6"/>
          <p:cNvSpPr/>
          <p:nvPr/>
        </p:nvSpPr>
        <p:spPr>
          <a:xfrm>
            <a:off x="548567" y="2816324"/>
            <a:ext cx="3514240" cy="694928"/>
          </a:xfrm>
          <a:prstGeom prst="roundRect">
            <a:avLst>
              <a:gd name="adj" fmla="val 18947"/>
            </a:avLst>
          </a:prstGeom>
          <a:solidFill>
            <a:schemeClr val="accent6">
              <a:lumMod val="20000"/>
              <a:lumOff val="80000"/>
            </a:schemeClr>
          </a:solidFill>
          <a:ln w="12700">
            <a:solidFill>
              <a:srgbClr val="EEF2F7"/>
            </a:solidFill>
            <a:prstDash val="solid"/>
          </a:ln>
        </p:spPr>
        <p:txBody>
          <a:bodyPr/>
          <a:lstStyle/>
          <a:p>
            <a:endParaRPr lang="es-CL"/>
          </a:p>
        </p:txBody>
      </p:sp>
      <p:sp>
        <p:nvSpPr>
          <p:cNvPr id="9" name="Text 7"/>
          <p:cNvSpPr/>
          <p:nvPr/>
        </p:nvSpPr>
        <p:spPr>
          <a:xfrm>
            <a:off x="777161" y="2936478"/>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Planificación formal</a:t>
            </a:r>
            <a:endParaRPr lang="en-US" sz="1400" dirty="0"/>
          </a:p>
        </p:txBody>
      </p:sp>
      <p:sp>
        <p:nvSpPr>
          <p:cNvPr id="10" name="Text 8"/>
          <p:cNvSpPr/>
          <p:nvPr/>
        </p:nvSpPr>
        <p:spPr>
          <a:xfrm>
            <a:off x="777161" y="3203178"/>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S1–2 · VR</a:t>
            </a:r>
            <a:endParaRPr lang="en-US" sz="1200" dirty="0"/>
          </a:p>
        </p:txBody>
      </p:sp>
      <p:sp>
        <p:nvSpPr>
          <p:cNvPr id="11" name="Shape 9"/>
          <p:cNvSpPr/>
          <p:nvPr/>
        </p:nvSpPr>
        <p:spPr>
          <a:xfrm>
            <a:off x="548567" y="3620988"/>
            <a:ext cx="3514240" cy="694928"/>
          </a:xfrm>
          <a:prstGeom prst="roundRect">
            <a:avLst>
              <a:gd name="adj" fmla="val 18947"/>
            </a:avLst>
          </a:prstGeom>
          <a:solidFill>
            <a:schemeClr val="accent6">
              <a:lumMod val="20000"/>
              <a:lumOff val="80000"/>
            </a:schemeClr>
          </a:solidFill>
          <a:ln w="12700">
            <a:solidFill>
              <a:srgbClr val="EEF2F7"/>
            </a:solidFill>
            <a:prstDash val="solid"/>
          </a:ln>
        </p:spPr>
        <p:txBody>
          <a:bodyPr/>
          <a:lstStyle/>
          <a:p>
            <a:endParaRPr lang="es-CL"/>
          </a:p>
        </p:txBody>
      </p:sp>
      <p:sp>
        <p:nvSpPr>
          <p:cNvPr id="12" name="Text 10"/>
          <p:cNvSpPr/>
          <p:nvPr/>
        </p:nvSpPr>
        <p:spPr>
          <a:xfrm>
            <a:off x="777161" y="3741142"/>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ERS y criterios de aceptación</a:t>
            </a:r>
            <a:endParaRPr lang="en-US" sz="1400" dirty="0"/>
          </a:p>
        </p:txBody>
      </p:sp>
      <p:sp>
        <p:nvSpPr>
          <p:cNvPr id="13" name="Text 11"/>
          <p:cNvSpPr/>
          <p:nvPr/>
        </p:nvSpPr>
        <p:spPr>
          <a:xfrm>
            <a:off x="777161" y="4007842"/>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S2–3 · VR + IF</a:t>
            </a:r>
            <a:endParaRPr lang="en-US" sz="1200" dirty="0"/>
          </a:p>
        </p:txBody>
      </p:sp>
      <p:sp>
        <p:nvSpPr>
          <p:cNvPr id="14" name="Shape 12"/>
          <p:cNvSpPr/>
          <p:nvPr/>
        </p:nvSpPr>
        <p:spPr>
          <a:xfrm>
            <a:off x="548567" y="4425652"/>
            <a:ext cx="3514240" cy="694928"/>
          </a:xfrm>
          <a:prstGeom prst="roundRect">
            <a:avLst>
              <a:gd name="adj" fmla="val 18947"/>
            </a:avLst>
          </a:prstGeom>
          <a:solidFill>
            <a:schemeClr val="accent6">
              <a:lumMod val="20000"/>
              <a:lumOff val="80000"/>
            </a:schemeClr>
          </a:solidFill>
          <a:ln w="12700">
            <a:solidFill>
              <a:srgbClr val="EEF2F7"/>
            </a:solidFill>
            <a:prstDash val="solid"/>
          </a:ln>
        </p:spPr>
        <p:txBody>
          <a:bodyPr/>
          <a:lstStyle/>
          <a:p>
            <a:endParaRPr lang="es-CL"/>
          </a:p>
        </p:txBody>
      </p:sp>
      <p:sp>
        <p:nvSpPr>
          <p:cNvPr id="15" name="Text 13"/>
          <p:cNvSpPr/>
          <p:nvPr/>
        </p:nvSpPr>
        <p:spPr>
          <a:xfrm>
            <a:off x="777161" y="4545806"/>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Arquitectura y despliegue</a:t>
            </a:r>
            <a:endParaRPr lang="en-US" sz="1400" dirty="0"/>
          </a:p>
        </p:txBody>
      </p:sp>
      <p:sp>
        <p:nvSpPr>
          <p:cNvPr id="16" name="Text 14"/>
          <p:cNvSpPr/>
          <p:nvPr/>
        </p:nvSpPr>
        <p:spPr>
          <a:xfrm>
            <a:off x="777161" y="4812506"/>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S2–4 · VR</a:t>
            </a:r>
            <a:endParaRPr lang="en-US" sz="1200" dirty="0"/>
          </a:p>
        </p:txBody>
      </p:sp>
      <p:sp>
        <p:nvSpPr>
          <p:cNvPr id="17" name="Shape 15"/>
          <p:cNvSpPr/>
          <p:nvPr/>
        </p:nvSpPr>
        <p:spPr>
          <a:xfrm>
            <a:off x="548567" y="5230316"/>
            <a:ext cx="3514240" cy="694928"/>
          </a:xfrm>
          <a:prstGeom prst="roundRect">
            <a:avLst>
              <a:gd name="adj" fmla="val 18947"/>
            </a:avLst>
          </a:prstGeom>
          <a:solidFill>
            <a:schemeClr val="accent6">
              <a:lumMod val="20000"/>
              <a:lumOff val="80000"/>
            </a:schemeClr>
          </a:solidFill>
          <a:ln w="12700">
            <a:solidFill>
              <a:srgbClr val="EEF2F7"/>
            </a:solidFill>
            <a:prstDash val="solid"/>
          </a:ln>
        </p:spPr>
        <p:txBody>
          <a:bodyPr/>
          <a:lstStyle/>
          <a:p>
            <a:endParaRPr lang="es-CL"/>
          </a:p>
        </p:txBody>
      </p:sp>
      <p:sp>
        <p:nvSpPr>
          <p:cNvPr id="18" name="Text 16"/>
          <p:cNvSpPr/>
          <p:nvPr/>
        </p:nvSpPr>
        <p:spPr>
          <a:xfrm>
            <a:off x="777161" y="5350470"/>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Plan de pruebas y calidad</a:t>
            </a:r>
            <a:endParaRPr lang="en-US" sz="1400" dirty="0"/>
          </a:p>
        </p:txBody>
      </p:sp>
      <p:sp>
        <p:nvSpPr>
          <p:cNvPr id="19" name="Text 17"/>
          <p:cNvSpPr/>
          <p:nvPr/>
        </p:nvSpPr>
        <p:spPr>
          <a:xfrm>
            <a:off x="777161" y="5617170"/>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S4 · VR + IF</a:t>
            </a:r>
            <a:endParaRPr lang="en-US" sz="1200" dirty="0"/>
          </a:p>
        </p:txBody>
      </p:sp>
      <p:sp>
        <p:nvSpPr>
          <p:cNvPr id="20" name="Shape 18"/>
          <p:cNvSpPr/>
          <p:nvPr/>
        </p:nvSpPr>
        <p:spPr>
          <a:xfrm>
            <a:off x="4337140" y="3024089"/>
            <a:ext cx="3514240" cy="457200"/>
          </a:xfrm>
          <a:prstGeom prst="roundRect">
            <a:avLst>
              <a:gd name="adj" fmla="val 28799"/>
            </a:avLst>
          </a:prstGeom>
          <a:solidFill>
            <a:srgbClr val="C27C0E"/>
          </a:solidFill>
          <a:ln w="12700">
            <a:solidFill>
              <a:srgbClr val="C27C0E"/>
            </a:solidFill>
            <a:prstDash val="solid"/>
          </a:ln>
        </p:spPr>
        <p:txBody>
          <a:bodyPr/>
          <a:lstStyle/>
          <a:p>
            <a:endParaRPr lang="es-CL" dirty="0"/>
          </a:p>
        </p:txBody>
      </p:sp>
      <p:sp>
        <p:nvSpPr>
          <p:cNvPr id="21" name="Text 19"/>
          <p:cNvSpPr/>
          <p:nvPr/>
        </p:nvSpPr>
        <p:spPr>
          <a:xfrm>
            <a:off x="4565734" y="3116858"/>
            <a:ext cx="3666636" cy="304800"/>
          </a:xfrm>
          <a:prstGeom prst="rect">
            <a:avLst/>
          </a:prstGeom>
          <a:noFill/>
          <a:ln/>
        </p:spPr>
        <p:txBody>
          <a:bodyPr wrap="none" lIns="0" tIns="0" rIns="0" bIns="0" rtlCol="0" anchor="t"/>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En curso · 3</a:t>
            </a:r>
            <a:endParaRPr lang="en-US" sz="1600" dirty="0"/>
          </a:p>
        </p:txBody>
      </p:sp>
      <p:sp>
        <p:nvSpPr>
          <p:cNvPr id="22" name="Shape 20"/>
          <p:cNvSpPr/>
          <p:nvPr/>
        </p:nvSpPr>
        <p:spPr>
          <a:xfrm>
            <a:off x="4337140" y="1389856"/>
            <a:ext cx="3514240" cy="694928"/>
          </a:xfrm>
          <a:prstGeom prst="roundRect">
            <a:avLst>
              <a:gd name="adj" fmla="val 18947"/>
            </a:avLst>
          </a:prstGeom>
          <a:solidFill>
            <a:schemeClr val="accent6">
              <a:lumMod val="20000"/>
              <a:lumOff val="80000"/>
            </a:schemeClr>
          </a:solidFill>
          <a:ln w="12700">
            <a:solidFill>
              <a:srgbClr val="EEF2F7"/>
            </a:solidFill>
            <a:prstDash val="solid"/>
          </a:ln>
        </p:spPr>
        <p:txBody>
          <a:bodyPr/>
          <a:lstStyle/>
          <a:p>
            <a:endParaRPr lang="es-CL"/>
          </a:p>
        </p:txBody>
      </p:sp>
      <p:sp>
        <p:nvSpPr>
          <p:cNvPr id="23" name="Text 21"/>
          <p:cNvSpPr/>
          <p:nvPr/>
        </p:nvSpPr>
        <p:spPr>
          <a:xfrm>
            <a:off x="4565734" y="1510010"/>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Modelo de datos y migración</a:t>
            </a:r>
            <a:endParaRPr lang="en-US" sz="1400" dirty="0"/>
          </a:p>
        </p:txBody>
      </p:sp>
      <p:sp>
        <p:nvSpPr>
          <p:cNvPr id="24" name="Text 22"/>
          <p:cNvSpPr/>
          <p:nvPr/>
        </p:nvSpPr>
        <p:spPr>
          <a:xfrm>
            <a:off x="4565734" y="1776710"/>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S2–6 · VR</a:t>
            </a:r>
            <a:endParaRPr lang="en-US" sz="1200" dirty="0"/>
          </a:p>
        </p:txBody>
      </p:sp>
      <p:sp>
        <p:nvSpPr>
          <p:cNvPr id="25" name="Shape 23"/>
          <p:cNvSpPr/>
          <p:nvPr/>
        </p:nvSpPr>
        <p:spPr>
          <a:xfrm>
            <a:off x="4337140" y="2194520"/>
            <a:ext cx="3514240" cy="694928"/>
          </a:xfrm>
          <a:prstGeom prst="roundRect">
            <a:avLst>
              <a:gd name="adj" fmla="val 18947"/>
            </a:avLst>
          </a:prstGeom>
          <a:solidFill>
            <a:schemeClr val="accent6">
              <a:lumMod val="20000"/>
              <a:lumOff val="80000"/>
            </a:schemeClr>
          </a:solidFill>
          <a:ln w="12700">
            <a:solidFill>
              <a:srgbClr val="EEF2F7"/>
            </a:solidFill>
            <a:prstDash val="solid"/>
          </a:ln>
        </p:spPr>
        <p:txBody>
          <a:bodyPr/>
          <a:lstStyle/>
          <a:p>
            <a:endParaRPr lang="es-CL"/>
          </a:p>
        </p:txBody>
      </p:sp>
      <p:sp>
        <p:nvSpPr>
          <p:cNvPr id="26" name="Text 24"/>
          <p:cNvSpPr/>
          <p:nvPr/>
        </p:nvSpPr>
        <p:spPr>
          <a:xfrm>
            <a:off x="4565734" y="2314674"/>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UX/UI y mockups</a:t>
            </a:r>
            <a:endParaRPr lang="en-US" sz="1400" dirty="0"/>
          </a:p>
        </p:txBody>
      </p:sp>
      <p:sp>
        <p:nvSpPr>
          <p:cNvPr id="27" name="Text 25"/>
          <p:cNvSpPr/>
          <p:nvPr/>
        </p:nvSpPr>
        <p:spPr>
          <a:xfrm>
            <a:off x="4565734" y="2581374"/>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S3–4 · IF</a:t>
            </a:r>
            <a:endParaRPr lang="en-US" sz="1200" dirty="0"/>
          </a:p>
        </p:txBody>
      </p:sp>
      <p:sp>
        <p:nvSpPr>
          <p:cNvPr id="28" name="Shape 26"/>
          <p:cNvSpPr/>
          <p:nvPr/>
        </p:nvSpPr>
        <p:spPr>
          <a:xfrm>
            <a:off x="4337140" y="3620988"/>
            <a:ext cx="3514240" cy="694928"/>
          </a:xfrm>
          <a:prstGeom prst="roundRect">
            <a:avLst>
              <a:gd name="adj" fmla="val 18947"/>
            </a:avLst>
          </a:prstGeom>
          <a:solidFill>
            <a:schemeClr val="accent4">
              <a:lumMod val="40000"/>
              <a:lumOff val="60000"/>
            </a:schemeClr>
          </a:solidFill>
          <a:ln w="12700">
            <a:solidFill>
              <a:srgbClr val="EEF2F7"/>
            </a:solidFill>
            <a:prstDash val="solid"/>
          </a:ln>
        </p:spPr>
        <p:txBody>
          <a:bodyPr/>
          <a:lstStyle/>
          <a:p>
            <a:endParaRPr lang="es-CL"/>
          </a:p>
        </p:txBody>
      </p:sp>
      <p:sp>
        <p:nvSpPr>
          <p:cNvPr id="29" name="Text 27"/>
          <p:cNvSpPr/>
          <p:nvPr/>
        </p:nvSpPr>
        <p:spPr>
          <a:xfrm>
            <a:off x="4565734" y="3741142"/>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Backend, PostgREST y autenticación</a:t>
            </a:r>
            <a:endParaRPr lang="en-US" sz="1400" dirty="0"/>
          </a:p>
        </p:txBody>
      </p:sp>
      <p:sp>
        <p:nvSpPr>
          <p:cNvPr id="30" name="Text 28"/>
          <p:cNvSpPr/>
          <p:nvPr/>
        </p:nvSpPr>
        <p:spPr>
          <a:xfrm>
            <a:off x="4565734" y="4007842"/>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S4–6 · VR</a:t>
            </a:r>
            <a:endParaRPr lang="en-US" sz="1200" dirty="0"/>
          </a:p>
        </p:txBody>
      </p:sp>
      <p:sp>
        <p:nvSpPr>
          <p:cNvPr id="31" name="Shape 29"/>
          <p:cNvSpPr/>
          <p:nvPr/>
        </p:nvSpPr>
        <p:spPr>
          <a:xfrm>
            <a:off x="4337140" y="4425652"/>
            <a:ext cx="3514240" cy="694928"/>
          </a:xfrm>
          <a:prstGeom prst="roundRect">
            <a:avLst>
              <a:gd name="adj" fmla="val 18947"/>
            </a:avLst>
          </a:prstGeom>
          <a:solidFill>
            <a:schemeClr val="accent4">
              <a:lumMod val="40000"/>
              <a:lumOff val="60000"/>
            </a:schemeClr>
          </a:solidFill>
          <a:ln w="12700">
            <a:solidFill>
              <a:srgbClr val="EEF2F7"/>
            </a:solidFill>
            <a:prstDash val="solid"/>
          </a:ln>
        </p:spPr>
        <p:txBody>
          <a:bodyPr/>
          <a:lstStyle/>
          <a:p>
            <a:endParaRPr lang="es-CL"/>
          </a:p>
        </p:txBody>
      </p:sp>
      <p:sp>
        <p:nvSpPr>
          <p:cNvPr id="32" name="Text 30"/>
          <p:cNvSpPr/>
          <p:nvPr/>
        </p:nvSpPr>
        <p:spPr>
          <a:xfrm>
            <a:off x="4565734" y="4545806"/>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Supabase, Storage e infraestructura</a:t>
            </a:r>
            <a:endParaRPr lang="en-US" sz="1400" dirty="0"/>
          </a:p>
        </p:txBody>
      </p:sp>
      <p:sp>
        <p:nvSpPr>
          <p:cNvPr id="33" name="Text 31"/>
          <p:cNvSpPr/>
          <p:nvPr/>
        </p:nvSpPr>
        <p:spPr>
          <a:xfrm>
            <a:off x="4565734" y="4812506"/>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S4–6 · VR</a:t>
            </a:r>
            <a:endParaRPr lang="en-US" sz="1200" dirty="0"/>
          </a:p>
        </p:txBody>
      </p:sp>
      <p:sp>
        <p:nvSpPr>
          <p:cNvPr id="34" name="Shape 32"/>
          <p:cNvSpPr/>
          <p:nvPr/>
        </p:nvSpPr>
        <p:spPr>
          <a:xfrm>
            <a:off x="8125713" y="2213124"/>
            <a:ext cx="3514240" cy="457200"/>
          </a:xfrm>
          <a:prstGeom prst="roundRect">
            <a:avLst>
              <a:gd name="adj" fmla="val 28799"/>
            </a:avLst>
          </a:prstGeom>
          <a:solidFill>
            <a:srgbClr val="5B6577"/>
          </a:solidFill>
          <a:ln w="12700">
            <a:solidFill>
              <a:srgbClr val="5B6577"/>
            </a:solidFill>
            <a:prstDash val="solid"/>
          </a:ln>
        </p:spPr>
        <p:txBody>
          <a:bodyPr/>
          <a:lstStyle/>
          <a:p>
            <a:endParaRPr lang="es-CL"/>
          </a:p>
        </p:txBody>
      </p:sp>
      <p:sp>
        <p:nvSpPr>
          <p:cNvPr id="35" name="Text 33"/>
          <p:cNvSpPr/>
          <p:nvPr/>
        </p:nvSpPr>
        <p:spPr>
          <a:xfrm>
            <a:off x="8354307" y="2305893"/>
            <a:ext cx="3666636" cy="304800"/>
          </a:xfrm>
          <a:prstGeom prst="rect">
            <a:avLst/>
          </a:prstGeom>
          <a:noFill/>
          <a:ln/>
        </p:spPr>
        <p:txBody>
          <a:bodyPr wrap="none" lIns="0" tIns="0" rIns="0" bIns="0" rtlCol="0" anchor="t"/>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No iniciado · 3</a:t>
            </a:r>
            <a:endParaRPr lang="en-US" sz="1600" dirty="0"/>
          </a:p>
        </p:txBody>
      </p:sp>
      <p:sp>
        <p:nvSpPr>
          <p:cNvPr id="36" name="Shape 34"/>
          <p:cNvSpPr/>
          <p:nvPr/>
        </p:nvSpPr>
        <p:spPr>
          <a:xfrm>
            <a:off x="8125714" y="1391146"/>
            <a:ext cx="3514240" cy="694928"/>
          </a:xfrm>
          <a:prstGeom prst="roundRect">
            <a:avLst>
              <a:gd name="adj" fmla="val 18947"/>
            </a:avLst>
          </a:prstGeom>
          <a:solidFill>
            <a:schemeClr val="accent4">
              <a:lumMod val="40000"/>
              <a:lumOff val="60000"/>
            </a:schemeClr>
          </a:solidFill>
          <a:ln w="12700">
            <a:solidFill>
              <a:srgbClr val="EEF2F7"/>
            </a:solidFill>
            <a:prstDash val="solid"/>
          </a:ln>
        </p:spPr>
        <p:txBody>
          <a:bodyPr/>
          <a:lstStyle/>
          <a:p>
            <a:endParaRPr lang="es-CL"/>
          </a:p>
        </p:txBody>
      </p:sp>
      <p:sp>
        <p:nvSpPr>
          <p:cNvPr id="37" name="Text 35"/>
          <p:cNvSpPr/>
          <p:nvPr/>
        </p:nvSpPr>
        <p:spPr>
          <a:xfrm>
            <a:off x="8354308" y="1511300"/>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Frontend Vue.js y módulos</a:t>
            </a:r>
            <a:endParaRPr lang="en-US" sz="1400" dirty="0"/>
          </a:p>
        </p:txBody>
      </p:sp>
      <p:sp>
        <p:nvSpPr>
          <p:cNvPr id="38" name="Text 36"/>
          <p:cNvSpPr/>
          <p:nvPr/>
        </p:nvSpPr>
        <p:spPr>
          <a:xfrm>
            <a:off x="8354308" y="1778000"/>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S5–8 · IF</a:t>
            </a:r>
            <a:endParaRPr lang="en-US" sz="1200" dirty="0"/>
          </a:p>
        </p:txBody>
      </p:sp>
      <p:sp>
        <p:nvSpPr>
          <p:cNvPr id="39" name="Shape 37"/>
          <p:cNvSpPr/>
          <p:nvPr/>
        </p:nvSpPr>
        <p:spPr>
          <a:xfrm>
            <a:off x="8125713" y="2816324"/>
            <a:ext cx="3514240" cy="694928"/>
          </a:xfrm>
          <a:prstGeom prst="roundRect">
            <a:avLst>
              <a:gd name="adj" fmla="val 18947"/>
            </a:avLst>
          </a:prstGeom>
          <a:solidFill>
            <a:schemeClr val="tx2">
              <a:lumMod val="20000"/>
              <a:lumOff val="80000"/>
            </a:schemeClr>
          </a:solidFill>
          <a:ln w="12700">
            <a:solidFill>
              <a:srgbClr val="EEF2F7"/>
            </a:solidFill>
            <a:prstDash val="solid"/>
          </a:ln>
        </p:spPr>
        <p:txBody>
          <a:bodyPr/>
          <a:lstStyle/>
          <a:p>
            <a:endParaRPr lang="es-CL"/>
          </a:p>
        </p:txBody>
      </p:sp>
      <p:sp>
        <p:nvSpPr>
          <p:cNvPr id="40" name="Text 38"/>
          <p:cNvSpPr/>
          <p:nvPr/>
        </p:nvSpPr>
        <p:spPr>
          <a:xfrm>
            <a:off x="8354307" y="2936478"/>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Webpay Mall y reglas de negocio</a:t>
            </a:r>
            <a:endParaRPr lang="en-US" sz="1400" dirty="0"/>
          </a:p>
        </p:txBody>
      </p:sp>
      <p:sp>
        <p:nvSpPr>
          <p:cNvPr id="41" name="Text 39"/>
          <p:cNvSpPr/>
          <p:nvPr/>
        </p:nvSpPr>
        <p:spPr>
          <a:xfrm>
            <a:off x="8354307" y="3203178"/>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S7–9 · VR + IF</a:t>
            </a:r>
            <a:endParaRPr lang="en-US" sz="1200" dirty="0"/>
          </a:p>
        </p:txBody>
      </p:sp>
      <p:sp>
        <p:nvSpPr>
          <p:cNvPr id="42" name="Shape 40"/>
          <p:cNvSpPr/>
          <p:nvPr/>
        </p:nvSpPr>
        <p:spPr>
          <a:xfrm>
            <a:off x="8125713" y="3620988"/>
            <a:ext cx="3514240" cy="694928"/>
          </a:xfrm>
          <a:prstGeom prst="roundRect">
            <a:avLst>
              <a:gd name="adj" fmla="val 18947"/>
            </a:avLst>
          </a:prstGeom>
          <a:solidFill>
            <a:schemeClr val="tx2">
              <a:lumMod val="20000"/>
              <a:lumOff val="80000"/>
            </a:schemeClr>
          </a:solidFill>
          <a:ln w="12700">
            <a:solidFill>
              <a:srgbClr val="EEF2F7"/>
            </a:solidFill>
            <a:prstDash val="solid"/>
          </a:ln>
        </p:spPr>
        <p:txBody>
          <a:bodyPr/>
          <a:lstStyle/>
          <a:p>
            <a:endParaRPr lang="es-CL"/>
          </a:p>
        </p:txBody>
      </p:sp>
      <p:sp>
        <p:nvSpPr>
          <p:cNvPr id="43" name="Text 41"/>
          <p:cNvSpPr/>
          <p:nvPr/>
        </p:nvSpPr>
        <p:spPr>
          <a:xfrm>
            <a:off x="8354307" y="3741142"/>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Integración y pruebas críticas</a:t>
            </a:r>
            <a:endParaRPr lang="en-US" sz="1400" dirty="0"/>
          </a:p>
        </p:txBody>
      </p:sp>
      <p:sp>
        <p:nvSpPr>
          <p:cNvPr id="44" name="Text 42"/>
          <p:cNvSpPr/>
          <p:nvPr/>
        </p:nvSpPr>
        <p:spPr>
          <a:xfrm>
            <a:off x="8354307" y="4007842"/>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S9–11 · VR + IF</a:t>
            </a:r>
            <a:endParaRPr lang="en-US" sz="1200" dirty="0"/>
          </a:p>
        </p:txBody>
      </p:sp>
      <p:sp>
        <p:nvSpPr>
          <p:cNvPr id="45" name="Shape 43"/>
          <p:cNvSpPr/>
          <p:nvPr/>
        </p:nvSpPr>
        <p:spPr>
          <a:xfrm>
            <a:off x="8125713" y="4425652"/>
            <a:ext cx="3514240" cy="694928"/>
          </a:xfrm>
          <a:prstGeom prst="roundRect">
            <a:avLst>
              <a:gd name="adj" fmla="val 18947"/>
            </a:avLst>
          </a:prstGeom>
          <a:solidFill>
            <a:schemeClr val="tx2">
              <a:lumMod val="20000"/>
              <a:lumOff val="80000"/>
            </a:schemeClr>
          </a:solidFill>
          <a:ln w="12700">
            <a:solidFill>
              <a:srgbClr val="EEF2F7"/>
            </a:solidFill>
            <a:prstDash val="solid"/>
          </a:ln>
        </p:spPr>
        <p:txBody>
          <a:bodyPr/>
          <a:lstStyle/>
          <a:p>
            <a:endParaRPr lang="es-CL"/>
          </a:p>
        </p:txBody>
      </p:sp>
      <p:sp>
        <p:nvSpPr>
          <p:cNvPr id="46" name="Text 44"/>
          <p:cNvSpPr/>
          <p:nvPr/>
        </p:nvSpPr>
        <p:spPr>
          <a:xfrm>
            <a:off x="8354307" y="4545806"/>
            <a:ext cx="3666636"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Documentación y cierre</a:t>
            </a:r>
            <a:endParaRPr lang="en-US" sz="1400" dirty="0"/>
          </a:p>
        </p:txBody>
      </p:sp>
      <p:sp>
        <p:nvSpPr>
          <p:cNvPr id="47" name="Text 45"/>
          <p:cNvSpPr/>
          <p:nvPr/>
        </p:nvSpPr>
        <p:spPr>
          <a:xfrm>
            <a:off x="8354307" y="4812506"/>
            <a:ext cx="3666636"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S12–13 · VR + IF</a:t>
            </a:r>
            <a:endParaRPr lang="en-US" sz="1200" dirty="0"/>
          </a:p>
        </p:txBody>
      </p:sp>
      <p:sp>
        <p:nvSpPr>
          <p:cNvPr id="48" name="Text 46"/>
          <p:cNvSpPr/>
          <p:nvPr/>
        </p:nvSpPr>
        <p:spPr>
          <a:xfrm>
            <a:off x="548567" y="6039346"/>
            <a:ext cx="11643128"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VR: Vicente Rivera  ·  IF: Ignacio Fuenzalida  ·  S: semana del proyecto</a:t>
            </a:r>
            <a:endParaRPr lang="en-US" sz="1200" dirty="0"/>
          </a:p>
        </p:txBody>
      </p:sp>
      <p:sp>
        <p:nvSpPr>
          <p:cNvPr id="49" name="Text 47"/>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50" name="Text 48"/>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Arquitectura objetivo desacoplada</a:t>
            </a:r>
            <a:endParaRPr lang="en-US" sz="3400" dirty="0"/>
          </a:p>
        </p:txBody>
      </p:sp>
      <p:sp>
        <p:nvSpPr>
          <p:cNvPr id="3" name="Shape 1"/>
          <p:cNvSpPr/>
          <p:nvPr/>
        </p:nvSpPr>
        <p:spPr>
          <a:xfrm>
            <a:off x="548567" y="1462980"/>
            <a:ext cx="1737277" cy="3840460"/>
          </a:xfrm>
          <a:prstGeom prst="roundRect">
            <a:avLst>
              <a:gd name="adj" fmla="val 7579"/>
            </a:avLst>
          </a:prstGeom>
          <a:solidFill>
            <a:srgbClr val="EEF2F7"/>
          </a:solidFill>
          <a:ln w="12700">
            <a:solidFill>
              <a:srgbClr val="EEF2F7"/>
            </a:solidFill>
            <a:prstDash val="solid"/>
          </a:ln>
        </p:spPr>
        <p:txBody>
          <a:bodyPr/>
          <a:lstStyle/>
          <a:p>
            <a:endParaRPr lang="es-CL"/>
          </a:p>
        </p:txBody>
      </p:sp>
      <p:sp>
        <p:nvSpPr>
          <p:cNvPr id="4" name="Text 2"/>
          <p:cNvSpPr/>
          <p:nvPr/>
        </p:nvSpPr>
        <p:spPr>
          <a:xfrm>
            <a:off x="777161" y="2558733"/>
            <a:ext cx="1222940" cy="274241"/>
          </a:xfrm>
          <a:prstGeom prst="rect">
            <a:avLst/>
          </a:prstGeom>
          <a:noFill/>
          <a:ln/>
        </p:spPr>
        <p:txBody>
          <a:bodyPr wrap="none" lIns="0" tIns="0" rIns="0" bIns="0" rtlCol="0" anchor="t"/>
          <a:lstStyle/>
          <a:p>
            <a:pPr marL="0" indent="0" algn="l">
              <a:lnSpc>
                <a:spcPct val="100000"/>
              </a:lnSpc>
              <a:buNone/>
            </a:pPr>
            <a:r>
              <a:rPr lang="en-US" sz="1800" b="1" dirty="0">
                <a:solidFill>
                  <a:srgbClr val="0B2A55"/>
                </a:solidFill>
                <a:latin typeface="Carlito Bold" pitchFamily="34" charset="0"/>
                <a:ea typeface="Carlito Bold" pitchFamily="34" charset="-122"/>
                <a:cs typeface="Carlito Bold" pitchFamily="34" charset="-120"/>
              </a:rPr>
              <a:t>Usuarios</a:t>
            </a:r>
            <a:endParaRPr lang="en-US" sz="1800" dirty="0"/>
          </a:p>
        </p:txBody>
      </p:sp>
      <p:sp>
        <p:nvSpPr>
          <p:cNvPr id="5" name="Text 3"/>
          <p:cNvSpPr/>
          <p:nvPr/>
        </p:nvSpPr>
        <p:spPr>
          <a:xfrm>
            <a:off x="777161" y="2822206"/>
            <a:ext cx="1222940" cy="85328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0B2A55"/>
                </a:solidFill>
                <a:latin typeface="Carlito" pitchFamily="34" charset="0"/>
                <a:ea typeface="Carlito" pitchFamily="34" charset="-122"/>
                <a:cs typeface="Carlito" pitchFamily="34" charset="-120"/>
              </a:rPr>
              <a:t>Visitante</a:t>
            </a:r>
            <a:endParaRPr lang="en-US" sz="1400" dirty="0"/>
          </a:p>
          <a:p>
            <a:pPr marL="0" indent="0" algn="l">
              <a:lnSpc>
                <a:spcPct val="100000"/>
              </a:lnSpc>
              <a:buNone/>
            </a:pPr>
            <a:r>
              <a:rPr lang="en-US" sz="1400" dirty="0">
                <a:solidFill>
                  <a:srgbClr val="0B2A55"/>
                </a:solidFill>
                <a:latin typeface="Carlito" pitchFamily="34" charset="0"/>
                <a:ea typeface="Carlito" pitchFamily="34" charset="-122"/>
                <a:cs typeface="Carlito" pitchFamily="34" charset="-120"/>
              </a:rPr>
              <a:t>Cliente</a:t>
            </a:r>
            <a:endParaRPr lang="en-US" sz="1400" dirty="0"/>
          </a:p>
          <a:p>
            <a:pPr marL="0" indent="0" algn="l">
              <a:lnSpc>
                <a:spcPct val="100000"/>
              </a:lnSpc>
              <a:buNone/>
            </a:pPr>
            <a:r>
              <a:rPr lang="en-US" sz="1400" dirty="0">
                <a:solidFill>
                  <a:srgbClr val="0B2A55"/>
                </a:solidFill>
                <a:latin typeface="Carlito" pitchFamily="34" charset="0"/>
                <a:ea typeface="Carlito" pitchFamily="34" charset="-122"/>
                <a:cs typeface="Carlito" pitchFamily="34" charset="-120"/>
              </a:rPr>
              <a:t>Vendedor</a:t>
            </a:r>
            <a:endParaRPr lang="en-US" sz="1400" dirty="0"/>
          </a:p>
          <a:p>
            <a:pPr marL="0" indent="0" algn="l">
              <a:lnSpc>
                <a:spcPct val="100000"/>
              </a:lnSpc>
              <a:buNone/>
            </a:pPr>
            <a:r>
              <a:rPr lang="en-US" sz="1400" dirty="0">
                <a:solidFill>
                  <a:srgbClr val="0B2A55"/>
                </a:solidFill>
                <a:latin typeface="Carlito" pitchFamily="34" charset="0"/>
                <a:ea typeface="Carlito" pitchFamily="34" charset="-122"/>
                <a:cs typeface="Carlito" pitchFamily="34" charset="-120"/>
              </a:rPr>
              <a:t>Administrador</a:t>
            </a:r>
            <a:endParaRPr lang="en-US" sz="1400" dirty="0"/>
          </a:p>
        </p:txBody>
      </p:sp>
      <p:sp>
        <p:nvSpPr>
          <p:cNvPr id="6" name="Shape 4"/>
          <p:cNvSpPr/>
          <p:nvPr/>
        </p:nvSpPr>
        <p:spPr>
          <a:xfrm>
            <a:off x="2834510" y="1462980"/>
            <a:ext cx="2102988" cy="3840460"/>
          </a:xfrm>
          <a:prstGeom prst="roundRect">
            <a:avLst>
              <a:gd name="adj" fmla="val 6261"/>
            </a:avLst>
          </a:prstGeom>
          <a:solidFill>
            <a:srgbClr val="0B2A55"/>
          </a:solidFill>
          <a:ln w="12700">
            <a:solidFill>
              <a:srgbClr val="0B2A55"/>
            </a:solidFill>
            <a:prstDash val="solid"/>
          </a:ln>
        </p:spPr>
        <p:txBody>
          <a:bodyPr/>
          <a:lstStyle/>
          <a:p>
            <a:endParaRPr lang="es-CL"/>
          </a:p>
        </p:txBody>
      </p:sp>
      <p:sp>
        <p:nvSpPr>
          <p:cNvPr id="7" name="Text 5"/>
          <p:cNvSpPr/>
          <p:nvPr/>
        </p:nvSpPr>
        <p:spPr>
          <a:xfrm>
            <a:off x="3063104" y="2832973"/>
            <a:ext cx="1588651" cy="274241"/>
          </a:xfrm>
          <a:prstGeom prst="rect">
            <a:avLst/>
          </a:prstGeom>
          <a:noFill/>
          <a:ln/>
        </p:spPr>
        <p:txBody>
          <a:bodyPr wrap="none" lIns="0" tIns="0" rIns="0" bIns="0" rtlCol="0" anchor="t"/>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Frontend</a:t>
            </a:r>
            <a:endParaRPr lang="en-US" sz="1800" dirty="0"/>
          </a:p>
        </p:txBody>
      </p:sp>
      <p:sp>
        <p:nvSpPr>
          <p:cNvPr id="8" name="Text 6"/>
          <p:cNvSpPr/>
          <p:nvPr/>
        </p:nvSpPr>
        <p:spPr>
          <a:xfrm>
            <a:off x="3063104" y="3096446"/>
            <a:ext cx="1588651"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FFFFFF"/>
                </a:solidFill>
                <a:latin typeface="Carlito" pitchFamily="34" charset="0"/>
                <a:ea typeface="Carlito" pitchFamily="34" charset="-122"/>
                <a:cs typeface="Carlito" pitchFamily="34" charset="-120"/>
              </a:rPr>
              <a:t>Vue.js + Vite</a:t>
            </a:r>
            <a:endParaRPr lang="en-US" sz="1400" dirty="0"/>
          </a:p>
          <a:p>
            <a:pPr marL="0" indent="0" algn="l">
              <a:lnSpc>
                <a:spcPct val="100000"/>
              </a:lnSpc>
              <a:buNone/>
            </a:pPr>
            <a:r>
              <a:rPr lang="en-US" sz="1400" dirty="0">
                <a:solidFill>
                  <a:srgbClr val="FFFFFF"/>
                </a:solidFill>
                <a:latin typeface="Carlito" pitchFamily="34" charset="0"/>
                <a:ea typeface="Carlito" pitchFamily="34" charset="-122"/>
                <a:cs typeface="Carlito" pitchFamily="34" charset="-120"/>
              </a:rPr>
              <a:t>Desplegado en Vercel</a:t>
            </a:r>
            <a:endParaRPr lang="en-US" sz="1400" dirty="0"/>
          </a:p>
        </p:txBody>
      </p:sp>
      <p:sp>
        <p:nvSpPr>
          <p:cNvPr id="9" name="Shape 7"/>
          <p:cNvSpPr/>
          <p:nvPr/>
        </p:nvSpPr>
        <p:spPr>
          <a:xfrm>
            <a:off x="548567" y="5486400"/>
            <a:ext cx="5394785" cy="731441"/>
          </a:xfrm>
          <a:prstGeom prst="roundRect">
            <a:avLst>
              <a:gd name="adj" fmla="val 18001"/>
            </a:avLst>
          </a:prstGeom>
          <a:solidFill>
            <a:srgbClr val="EEF2F7"/>
          </a:solidFill>
          <a:ln w="12700">
            <a:solidFill>
              <a:srgbClr val="EEF2F7"/>
            </a:solidFill>
            <a:prstDash val="solid"/>
          </a:ln>
        </p:spPr>
        <p:txBody>
          <a:bodyPr/>
          <a:lstStyle/>
          <a:p>
            <a:endParaRPr lang="es-CL"/>
          </a:p>
        </p:txBody>
      </p:sp>
      <p:sp>
        <p:nvSpPr>
          <p:cNvPr id="10" name="Text 8"/>
          <p:cNvSpPr/>
          <p:nvPr/>
        </p:nvSpPr>
        <p:spPr>
          <a:xfrm>
            <a:off x="777161" y="5731470"/>
            <a:ext cx="5547182" cy="266700"/>
          </a:xfrm>
          <a:prstGeom prst="rect">
            <a:avLst/>
          </a:prstGeom>
          <a:noFill/>
          <a:ln/>
        </p:spPr>
        <p:txBody>
          <a:bodyPr wrap="none" lIns="0" tIns="0" rIns="0" bIns="0" rtlCol="0" anchor="t"/>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Antes: </a:t>
            </a:r>
            <a:r>
              <a:rPr lang="en-US" sz="1400" dirty="0">
                <a:solidFill>
                  <a:srgbClr val="1B1F2A"/>
                </a:solidFill>
                <a:latin typeface="Carlito" pitchFamily="34" charset="0"/>
                <a:ea typeface="Carlito" pitchFamily="34" charset="-122"/>
                <a:cs typeface="Carlito" pitchFamily="34" charset="-120"/>
              </a:rPr>
              <a:t>Ionic 8 + Angular 18 con SQLite local</a:t>
            </a:r>
            <a:endParaRPr lang="en-US" sz="1400" dirty="0"/>
          </a:p>
        </p:txBody>
      </p:sp>
      <p:sp>
        <p:nvSpPr>
          <p:cNvPr id="11" name="Shape 9"/>
          <p:cNvSpPr/>
          <p:nvPr/>
        </p:nvSpPr>
        <p:spPr>
          <a:xfrm>
            <a:off x="5669118" y="1462980"/>
            <a:ext cx="3108843" cy="1828800"/>
          </a:xfrm>
          <a:prstGeom prst="roundRect">
            <a:avLst>
              <a:gd name="adj" fmla="val 7200"/>
            </a:avLst>
          </a:prstGeom>
          <a:solidFill>
            <a:srgbClr val="2F6DB5"/>
          </a:solidFill>
          <a:ln w="12700">
            <a:solidFill>
              <a:srgbClr val="2F6DB5"/>
            </a:solidFill>
            <a:prstDash val="solid"/>
          </a:ln>
        </p:spPr>
        <p:txBody>
          <a:bodyPr/>
          <a:lstStyle/>
          <a:p>
            <a:endParaRPr lang="es-CL"/>
          </a:p>
        </p:txBody>
      </p:sp>
      <p:sp>
        <p:nvSpPr>
          <p:cNvPr id="12" name="Text 10"/>
          <p:cNvSpPr/>
          <p:nvPr/>
        </p:nvSpPr>
        <p:spPr>
          <a:xfrm>
            <a:off x="5897713" y="1964313"/>
            <a:ext cx="2594505" cy="274241"/>
          </a:xfrm>
          <a:prstGeom prst="rect">
            <a:avLst/>
          </a:prstGeom>
          <a:noFill/>
          <a:ln/>
        </p:spPr>
        <p:txBody>
          <a:bodyPr wrap="none" lIns="0" tIns="0" rIns="0" bIns="0" rtlCol="0" anchor="t"/>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Supabase</a:t>
            </a:r>
            <a:endParaRPr lang="en-US" sz="1800" dirty="0"/>
          </a:p>
        </p:txBody>
      </p:sp>
      <p:sp>
        <p:nvSpPr>
          <p:cNvPr id="13" name="Text 11"/>
          <p:cNvSpPr/>
          <p:nvPr/>
        </p:nvSpPr>
        <p:spPr>
          <a:xfrm>
            <a:off x="5897713" y="2227786"/>
            <a:ext cx="2594505"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FFFFFF"/>
                </a:solidFill>
                <a:latin typeface="Carlito" pitchFamily="34" charset="0"/>
                <a:ea typeface="Carlito" pitchFamily="34" charset="-122"/>
                <a:cs typeface="Carlito" pitchFamily="34" charset="-120"/>
              </a:rPr>
              <a:t>Auth (GoTrue), PostgREST + RLS, PostgreSQL y Storage</a:t>
            </a:r>
            <a:endParaRPr lang="en-US" sz="1400" dirty="0"/>
          </a:p>
        </p:txBody>
      </p:sp>
      <p:sp>
        <p:nvSpPr>
          <p:cNvPr id="14" name="Shape 12"/>
          <p:cNvSpPr/>
          <p:nvPr/>
        </p:nvSpPr>
        <p:spPr>
          <a:xfrm>
            <a:off x="7210840" y="3367980"/>
            <a:ext cx="25399" cy="30460"/>
          </a:xfrm>
          <a:prstGeom prst="rect">
            <a:avLst/>
          </a:prstGeom>
          <a:solidFill>
            <a:srgbClr val="5B6577"/>
          </a:solidFill>
          <a:ln/>
        </p:spPr>
        <p:txBody>
          <a:bodyPr/>
          <a:lstStyle/>
          <a:p>
            <a:endParaRPr lang="es-CL"/>
          </a:p>
        </p:txBody>
      </p:sp>
      <p:sp>
        <p:nvSpPr>
          <p:cNvPr id="15" name="Shape 13"/>
          <p:cNvSpPr/>
          <p:nvPr/>
        </p:nvSpPr>
        <p:spPr>
          <a:xfrm rot="16200000">
            <a:off x="7185441" y="3291780"/>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16" name="Shape 14"/>
          <p:cNvSpPr/>
          <p:nvPr/>
        </p:nvSpPr>
        <p:spPr>
          <a:xfrm rot="5400000">
            <a:off x="7185441" y="3398441"/>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17" name="Shape 15"/>
          <p:cNvSpPr/>
          <p:nvPr/>
        </p:nvSpPr>
        <p:spPr>
          <a:xfrm>
            <a:off x="5669118" y="3566222"/>
            <a:ext cx="3108843" cy="1765198"/>
          </a:xfrm>
          <a:prstGeom prst="roundRect">
            <a:avLst>
              <a:gd name="adj" fmla="val 7200"/>
            </a:avLst>
          </a:prstGeom>
          <a:solidFill>
            <a:srgbClr val="2F6DB5"/>
          </a:solidFill>
          <a:ln w="12700">
            <a:solidFill>
              <a:srgbClr val="2F6DB5"/>
            </a:solidFill>
            <a:prstDash val="solid"/>
          </a:ln>
        </p:spPr>
        <p:txBody>
          <a:bodyPr anchor="b">
            <a:noAutofit/>
          </a:bodyPr>
          <a:lstStyle/>
          <a:p>
            <a:r>
              <a:rPr lang="es-CL" sz="1150" dirty="0">
                <a:solidFill>
                  <a:srgbClr val="FFFFFF"/>
                </a:solidFill>
                <a:latin typeface="Carlito"/>
              </a:rPr>
              <a:t>• Creación y confirmación del pago</a:t>
            </a:r>
          </a:p>
          <a:p>
            <a:pPr algn="l">
              <a:lnSpc>
                <a:spcPct val="100000"/>
              </a:lnSpc>
              <a:spcAft>
                <a:spcPts val="0"/>
              </a:spcAft>
            </a:pPr>
            <a:r>
              <a:rPr sz="1150" dirty="0">
                <a:solidFill>
                  <a:srgbClr val="FFFFFF"/>
                </a:solidFill>
                <a:latin typeface="Carlito"/>
              </a:rPr>
              <a:t>• </a:t>
            </a:r>
            <a:r>
              <a:rPr sz="1150" dirty="0" err="1">
                <a:solidFill>
                  <a:srgbClr val="FFFFFF"/>
                </a:solidFill>
                <a:latin typeface="Carlito"/>
              </a:rPr>
              <a:t>Integración</a:t>
            </a:r>
            <a:r>
              <a:rPr sz="1150" dirty="0">
                <a:solidFill>
                  <a:srgbClr val="FFFFFF"/>
                </a:solidFill>
                <a:latin typeface="Carlito"/>
              </a:rPr>
              <a:t> con la </a:t>
            </a:r>
            <a:r>
              <a:rPr sz="1150" dirty="0" err="1">
                <a:solidFill>
                  <a:srgbClr val="FFFFFF"/>
                </a:solidFill>
                <a:latin typeface="Carlito"/>
              </a:rPr>
              <a:t>pasarela</a:t>
            </a:r>
            <a:r>
              <a:rPr sz="1150" dirty="0">
                <a:solidFill>
                  <a:srgbClr val="FFFFFF"/>
                </a:solidFill>
                <a:latin typeface="Carlito"/>
              </a:rPr>
              <a:t> de </a:t>
            </a:r>
            <a:r>
              <a:rPr sz="1150" dirty="0" err="1">
                <a:solidFill>
                  <a:srgbClr val="FFFFFF"/>
                </a:solidFill>
                <a:latin typeface="Carlito"/>
              </a:rPr>
              <a:t>Transbank</a:t>
            </a:r>
            <a:endParaRPr sz="1150" dirty="0">
              <a:solidFill>
                <a:srgbClr val="FFFFFF"/>
              </a:solidFill>
              <a:latin typeface="Carlito"/>
            </a:endParaRPr>
          </a:p>
          <a:p>
            <a:pPr algn="l">
              <a:lnSpc>
                <a:spcPct val="100000"/>
              </a:lnSpc>
              <a:spcAft>
                <a:spcPts val="0"/>
              </a:spcAft>
            </a:pPr>
            <a:r>
              <a:rPr sz="1150" dirty="0">
                <a:solidFill>
                  <a:srgbClr val="FFFFFF"/>
                </a:solidFill>
                <a:latin typeface="Carlito"/>
              </a:rPr>
              <a:t>• Idempotencia por buy_order y token_ws</a:t>
            </a:r>
          </a:p>
          <a:p>
            <a:pPr algn="l">
              <a:lnSpc>
                <a:spcPct val="100000"/>
              </a:lnSpc>
              <a:spcAft>
                <a:spcPts val="0"/>
              </a:spcAft>
            </a:pPr>
            <a:r>
              <a:rPr sz="1150" dirty="0">
                <a:solidFill>
                  <a:srgbClr val="FFFFFF"/>
                </a:solidFill>
                <a:latin typeface="Carlito"/>
              </a:rPr>
              <a:t>• Cálculo del neto del Split Payment</a:t>
            </a:r>
          </a:p>
        </p:txBody>
      </p:sp>
      <p:sp>
        <p:nvSpPr>
          <p:cNvPr id="18" name="Text 16"/>
          <p:cNvSpPr/>
          <p:nvPr/>
        </p:nvSpPr>
        <p:spPr>
          <a:xfrm>
            <a:off x="5834810" y="3677559"/>
            <a:ext cx="2594505" cy="274241"/>
          </a:xfrm>
          <a:prstGeom prst="rect">
            <a:avLst/>
          </a:prstGeom>
          <a:noFill/>
          <a:ln/>
        </p:spPr>
        <p:txBody>
          <a:bodyPr wrap="none" lIns="0" tIns="0" rIns="0" bIns="0" rtlCol="0" anchor="t"/>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FastAPI + Docker</a:t>
            </a:r>
            <a:endParaRPr lang="en-US" sz="1800" dirty="0"/>
          </a:p>
        </p:txBody>
      </p:sp>
      <p:sp>
        <p:nvSpPr>
          <p:cNvPr id="19" name="Text 17"/>
          <p:cNvSpPr/>
          <p:nvPr/>
        </p:nvSpPr>
        <p:spPr>
          <a:xfrm>
            <a:off x="5834809" y="3966790"/>
            <a:ext cx="2594505" cy="292608"/>
          </a:xfrm>
          <a:prstGeom prst="rect">
            <a:avLst/>
          </a:prstGeom>
          <a:noFill/>
          <a:ln/>
        </p:spPr>
        <p:txBody>
          <a:bodyPr wrap="square" lIns="0" tIns="0" rIns="0" bIns="0" rtlCol="0" anchor="t">
            <a:noAutofit/>
          </a:bodyPr>
          <a:lstStyle/>
          <a:p>
            <a:pPr marL="0" indent="0" algn="l">
              <a:lnSpc>
                <a:spcPct val="100000"/>
              </a:lnSpc>
              <a:spcAft>
                <a:spcPts val="200"/>
              </a:spcAft>
              <a:buNone/>
            </a:pPr>
            <a:r>
              <a:rPr sz="1550" b="1" dirty="0">
                <a:solidFill>
                  <a:srgbClr val="FFFFFF"/>
                </a:solidFill>
                <a:latin typeface="Carlito Bold"/>
              </a:rPr>
              <a:t>Cloud Run: solo la integración con Webpay</a:t>
            </a:r>
            <a:endParaRPr lang="en-US" sz="1400" dirty="0"/>
          </a:p>
        </p:txBody>
      </p:sp>
      <p:sp>
        <p:nvSpPr>
          <p:cNvPr id="20" name="Shape 18"/>
          <p:cNvSpPr/>
          <p:nvPr/>
        </p:nvSpPr>
        <p:spPr>
          <a:xfrm>
            <a:off x="9326627" y="1462980"/>
            <a:ext cx="2313327" cy="1828800"/>
          </a:xfrm>
          <a:prstGeom prst="roundRect">
            <a:avLst>
              <a:gd name="adj" fmla="val 7200"/>
            </a:avLst>
          </a:prstGeom>
          <a:solidFill>
            <a:srgbClr val="EEF2F7"/>
          </a:solidFill>
          <a:ln w="12700">
            <a:solidFill>
              <a:srgbClr val="EEF2F7"/>
            </a:solidFill>
            <a:prstDash val="solid"/>
          </a:ln>
        </p:spPr>
        <p:txBody>
          <a:bodyPr/>
          <a:lstStyle/>
          <a:p>
            <a:endParaRPr lang="es-CL"/>
          </a:p>
        </p:txBody>
      </p:sp>
      <p:sp>
        <p:nvSpPr>
          <p:cNvPr id="21" name="Text 19"/>
          <p:cNvSpPr/>
          <p:nvPr/>
        </p:nvSpPr>
        <p:spPr>
          <a:xfrm>
            <a:off x="9555221" y="1964313"/>
            <a:ext cx="1798989" cy="274241"/>
          </a:xfrm>
          <a:prstGeom prst="rect">
            <a:avLst/>
          </a:prstGeom>
          <a:noFill/>
          <a:ln/>
        </p:spPr>
        <p:txBody>
          <a:bodyPr wrap="none" lIns="0" tIns="0" rIns="0" bIns="0" rtlCol="0" anchor="t"/>
          <a:lstStyle/>
          <a:p>
            <a:pPr marL="0" indent="0" algn="l">
              <a:lnSpc>
                <a:spcPct val="100000"/>
              </a:lnSpc>
              <a:buNone/>
            </a:pPr>
            <a:r>
              <a:rPr lang="en-US" sz="1800" b="1" dirty="0">
                <a:solidFill>
                  <a:srgbClr val="0B2A55"/>
                </a:solidFill>
                <a:latin typeface="Carlito Bold" pitchFamily="34" charset="0"/>
                <a:ea typeface="Carlito Bold" pitchFamily="34" charset="-122"/>
                <a:cs typeface="Carlito Bold" pitchFamily="34" charset="-120"/>
              </a:rPr>
              <a:t>Resend</a:t>
            </a:r>
            <a:endParaRPr lang="en-US" sz="1800" dirty="0"/>
          </a:p>
        </p:txBody>
      </p:sp>
      <p:sp>
        <p:nvSpPr>
          <p:cNvPr id="22" name="Text 20"/>
          <p:cNvSpPr/>
          <p:nvPr/>
        </p:nvSpPr>
        <p:spPr>
          <a:xfrm>
            <a:off x="9555221" y="2227786"/>
            <a:ext cx="1798989"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0B2A55"/>
                </a:solidFill>
                <a:latin typeface="Carlito" pitchFamily="34" charset="0"/>
                <a:ea typeface="Carlito" pitchFamily="34" charset="-122"/>
                <a:cs typeface="Carlito" pitchFamily="34" charset="-120"/>
              </a:rPr>
              <a:t>Correos de Auth y de negocio</a:t>
            </a:r>
            <a:endParaRPr lang="en-US" sz="1400" dirty="0"/>
          </a:p>
        </p:txBody>
      </p:sp>
      <p:sp>
        <p:nvSpPr>
          <p:cNvPr id="23" name="Shape 21"/>
          <p:cNvSpPr/>
          <p:nvPr/>
        </p:nvSpPr>
        <p:spPr>
          <a:xfrm>
            <a:off x="9326627" y="3474641"/>
            <a:ext cx="2313327" cy="1828800"/>
          </a:xfrm>
          <a:prstGeom prst="roundRect">
            <a:avLst>
              <a:gd name="adj" fmla="val 7200"/>
            </a:avLst>
          </a:prstGeom>
          <a:solidFill>
            <a:srgbClr val="EEF2F7"/>
          </a:solidFill>
          <a:ln w="12700">
            <a:solidFill>
              <a:srgbClr val="EEF2F7"/>
            </a:solidFill>
            <a:prstDash val="solid"/>
          </a:ln>
        </p:spPr>
        <p:txBody>
          <a:bodyPr/>
          <a:lstStyle/>
          <a:p>
            <a:endParaRPr lang="es-CL"/>
          </a:p>
        </p:txBody>
      </p:sp>
      <p:sp>
        <p:nvSpPr>
          <p:cNvPr id="24" name="Text 22"/>
          <p:cNvSpPr/>
          <p:nvPr/>
        </p:nvSpPr>
        <p:spPr>
          <a:xfrm>
            <a:off x="9555221" y="3838853"/>
            <a:ext cx="1798989" cy="274241"/>
          </a:xfrm>
          <a:prstGeom prst="rect">
            <a:avLst/>
          </a:prstGeom>
          <a:noFill/>
          <a:ln/>
        </p:spPr>
        <p:txBody>
          <a:bodyPr wrap="none" lIns="0" tIns="0" rIns="0" bIns="0" rtlCol="0" anchor="t"/>
          <a:lstStyle/>
          <a:p>
            <a:pPr marL="0" indent="0" algn="l">
              <a:lnSpc>
                <a:spcPct val="100000"/>
              </a:lnSpc>
              <a:buNone/>
            </a:pPr>
            <a:r>
              <a:rPr lang="en-US" sz="1800" b="1" dirty="0">
                <a:solidFill>
                  <a:srgbClr val="0B2A55"/>
                </a:solidFill>
                <a:latin typeface="Carlito Bold" pitchFamily="34" charset="0"/>
                <a:ea typeface="Carlito Bold" pitchFamily="34" charset="-122"/>
                <a:cs typeface="Carlito Bold" pitchFamily="34" charset="-120"/>
              </a:rPr>
              <a:t>Webpay Mall</a:t>
            </a:r>
            <a:endParaRPr lang="en-US" sz="1800" dirty="0"/>
          </a:p>
        </p:txBody>
      </p:sp>
      <p:sp>
        <p:nvSpPr>
          <p:cNvPr id="25" name="Text 23"/>
          <p:cNvSpPr/>
          <p:nvPr/>
        </p:nvSpPr>
        <p:spPr>
          <a:xfrm>
            <a:off x="9555221" y="4102326"/>
            <a:ext cx="1798989"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0B2A55"/>
                </a:solidFill>
                <a:latin typeface="Carlito" pitchFamily="34" charset="0"/>
                <a:ea typeface="Carlito" pitchFamily="34" charset="-122"/>
                <a:cs typeface="Carlito" pitchFamily="34" charset="-120"/>
              </a:rPr>
              <a:t>Transbank, Split Payment en pruebas</a:t>
            </a:r>
            <a:endParaRPr lang="en-US" sz="1400" dirty="0"/>
          </a:p>
        </p:txBody>
      </p:sp>
      <p:sp>
        <p:nvSpPr>
          <p:cNvPr id="26" name="Shape 24"/>
          <p:cNvSpPr/>
          <p:nvPr/>
        </p:nvSpPr>
        <p:spPr>
          <a:xfrm>
            <a:off x="2362141" y="3370560"/>
            <a:ext cx="396171" cy="25400"/>
          </a:xfrm>
          <a:prstGeom prst="rect">
            <a:avLst/>
          </a:prstGeom>
          <a:solidFill>
            <a:srgbClr val="5B6577"/>
          </a:solidFill>
          <a:ln/>
        </p:spPr>
        <p:txBody>
          <a:bodyPr/>
          <a:lstStyle/>
          <a:p>
            <a:endParaRPr lang="es-CL"/>
          </a:p>
        </p:txBody>
      </p:sp>
      <p:sp>
        <p:nvSpPr>
          <p:cNvPr id="27" name="Shape 25"/>
          <p:cNvSpPr/>
          <p:nvPr/>
        </p:nvSpPr>
        <p:spPr>
          <a:xfrm rot="10800000">
            <a:off x="2285943" y="3345160"/>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28" name="Shape 26"/>
          <p:cNvSpPr/>
          <p:nvPr/>
        </p:nvSpPr>
        <p:spPr>
          <a:xfrm>
            <a:off x="2758311" y="3345160"/>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29" name="Shape 27"/>
          <p:cNvSpPr/>
          <p:nvPr/>
        </p:nvSpPr>
        <p:spPr>
          <a:xfrm>
            <a:off x="5013795" y="2364680"/>
            <a:ext cx="579026" cy="25400"/>
          </a:xfrm>
          <a:prstGeom prst="rect">
            <a:avLst/>
          </a:prstGeom>
          <a:solidFill>
            <a:srgbClr val="5B6577"/>
          </a:solidFill>
          <a:ln/>
        </p:spPr>
        <p:txBody>
          <a:bodyPr/>
          <a:lstStyle/>
          <a:p>
            <a:endParaRPr lang="es-CL"/>
          </a:p>
        </p:txBody>
      </p:sp>
      <p:sp>
        <p:nvSpPr>
          <p:cNvPr id="30" name="Shape 28"/>
          <p:cNvSpPr/>
          <p:nvPr/>
        </p:nvSpPr>
        <p:spPr>
          <a:xfrm rot="10800000">
            <a:off x="4937597" y="2339280"/>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31" name="Shape 29"/>
          <p:cNvSpPr/>
          <p:nvPr/>
        </p:nvSpPr>
        <p:spPr>
          <a:xfrm>
            <a:off x="5592920" y="2339280"/>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32" name="Shape 30"/>
          <p:cNvSpPr/>
          <p:nvPr/>
        </p:nvSpPr>
        <p:spPr>
          <a:xfrm>
            <a:off x="5013795" y="4376341"/>
            <a:ext cx="579026" cy="25400"/>
          </a:xfrm>
          <a:prstGeom prst="rect">
            <a:avLst/>
          </a:prstGeom>
          <a:solidFill>
            <a:srgbClr val="5B6577"/>
          </a:solidFill>
          <a:ln/>
        </p:spPr>
        <p:txBody>
          <a:bodyPr/>
          <a:lstStyle/>
          <a:p>
            <a:endParaRPr lang="es-CL"/>
          </a:p>
        </p:txBody>
      </p:sp>
      <p:sp>
        <p:nvSpPr>
          <p:cNvPr id="33" name="Shape 31"/>
          <p:cNvSpPr/>
          <p:nvPr/>
        </p:nvSpPr>
        <p:spPr>
          <a:xfrm rot="10800000">
            <a:off x="4937597" y="4350941"/>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34" name="Shape 32"/>
          <p:cNvSpPr/>
          <p:nvPr/>
        </p:nvSpPr>
        <p:spPr>
          <a:xfrm>
            <a:off x="5592920" y="4350941"/>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35" name="Shape 33"/>
          <p:cNvSpPr/>
          <p:nvPr/>
        </p:nvSpPr>
        <p:spPr>
          <a:xfrm>
            <a:off x="8777961" y="2364680"/>
            <a:ext cx="472369" cy="25400"/>
          </a:xfrm>
          <a:prstGeom prst="rect">
            <a:avLst/>
          </a:prstGeom>
          <a:solidFill>
            <a:srgbClr val="5B6577"/>
          </a:solidFill>
          <a:ln/>
        </p:spPr>
        <p:txBody>
          <a:bodyPr/>
          <a:lstStyle/>
          <a:p>
            <a:endParaRPr lang="es-CL"/>
          </a:p>
        </p:txBody>
      </p:sp>
      <p:sp>
        <p:nvSpPr>
          <p:cNvPr id="36" name="Shape 34"/>
          <p:cNvSpPr/>
          <p:nvPr/>
        </p:nvSpPr>
        <p:spPr>
          <a:xfrm>
            <a:off x="9250429" y="2339280"/>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37" name="Shape 35"/>
          <p:cNvSpPr/>
          <p:nvPr/>
        </p:nvSpPr>
        <p:spPr>
          <a:xfrm>
            <a:off x="8854159" y="4376341"/>
            <a:ext cx="396171" cy="25400"/>
          </a:xfrm>
          <a:prstGeom prst="rect">
            <a:avLst/>
          </a:prstGeom>
          <a:solidFill>
            <a:srgbClr val="5B6577"/>
          </a:solidFill>
          <a:ln/>
        </p:spPr>
        <p:txBody>
          <a:bodyPr/>
          <a:lstStyle/>
          <a:p>
            <a:endParaRPr lang="es-CL"/>
          </a:p>
        </p:txBody>
      </p:sp>
      <p:sp>
        <p:nvSpPr>
          <p:cNvPr id="38" name="Shape 36"/>
          <p:cNvSpPr/>
          <p:nvPr/>
        </p:nvSpPr>
        <p:spPr>
          <a:xfrm rot="10800000">
            <a:off x="8777961" y="4350941"/>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39" name="Shape 37"/>
          <p:cNvSpPr/>
          <p:nvPr/>
        </p:nvSpPr>
        <p:spPr>
          <a:xfrm>
            <a:off x="9250429" y="4350941"/>
            <a:ext cx="76198" cy="76200"/>
          </a:xfrm>
          <a:custGeom>
            <a:avLst/>
            <a:gdLst/>
            <a:ahLst/>
            <a:cxnLst/>
            <a:rect l="l" t="t" r="r" b="b"/>
            <a:pathLst>
              <a:path w="76198" h="76200">
                <a:moveTo>
                  <a:pt x="76198" y="38100"/>
                </a:moveTo>
                <a:lnTo>
                  <a:pt x="0" y="0"/>
                </a:lnTo>
                <a:lnTo>
                  <a:pt x="0" y="76200"/>
                </a:lnTo>
                <a:close/>
              </a:path>
            </a:pathLst>
          </a:custGeom>
          <a:solidFill>
            <a:srgbClr val="5B6577"/>
          </a:solidFill>
          <a:ln/>
        </p:spPr>
        <p:txBody>
          <a:bodyPr/>
          <a:lstStyle/>
          <a:p>
            <a:endParaRPr lang="es-CL"/>
          </a:p>
        </p:txBody>
      </p:sp>
      <p:sp>
        <p:nvSpPr>
          <p:cNvPr id="40" name="Shape 38"/>
          <p:cNvSpPr/>
          <p:nvPr/>
        </p:nvSpPr>
        <p:spPr>
          <a:xfrm>
            <a:off x="6217685" y="5486400"/>
            <a:ext cx="5422169" cy="731441"/>
          </a:xfrm>
          <a:prstGeom prst="roundRect">
            <a:avLst>
              <a:gd name="adj" fmla="val 18001"/>
            </a:avLst>
          </a:prstGeom>
          <a:solidFill>
            <a:srgbClr val="EEF2F7"/>
          </a:solidFill>
          <a:ln w="12700">
            <a:solidFill>
              <a:srgbClr val="EEF2F7"/>
            </a:solidFill>
            <a:prstDash val="solid"/>
          </a:ln>
        </p:spPr>
        <p:txBody>
          <a:bodyPr/>
          <a:lstStyle/>
          <a:p>
            <a:endParaRPr lang="es-CL"/>
          </a:p>
        </p:txBody>
      </p:sp>
      <p:sp>
        <p:nvSpPr>
          <p:cNvPr id="41" name="Text 39"/>
          <p:cNvSpPr/>
          <p:nvPr/>
        </p:nvSpPr>
        <p:spPr>
          <a:xfrm>
            <a:off x="6446279" y="5624810"/>
            <a:ext cx="4926187" cy="533400"/>
          </a:xfrm>
          <a:prstGeom prst="rect">
            <a:avLst/>
          </a:prstGeom>
          <a:noFill/>
          <a:ln/>
        </p:spPr>
        <p:txBody>
          <a:bodyPr wrap="square" lIns="0" tIns="0" rIns="0" bIns="0" rtlCol="0" anchor="t">
            <a:normAutofit/>
          </a:bodyPr>
          <a:lstStyle/>
          <a:p>
            <a:pPr marL="0" indent="0" algn="l">
              <a:lnSpc>
                <a:spcPct val="125000"/>
              </a:lnSpc>
              <a:buNone/>
            </a:pPr>
            <a:r>
              <a:rPr lang="en-US" sz="1400" b="1" dirty="0">
                <a:solidFill>
                  <a:srgbClr val="0B2A55"/>
                </a:solidFill>
                <a:latin typeface="Carlito Bold" pitchFamily="34" charset="0"/>
                <a:ea typeface="Carlito Bold" pitchFamily="34" charset="-122"/>
                <a:cs typeface="Carlito Bold" pitchFamily="34" charset="-120"/>
              </a:rPr>
              <a:t>Opción A (MVP): </a:t>
            </a:r>
            <a:r>
              <a:rPr lang="en-US" sz="1400" dirty="0">
                <a:solidFill>
                  <a:srgbClr val="1B1F2A"/>
                </a:solidFill>
                <a:latin typeface="Carlito" pitchFamily="34" charset="0"/>
                <a:ea typeface="Carlito" pitchFamily="34" charset="-122"/>
                <a:cs typeface="Carlito" pitchFamily="34" charset="-120"/>
              </a:rPr>
              <a:t>Cloud Run sin redundancia. </a:t>
            </a:r>
            <a:r>
              <a:rPr lang="en-US" sz="1400" b="1" dirty="0">
                <a:solidFill>
                  <a:srgbClr val="0B2A55"/>
                </a:solidFill>
                <a:latin typeface="Carlito Bold" pitchFamily="34" charset="0"/>
                <a:ea typeface="Carlito Bold" pitchFamily="34" charset="-122"/>
                <a:cs typeface="Carlito Bold" pitchFamily="34" charset="-120"/>
              </a:rPr>
              <a:t>Opción B: </a:t>
            </a:r>
            <a:r>
              <a:rPr lang="en-US" sz="1400" dirty="0">
                <a:solidFill>
                  <a:srgbClr val="1B1F2A"/>
                </a:solidFill>
                <a:latin typeface="Carlito" pitchFamily="34" charset="0"/>
                <a:ea typeface="Carlito" pitchFamily="34" charset="-122"/>
                <a:cs typeface="Carlito" pitchFamily="34" charset="-120"/>
              </a:rPr>
              <a:t>alta disponibilidad (proyección)</a:t>
            </a:r>
            <a:endParaRPr lang="en-US" sz="1400" dirty="0"/>
          </a:p>
        </p:txBody>
      </p:sp>
      <p:sp>
        <p:nvSpPr>
          <p:cNvPr id="42" name="Text 40"/>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43" name="Text 41"/>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Modelo de datos en PostgreSQL</a:t>
            </a:r>
            <a:endParaRPr lang="en-US" sz="3400" dirty="0"/>
          </a:p>
        </p:txBody>
      </p:sp>
      <p:sp>
        <p:nvSpPr>
          <p:cNvPr id="3" name="Shape 1"/>
          <p:cNvSpPr/>
          <p:nvPr/>
        </p:nvSpPr>
        <p:spPr>
          <a:xfrm>
            <a:off x="548567" y="1417241"/>
            <a:ext cx="7040684" cy="1005780"/>
          </a:xfrm>
          <a:prstGeom prst="roundRect">
            <a:avLst>
              <a:gd name="adj" fmla="val 13091"/>
            </a:avLst>
          </a:prstGeom>
          <a:solidFill>
            <a:srgbClr val="EEF2F7"/>
          </a:solidFill>
          <a:ln w="12700">
            <a:solidFill>
              <a:srgbClr val="EEF2F7"/>
            </a:solidFill>
            <a:prstDash val="solid"/>
          </a:ln>
        </p:spPr>
        <p:txBody>
          <a:bodyPr/>
          <a:lstStyle/>
          <a:p>
            <a:endParaRPr lang="es-CL"/>
          </a:p>
        </p:txBody>
      </p:sp>
      <p:sp>
        <p:nvSpPr>
          <p:cNvPr id="4" name="Text 2"/>
          <p:cNvSpPr/>
          <p:nvPr/>
        </p:nvSpPr>
        <p:spPr>
          <a:xfrm>
            <a:off x="822900" y="1784350"/>
            <a:ext cx="2164006"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Actores</a:t>
            </a:r>
            <a:endParaRPr lang="en-US" sz="1600" dirty="0"/>
          </a:p>
        </p:txBody>
      </p:sp>
      <p:sp>
        <p:nvSpPr>
          <p:cNvPr id="5" name="Shape 3"/>
          <p:cNvSpPr/>
          <p:nvPr/>
        </p:nvSpPr>
        <p:spPr>
          <a:xfrm>
            <a:off x="2468798" y="1664196"/>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6" name="Text 4"/>
          <p:cNvSpPr/>
          <p:nvPr/>
        </p:nvSpPr>
        <p:spPr>
          <a:xfrm>
            <a:off x="2164006" y="1807170"/>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users</a:t>
            </a:r>
            <a:endParaRPr lang="en-US" sz="1300" dirty="0"/>
          </a:p>
        </p:txBody>
      </p:sp>
      <p:sp>
        <p:nvSpPr>
          <p:cNvPr id="7" name="Shape 5"/>
          <p:cNvSpPr/>
          <p:nvPr/>
        </p:nvSpPr>
        <p:spPr>
          <a:xfrm>
            <a:off x="4114697" y="1664196"/>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8" name="Text 6"/>
          <p:cNvSpPr/>
          <p:nvPr/>
        </p:nvSpPr>
        <p:spPr>
          <a:xfrm>
            <a:off x="3809905" y="1807170"/>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producers</a:t>
            </a:r>
            <a:endParaRPr lang="en-US" sz="1300" dirty="0"/>
          </a:p>
        </p:txBody>
      </p:sp>
      <p:sp>
        <p:nvSpPr>
          <p:cNvPr id="9" name="Shape 7"/>
          <p:cNvSpPr/>
          <p:nvPr/>
        </p:nvSpPr>
        <p:spPr>
          <a:xfrm>
            <a:off x="548567" y="2605980"/>
            <a:ext cx="7040684" cy="1005780"/>
          </a:xfrm>
          <a:prstGeom prst="roundRect">
            <a:avLst>
              <a:gd name="adj" fmla="val 13091"/>
            </a:avLst>
          </a:prstGeom>
          <a:solidFill>
            <a:srgbClr val="EEF2F7"/>
          </a:solidFill>
          <a:ln w="12700">
            <a:solidFill>
              <a:srgbClr val="EEF2F7"/>
            </a:solidFill>
            <a:prstDash val="solid"/>
          </a:ln>
        </p:spPr>
        <p:txBody>
          <a:bodyPr/>
          <a:lstStyle/>
          <a:p>
            <a:endParaRPr lang="es-CL"/>
          </a:p>
        </p:txBody>
      </p:sp>
      <p:sp>
        <p:nvSpPr>
          <p:cNvPr id="10" name="Text 8"/>
          <p:cNvSpPr/>
          <p:nvPr/>
        </p:nvSpPr>
        <p:spPr>
          <a:xfrm>
            <a:off x="822900" y="2972991"/>
            <a:ext cx="2164006"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Catálogo</a:t>
            </a:r>
            <a:endParaRPr lang="en-US" sz="1600" dirty="0"/>
          </a:p>
        </p:txBody>
      </p:sp>
      <p:sp>
        <p:nvSpPr>
          <p:cNvPr id="11" name="Shape 9"/>
          <p:cNvSpPr/>
          <p:nvPr/>
        </p:nvSpPr>
        <p:spPr>
          <a:xfrm>
            <a:off x="2468798" y="2852837"/>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12" name="Text 10"/>
          <p:cNvSpPr/>
          <p:nvPr/>
        </p:nvSpPr>
        <p:spPr>
          <a:xfrm>
            <a:off x="2164006" y="2995910"/>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products</a:t>
            </a:r>
            <a:endParaRPr lang="en-US" sz="1300" dirty="0"/>
          </a:p>
        </p:txBody>
      </p:sp>
      <p:sp>
        <p:nvSpPr>
          <p:cNvPr id="13" name="Shape 11"/>
          <p:cNvSpPr/>
          <p:nvPr/>
        </p:nvSpPr>
        <p:spPr>
          <a:xfrm>
            <a:off x="548567" y="3794720"/>
            <a:ext cx="7040684" cy="1005780"/>
          </a:xfrm>
          <a:prstGeom prst="roundRect">
            <a:avLst>
              <a:gd name="adj" fmla="val 13091"/>
            </a:avLst>
          </a:prstGeom>
          <a:solidFill>
            <a:srgbClr val="EEF2F7"/>
          </a:solidFill>
          <a:ln w="12700">
            <a:solidFill>
              <a:srgbClr val="EEF2F7"/>
            </a:solidFill>
            <a:prstDash val="solid"/>
          </a:ln>
        </p:spPr>
        <p:txBody>
          <a:bodyPr/>
          <a:lstStyle/>
          <a:p>
            <a:endParaRPr lang="es-CL"/>
          </a:p>
        </p:txBody>
      </p:sp>
      <p:sp>
        <p:nvSpPr>
          <p:cNvPr id="14" name="Text 12"/>
          <p:cNvSpPr/>
          <p:nvPr/>
        </p:nvSpPr>
        <p:spPr>
          <a:xfrm>
            <a:off x="822900" y="4161730"/>
            <a:ext cx="2164006"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Compra</a:t>
            </a:r>
            <a:endParaRPr lang="en-US" sz="1600" dirty="0"/>
          </a:p>
        </p:txBody>
      </p:sp>
      <p:sp>
        <p:nvSpPr>
          <p:cNvPr id="15" name="Shape 13"/>
          <p:cNvSpPr/>
          <p:nvPr/>
        </p:nvSpPr>
        <p:spPr>
          <a:xfrm>
            <a:off x="2468798" y="4041577"/>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16" name="Text 14"/>
          <p:cNvSpPr/>
          <p:nvPr/>
        </p:nvSpPr>
        <p:spPr>
          <a:xfrm>
            <a:off x="2164006" y="4184650"/>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orders</a:t>
            </a:r>
            <a:endParaRPr lang="en-US" sz="1300" dirty="0"/>
          </a:p>
        </p:txBody>
      </p:sp>
      <p:sp>
        <p:nvSpPr>
          <p:cNvPr id="17" name="Shape 15"/>
          <p:cNvSpPr/>
          <p:nvPr/>
        </p:nvSpPr>
        <p:spPr>
          <a:xfrm>
            <a:off x="4114697" y="4041577"/>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18" name="Text 16"/>
          <p:cNvSpPr/>
          <p:nvPr/>
        </p:nvSpPr>
        <p:spPr>
          <a:xfrm>
            <a:off x="3809905" y="4184650"/>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order_items</a:t>
            </a:r>
            <a:endParaRPr lang="en-US" sz="1300" dirty="0"/>
          </a:p>
        </p:txBody>
      </p:sp>
      <p:sp>
        <p:nvSpPr>
          <p:cNvPr id="19" name="Shape 17"/>
          <p:cNvSpPr/>
          <p:nvPr/>
        </p:nvSpPr>
        <p:spPr>
          <a:xfrm>
            <a:off x="548567" y="4983460"/>
            <a:ext cx="7040684" cy="1005780"/>
          </a:xfrm>
          <a:prstGeom prst="roundRect">
            <a:avLst>
              <a:gd name="adj" fmla="val 13091"/>
            </a:avLst>
          </a:prstGeom>
          <a:solidFill>
            <a:srgbClr val="EEF2F7"/>
          </a:solidFill>
          <a:ln w="12700">
            <a:solidFill>
              <a:srgbClr val="EEF2F7"/>
            </a:solidFill>
            <a:prstDash val="solid"/>
          </a:ln>
        </p:spPr>
        <p:txBody>
          <a:bodyPr/>
          <a:lstStyle/>
          <a:p>
            <a:endParaRPr lang="es-CL"/>
          </a:p>
        </p:txBody>
      </p:sp>
      <p:sp>
        <p:nvSpPr>
          <p:cNvPr id="20" name="Text 18"/>
          <p:cNvSpPr/>
          <p:nvPr/>
        </p:nvSpPr>
        <p:spPr>
          <a:xfrm>
            <a:off x="822900" y="5350470"/>
            <a:ext cx="2164006"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Pago y entrega</a:t>
            </a:r>
            <a:endParaRPr lang="en-US" sz="1600" dirty="0"/>
          </a:p>
        </p:txBody>
      </p:sp>
      <p:sp>
        <p:nvSpPr>
          <p:cNvPr id="21" name="Shape 19"/>
          <p:cNvSpPr/>
          <p:nvPr/>
        </p:nvSpPr>
        <p:spPr>
          <a:xfrm>
            <a:off x="2468798" y="5230316"/>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22" name="Text 20"/>
          <p:cNvSpPr/>
          <p:nvPr/>
        </p:nvSpPr>
        <p:spPr>
          <a:xfrm>
            <a:off x="2164006" y="5373291"/>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payments</a:t>
            </a:r>
            <a:endParaRPr lang="en-US" sz="1300" dirty="0"/>
          </a:p>
        </p:txBody>
      </p:sp>
      <p:sp>
        <p:nvSpPr>
          <p:cNvPr id="23" name="Shape 21"/>
          <p:cNvSpPr/>
          <p:nvPr/>
        </p:nvSpPr>
        <p:spPr>
          <a:xfrm>
            <a:off x="4114697" y="5230316"/>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24" name="Text 22"/>
          <p:cNvSpPr/>
          <p:nvPr/>
        </p:nvSpPr>
        <p:spPr>
          <a:xfrm>
            <a:off x="3809905" y="5373291"/>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claims</a:t>
            </a:r>
            <a:endParaRPr lang="en-US" sz="1300" dirty="0"/>
          </a:p>
        </p:txBody>
      </p:sp>
      <p:sp>
        <p:nvSpPr>
          <p:cNvPr id="25" name="Shape 23"/>
          <p:cNvSpPr/>
          <p:nvPr/>
        </p:nvSpPr>
        <p:spPr>
          <a:xfrm>
            <a:off x="5760497" y="5230316"/>
            <a:ext cx="1536066" cy="511969"/>
          </a:xfrm>
          <a:prstGeom prst="roundRect">
            <a:avLst>
              <a:gd name="adj" fmla="val 25718"/>
            </a:avLst>
          </a:prstGeom>
          <a:solidFill>
            <a:srgbClr val="0B2A55"/>
          </a:solidFill>
          <a:ln w="12700">
            <a:solidFill>
              <a:srgbClr val="0B2A55"/>
            </a:solidFill>
            <a:prstDash val="solid"/>
          </a:ln>
        </p:spPr>
        <p:txBody>
          <a:bodyPr/>
          <a:lstStyle/>
          <a:p>
            <a:endParaRPr lang="es-CL"/>
          </a:p>
        </p:txBody>
      </p:sp>
      <p:sp>
        <p:nvSpPr>
          <p:cNvPr id="26" name="Text 24"/>
          <p:cNvSpPr/>
          <p:nvPr/>
        </p:nvSpPr>
        <p:spPr>
          <a:xfrm>
            <a:off x="5455704" y="5373291"/>
            <a:ext cx="2145651" cy="247650"/>
          </a:xfrm>
          <a:prstGeom prst="rect">
            <a:avLst/>
          </a:prstGeom>
          <a:noFill/>
          <a:ln/>
        </p:spPr>
        <p:txBody>
          <a:bodyPr wrap="none" lIns="0" tIns="0" rIns="0" bIns="0" rtlCol="0" anchor="t"/>
          <a:lstStyle/>
          <a:p>
            <a:pPr marL="0" indent="0" algn="ctr">
              <a:lnSpc>
                <a:spcPct val="125000"/>
              </a:lnSpc>
              <a:buNone/>
            </a:pPr>
            <a:r>
              <a:rPr lang="en-US" sz="1300" b="1" dirty="0">
                <a:solidFill>
                  <a:srgbClr val="FFFFFF"/>
                </a:solidFill>
                <a:latin typeface="Carlito Bold" pitchFamily="34" charset="0"/>
                <a:ea typeface="Carlito Bold" pitchFamily="34" charset="-122"/>
                <a:cs typeface="Carlito Bold" pitchFamily="34" charset="-120"/>
              </a:rPr>
              <a:t>delivery_tracking</a:t>
            </a:r>
            <a:endParaRPr lang="en-US" sz="1300" dirty="0"/>
          </a:p>
        </p:txBody>
      </p:sp>
      <p:sp>
        <p:nvSpPr>
          <p:cNvPr id="27" name="Text 25"/>
          <p:cNvSpPr/>
          <p:nvPr/>
        </p:nvSpPr>
        <p:spPr>
          <a:xfrm>
            <a:off x="7863584" y="1403350"/>
            <a:ext cx="3776370" cy="304800"/>
          </a:xfrm>
          <a:prstGeom prst="rect">
            <a:avLst/>
          </a:prstGeom>
          <a:noFill/>
          <a:ln/>
        </p:spPr>
        <p:txBody>
          <a:bodyPr wrap="none" lIns="0" tIns="0" rIns="0" bIns="0" rtlCol="0" anchor="t"/>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Reglas de integridad</a:t>
            </a:r>
            <a:endParaRPr lang="en-US" sz="2000" dirty="0"/>
          </a:p>
        </p:txBody>
      </p:sp>
      <p:sp>
        <p:nvSpPr>
          <p:cNvPr id="28" name="Text 26"/>
          <p:cNvSpPr/>
          <p:nvPr/>
        </p:nvSpPr>
        <p:spPr>
          <a:xfrm>
            <a:off x="7863584" y="1847088"/>
            <a:ext cx="3725571" cy="1508760"/>
          </a:xfrm>
          <a:prstGeom prst="rect">
            <a:avLst/>
          </a:prstGeom>
          <a:noFill/>
          <a:ln/>
        </p:spPr>
        <p:txBody>
          <a:bodyPr wrap="square" lIns="0" tIns="0" rIns="0" bIns="0" rtlCol="0" anchor="t">
            <a:noAutofit/>
          </a:bodyPr>
          <a:lstStyle/>
          <a:p>
            <a:pPr marL="343408" indent="-343408" algn="l">
              <a:lnSpc>
                <a:spcPct val="100000"/>
              </a:lnSpc>
              <a:spcAft>
                <a:spcPts val="0"/>
              </a:spcAft>
              <a:buSzPct val="100000"/>
              <a:buChar char="•"/>
            </a:pPr>
            <a:r>
              <a:rPr sz="1600">
                <a:solidFill>
                  <a:srgbClr val="1B1F2A"/>
                </a:solidFill>
                <a:latin typeface="Carlito"/>
              </a:rPr>
              <a:t>buy_order y token_ws únicos: sin pagos duplicados</a:t>
            </a:r>
            <a:endParaRPr lang="en-US" sz="1600" dirty="0"/>
          </a:p>
          <a:p>
            <a:pPr marL="343408" indent="-343408" algn="l">
              <a:lnSpc>
                <a:spcPct val="100000"/>
              </a:lnSpc>
              <a:spcAft>
                <a:spcPts val="0"/>
              </a:spcAft>
              <a:buSzPct val="100000"/>
              <a:buChar char="•"/>
            </a:pPr>
            <a:r>
              <a:rPr sz="1600">
                <a:solidFill>
                  <a:srgbClr val="1B1F2A"/>
                </a:solidFill>
                <a:latin typeface="Carlito"/>
              </a:rPr>
              <a:t>Eliminación lógica, sin DELETE físico</a:t>
            </a:r>
            <a:endParaRPr lang="en-US" sz="1600" dirty="0"/>
          </a:p>
          <a:p>
            <a:pPr marL="343408" indent="-343408" algn="l">
              <a:lnSpc>
                <a:spcPct val="100000"/>
              </a:lnSpc>
              <a:spcAft>
                <a:spcPts val="0"/>
              </a:spcAft>
              <a:buSzPct val="100000"/>
              <a:buChar char="•"/>
            </a:pPr>
            <a:r>
              <a:rPr sz="1600">
                <a:solidFill>
                  <a:srgbClr val="1B1F2A"/>
                </a:solidFill>
                <a:latin typeface="Carlito"/>
              </a:rPr>
              <a:t>RLS y policies: cada rol ve solo lo suyo</a:t>
            </a:r>
            <a:endParaRPr lang="en-US" sz="1600" dirty="0"/>
          </a:p>
          <a:p>
            <a:pPr marL="343408" indent="-343408" algn="l">
              <a:lnSpc>
                <a:spcPct val="100000"/>
              </a:lnSpc>
              <a:spcAft>
                <a:spcPts val="0"/>
              </a:spcAft>
              <a:buSzPct val="100000"/>
              <a:buChar char="•"/>
            </a:pPr>
            <a:r>
              <a:rPr sz="1600">
                <a:solidFill>
                  <a:srgbClr val="1B1F2A"/>
                </a:solidFill>
                <a:latin typeface="Carlito"/>
              </a:rPr>
              <a:t>Stock validado con SELECT FOR UPDATE</a:t>
            </a:r>
            <a:endParaRPr lang="en-US" sz="1600" dirty="0"/>
          </a:p>
        </p:txBody>
      </p:sp>
      <p:sp>
        <p:nvSpPr>
          <p:cNvPr id="29" name="Shape 27"/>
          <p:cNvSpPr/>
          <p:nvPr/>
        </p:nvSpPr>
        <p:spPr>
          <a:xfrm>
            <a:off x="7863584" y="4882896"/>
            <a:ext cx="3776370" cy="658368"/>
          </a:xfrm>
          <a:prstGeom prst="roundRect">
            <a:avLst>
              <a:gd name="adj" fmla="val 11520"/>
            </a:avLst>
          </a:prstGeom>
          <a:solidFill>
            <a:srgbClr val="EEF2F7"/>
          </a:solidFill>
          <a:ln w="12700">
            <a:solidFill>
              <a:srgbClr val="EEF2F7"/>
            </a:solidFill>
            <a:prstDash val="solid"/>
          </a:ln>
        </p:spPr>
        <p:txBody>
          <a:bodyPr>
            <a:noAutofit/>
          </a:bodyPr>
          <a:lstStyle/>
          <a:p>
            <a:pPr algn="l">
              <a:lnSpc>
                <a:spcPct val="100000"/>
              </a:lnSpc>
              <a:spcAft>
                <a:spcPts val="100"/>
              </a:spcAft>
            </a:pPr>
            <a:r>
              <a:rPr sz="1200" b="1">
                <a:solidFill>
                  <a:srgbClr val="0B2A55"/>
                </a:solidFill>
                <a:latin typeface="Carlito"/>
              </a:rPr>
              <a:t>Rediseñado · modelo revisado y actualizado</a:t>
            </a:r>
            <a:endParaRPr lang="es-CL"/>
          </a:p>
          <a:p>
            <a:pPr algn="l">
              <a:lnSpc>
                <a:spcPct val="100000"/>
              </a:lnSpc>
              <a:spcAft>
                <a:spcPts val="100"/>
              </a:spcAft>
            </a:pPr>
            <a:r>
              <a:rPr sz="1150">
                <a:solidFill>
                  <a:srgbClr val="1B1F2A"/>
                </a:solidFill>
                <a:latin typeface="Carlito"/>
              </a:rPr>
              <a:t>No es una propuesta: está rediseñado sobre el alcance final; queda ejecutar la migración.</a:t>
            </a:r>
          </a:p>
        </p:txBody>
      </p:sp>
      <p:sp>
        <p:nvSpPr>
          <p:cNvPr id="30" name="Shape 28"/>
          <p:cNvSpPr/>
          <p:nvPr/>
        </p:nvSpPr>
        <p:spPr>
          <a:xfrm>
            <a:off x="10497372" y="320040"/>
            <a:ext cx="867314" cy="867333"/>
          </a:xfrm>
          <a:prstGeom prst="ellipse">
            <a:avLst/>
          </a:prstGeom>
          <a:solidFill>
            <a:srgbClr val="C27C0E"/>
          </a:solidFill>
          <a:ln w="12700">
            <a:solidFill>
              <a:srgbClr val="C27C0E"/>
            </a:solidFill>
            <a:prstDash val="solid"/>
          </a:ln>
        </p:spPr>
        <p:txBody>
          <a:bodyPr/>
          <a:lstStyle/>
          <a:p>
            <a:endParaRPr lang="es-CL"/>
          </a:p>
        </p:txBody>
      </p:sp>
      <p:sp>
        <p:nvSpPr>
          <p:cNvPr id="32" name="Text 30"/>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33" name="Text 31"/>
          <p:cNvSpPr/>
          <p:nvPr/>
        </p:nvSpPr>
        <p:spPr>
          <a:xfrm>
            <a:off x="11484283" y="6445845"/>
            <a:ext cx="673976"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Alcance: 22 requerimientos</a:t>
            </a:r>
            <a:endParaRPr lang="en-US" sz="3400" dirty="0"/>
          </a:p>
        </p:txBody>
      </p:sp>
      <p:sp>
        <p:nvSpPr>
          <p:cNvPr id="3" name="Shape 1"/>
          <p:cNvSpPr/>
          <p:nvPr/>
        </p:nvSpPr>
        <p:spPr>
          <a:xfrm>
            <a:off x="548567" y="1417241"/>
            <a:ext cx="2377321" cy="2194520"/>
          </a:xfrm>
          <a:prstGeom prst="roundRect">
            <a:avLst>
              <a:gd name="adj" fmla="val 6000"/>
            </a:avLst>
          </a:prstGeom>
          <a:solidFill>
            <a:srgbClr val="EEF2F7"/>
          </a:solidFill>
          <a:ln w="12700">
            <a:solidFill>
              <a:srgbClr val="EEF2F7"/>
            </a:solidFill>
            <a:prstDash val="solid"/>
          </a:ln>
        </p:spPr>
        <p:txBody>
          <a:bodyPr/>
          <a:lstStyle/>
          <a:p>
            <a:endParaRPr lang="es-CL"/>
          </a:p>
        </p:txBody>
      </p:sp>
      <p:sp>
        <p:nvSpPr>
          <p:cNvPr id="4" name="Text 2"/>
          <p:cNvSpPr/>
          <p:nvPr/>
        </p:nvSpPr>
        <p:spPr>
          <a:xfrm>
            <a:off x="822900" y="1624013"/>
            <a:ext cx="1097233" cy="609600"/>
          </a:xfrm>
          <a:prstGeom prst="rect">
            <a:avLst/>
          </a:prstGeom>
          <a:noFill/>
          <a:ln/>
        </p:spPr>
        <p:txBody>
          <a:bodyPr wrap="none" lIns="0" tIns="0" rIns="0" bIns="0" rtlCol="0" anchor="t"/>
          <a:lstStyle/>
          <a:p>
            <a:pPr marL="0" indent="0" algn="l">
              <a:lnSpc>
                <a:spcPct val="100000"/>
              </a:lnSpc>
              <a:buNone/>
            </a:pPr>
            <a:r>
              <a:rPr lang="en-US" sz="4000" b="1" dirty="0">
                <a:solidFill>
                  <a:srgbClr val="0B2A55"/>
                </a:solidFill>
                <a:latin typeface="Carlito Bold" pitchFamily="34" charset="0"/>
                <a:ea typeface="Carlito Bold" pitchFamily="34" charset="-122"/>
                <a:cs typeface="Carlito Bold" pitchFamily="34" charset="-120"/>
              </a:rPr>
              <a:t>5</a:t>
            </a:r>
            <a:endParaRPr lang="en-US" sz="4000" dirty="0"/>
          </a:p>
        </p:txBody>
      </p:sp>
      <p:sp>
        <p:nvSpPr>
          <p:cNvPr id="5" name="Text 3"/>
          <p:cNvSpPr/>
          <p:nvPr/>
        </p:nvSpPr>
        <p:spPr>
          <a:xfrm>
            <a:off x="822900" y="2272010"/>
            <a:ext cx="24383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Acceso y cuentas</a:t>
            </a:r>
            <a:endParaRPr lang="en-US" sz="1600" dirty="0"/>
          </a:p>
        </p:txBody>
      </p:sp>
      <p:sp>
        <p:nvSpPr>
          <p:cNvPr id="6" name="Text 4"/>
          <p:cNvSpPr/>
          <p:nvPr/>
        </p:nvSpPr>
        <p:spPr>
          <a:xfrm>
            <a:off x="822900" y="2645350"/>
            <a:ext cx="1771606" cy="792163"/>
          </a:xfrm>
          <a:prstGeom prst="rect">
            <a:avLst/>
          </a:prstGeom>
          <a:noFill/>
          <a:ln/>
        </p:spPr>
        <p:txBody>
          <a:bodyPr wrap="square" lIns="0" tIns="0" rIns="0" bIns="0" rtlCol="0" anchor="t">
            <a:normAutofit lnSpcReduction="10000"/>
          </a:bodyPr>
          <a:lstStyle/>
          <a:p>
            <a:pPr marL="0" indent="0" algn="l">
              <a:lnSpc>
                <a:spcPct val="100000"/>
              </a:lnSpc>
              <a:buNone/>
            </a:pPr>
            <a:r>
              <a:rPr lang="en-US" sz="1300" dirty="0">
                <a:solidFill>
                  <a:srgbClr val="1B1F2A"/>
                </a:solidFill>
                <a:latin typeface="Carlito" pitchFamily="34" charset="0"/>
                <a:ea typeface="Carlito" pitchFamily="34" charset="-122"/>
                <a:cs typeface="Carlito" pitchFamily="34" charset="-120"/>
              </a:rPr>
              <a:t>Login multirrol, registro de Cliente y Vendedor, recuperar y cambiar contraseña</a:t>
            </a:r>
            <a:endParaRPr lang="en-US" sz="1300" dirty="0"/>
          </a:p>
        </p:txBody>
      </p:sp>
      <p:sp>
        <p:nvSpPr>
          <p:cNvPr id="7" name="Shape 5"/>
          <p:cNvSpPr/>
          <p:nvPr/>
        </p:nvSpPr>
        <p:spPr>
          <a:xfrm>
            <a:off x="3154581" y="1417241"/>
            <a:ext cx="2377321" cy="2194520"/>
          </a:xfrm>
          <a:prstGeom prst="roundRect">
            <a:avLst>
              <a:gd name="adj" fmla="val 6000"/>
            </a:avLst>
          </a:prstGeom>
          <a:solidFill>
            <a:srgbClr val="EEF2F7"/>
          </a:solidFill>
          <a:ln w="12700">
            <a:solidFill>
              <a:srgbClr val="EEF2F7"/>
            </a:solidFill>
            <a:prstDash val="solid"/>
          </a:ln>
        </p:spPr>
        <p:txBody>
          <a:bodyPr/>
          <a:lstStyle/>
          <a:p>
            <a:endParaRPr lang="es-CL"/>
          </a:p>
        </p:txBody>
      </p:sp>
      <p:sp>
        <p:nvSpPr>
          <p:cNvPr id="8" name="Text 6"/>
          <p:cNvSpPr/>
          <p:nvPr/>
        </p:nvSpPr>
        <p:spPr>
          <a:xfrm>
            <a:off x="3428914" y="1624013"/>
            <a:ext cx="1097233" cy="609600"/>
          </a:xfrm>
          <a:prstGeom prst="rect">
            <a:avLst/>
          </a:prstGeom>
          <a:noFill/>
          <a:ln/>
        </p:spPr>
        <p:txBody>
          <a:bodyPr wrap="none" lIns="0" tIns="0" rIns="0" bIns="0" rtlCol="0" anchor="t"/>
          <a:lstStyle/>
          <a:p>
            <a:pPr marL="0" indent="0" algn="l">
              <a:lnSpc>
                <a:spcPct val="100000"/>
              </a:lnSpc>
              <a:buNone/>
            </a:pPr>
            <a:r>
              <a:rPr lang="en-US" sz="4000" b="1" dirty="0">
                <a:solidFill>
                  <a:srgbClr val="0B2A55"/>
                </a:solidFill>
                <a:latin typeface="Carlito Bold" pitchFamily="34" charset="0"/>
                <a:ea typeface="Carlito Bold" pitchFamily="34" charset="-122"/>
                <a:cs typeface="Carlito Bold" pitchFamily="34" charset="-120"/>
              </a:rPr>
              <a:t>3</a:t>
            </a:r>
            <a:endParaRPr lang="en-US" sz="4000" dirty="0"/>
          </a:p>
        </p:txBody>
      </p:sp>
      <p:sp>
        <p:nvSpPr>
          <p:cNvPr id="9" name="Text 7"/>
          <p:cNvSpPr/>
          <p:nvPr/>
        </p:nvSpPr>
        <p:spPr>
          <a:xfrm>
            <a:off x="3428914" y="2272010"/>
            <a:ext cx="24383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Catálogo y compra</a:t>
            </a:r>
            <a:endParaRPr lang="en-US" sz="1600" dirty="0"/>
          </a:p>
        </p:txBody>
      </p:sp>
      <p:sp>
        <p:nvSpPr>
          <p:cNvPr id="10" name="Text 8"/>
          <p:cNvSpPr/>
          <p:nvPr/>
        </p:nvSpPr>
        <p:spPr>
          <a:xfrm>
            <a:off x="3428914" y="2645350"/>
            <a:ext cx="1771606" cy="594122"/>
          </a:xfrm>
          <a:prstGeom prst="rect">
            <a:avLst/>
          </a:prstGeom>
          <a:noFill/>
          <a:ln/>
        </p:spPr>
        <p:txBody>
          <a:bodyPr wrap="square" lIns="0" tIns="0" rIns="0" bIns="0" rtlCol="0" anchor="t">
            <a:normAutofit lnSpcReduction="10000"/>
          </a:bodyPr>
          <a:lstStyle/>
          <a:p>
            <a:pPr marL="0" indent="0" algn="l">
              <a:lnSpc>
                <a:spcPct val="100000"/>
              </a:lnSpc>
              <a:buNone/>
            </a:pPr>
            <a:r>
              <a:rPr lang="en-US" sz="1300" dirty="0">
                <a:solidFill>
                  <a:srgbClr val="1B1F2A"/>
                </a:solidFill>
                <a:latin typeface="Carlito" pitchFamily="34" charset="0"/>
                <a:ea typeface="Carlito" pitchFamily="34" charset="-122"/>
                <a:cs typeface="Carlito" pitchFamily="34" charset="-120"/>
              </a:rPr>
              <a:t>Navegación sin cuenta, carrito, checkout y venta por región</a:t>
            </a:r>
            <a:endParaRPr lang="en-US" sz="1300" dirty="0"/>
          </a:p>
        </p:txBody>
      </p:sp>
      <p:sp>
        <p:nvSpPr>
          <p:cNvPr id="11" name="Shape 9"/>
          <p:cNvSpPr/>
          <p:nvPr/>
        </p:nvSpPr>
        <p:spPr>
          <a:xfrm>
            <a:off x="5760497" y="1417241"/>
            <a:ext cx="2377321" cy="2194520"/>
          </a:xfrm>
          <a:prstGeom prst="roundRect">
            <a:avLst>
              <a:gd name="adj" fmla="val 6000"/>
            </a:avLst>
          </a:prstGeom>
          <a:solidFill>
            <a:srgbClr val="EEF2F7"/>
          </a:solidFill>
          <a:ln w="12700">
            <a:solidFill>
              <a:srgbClr val="EEF2F7"/>
            </a:solidFill>
            <a:prstDash val="solid"/>
          </a:ln>
        </p:spPr>
        <p:txBody>
          <a:bodyPr/>
          <a:lstStyle/>
          <a:p>
            <a:endParaRPr lang="es-CL"/>
          </a:p>
        </p:txBody>
      </p:sp>
      <p:sp>
        <p:nvSpPr>
          <p:cNvPr id="12" name="Text 10"/>
          <p:cNvSpPr/>
          <p:nvPr/>
        </p:nvSpPr>
        <p:spPr>
          <a:xfrm>
            <a:off x="6034829" y="1624013"/>
            <a:ext cx="1097233" cy="609600"/>
          </a:xfrm>
          <a:prstGeom prst="rect">
            <a:avLst/>
          </a:prstGeom>
          <a:noFill/>
          <a:ln/>
        </p:spPr>
        <p:txBody>
          <a:bodyPr wrap="none" lIns="0" tIns="0" rIns="0" bIns="0" rtlCol="0" anchor="t"/>
          <a:lstStyle/>
          <a:p>
            <a:pPr marL="0" indent="0" algn="l">
              <a:lnSpc>
                <a:spcPct val="100000"/>
              </a:lnSpc>
              <a:buNone/>
            </a:pPr>
            <a:r>
              <a:rPr lang="en-US" sz="4000" b="1" dirty="0">
                <a:solidFill>
                  <a:srgbClr val="0B2A55"/>
                </a:solidFill>
                <a:latin typeface="Carlito Bold" pitchFamily="34" charset="0"/>
                <a:ea typeface="Carlito Bold" pitchFamily="34" charset="-122"/>
                <a:cs typeface="Carlito Bold" pitchFamily="34" charset="-120"/>
              </a:rPr>
              <a:t>2</a:t>
            </a:r>
            <a:endParaRPr lang="en-US" sz="4000" dirty="0"/>
          </a:p>
        </p:txBody>
      </p:sp>
      <p:sp>
        <p:nvSpPr>
          <p:cNvPr id="13" name="Text 11"/>
          <p:cNvSpPr/>
          <p:nvPr/>
        </p:nvSpPr>
        <p:spPr>
          <a:xfrm>
            <a:off x="6034829" y="2272010"/>
            <a:ext cx="24383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Tienda del Vendedor</a:t>
            </a:r>
            <a:endParaRPr lang="en-US" sz="1600" dirty="0"/>
          </a:p>
        </p:txBody>
      </p:sp>
      <p:sp>
        <p:nvSpPr>
          <p:cNvPr id="14" name="Text 12"/>
          <p:cNvSpPr/>
          <p:nvPr/>
        </p:nvSpPr>
        <p:spPr>
          <a:xfrm>
            <a:off x="6034829" y="2637730"/>
            <a:ext cx="1771606" cy="495300"/>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1B1F2A"/>
                </a:solidFill>
                <a:latin typeface="Carlito" pitchFamily="34" charset="0"/>
                <a:ea typeface="Carlito" pitchFamily="34" charset="-122"/>
                <a:cs typeface="Carlito" pitchFamily="34" charset="-120"/>
              </a:rPr>
              <a:t>Productos, stock y pedidos recibidos</a:t>
            </a:r>
            <a:endParaRPr lang="en-US" sz="1300" dirty="0"/>
          </a:p>
        </p:txBody>
      </p:sp>
      <p:sp>
        <p:nvSpPr>
          <p:cNvPr id="15" name="Shape 13"/>
          <p:cNvSpPr/>
          <p:nvPr/>
        </p:nvSpPr>
        <p:spPr>
          <a:xfrm>
            <a:off x="548567" y="3840460"/>
            <a:ext cx="2377321" cy="2194520"/>
          </a:xfrm>
          <a:prstGeom prst="roundRect">
            <a:avLst>
              <a:gd name="adj" fmla="val 6000"/>
            </a:avLst>
          </a:prstGeom>
          <a:solidFill>
            <a:srgbClr val="EEF2F7"/>
          </a:solidFill>
          <a:ln w="12700">
            <a:solidFill>
              <a:srgbClr val="EEF2F7"/>
            </a:solidFill>
            <a:prstDash val="solid"/>
          </a:ln>
        </p:spPr>
        <p:txBody>
          <a:bodyPr/>
          <a:lstStyle/>
          <a:p>
            <a:endParaRPr lang="es-CL"/>
          </a:p>
        </p:txBody>
      </p:sp>
      <p:sp>
        <p:nvSpPr>
          <p:cNvPr id="16" name="Text 14"/>
          <p:cNvSpPr/>
          <p:nvPr/>
        </p:nvSpPr>
        <p:spPr>
          <a:xfrm>
            <a:off x="822900" y="4047133"/>
            <a:ext cx="1097233" cy="609600"/>
          </a:xfrm>
          <a:prstGeom prst="rect">
            <a:avLst/>
          </a:prstGeom>
          <a:noFill/>
          <a:ln/>
        </p:spPr>
        <p:txBody>
          <a:bodyPr wrap="none" lIns="0" tIns="0" rIns="0" bIns="0" rtlCol="0" anchor="t"/>
          <a:lstStyle/>
          <a:p>
            <a:pPr marL="0" indent="0" algn="l">
              <a:lnSpc>
                <a:spcPct val="100000"/>
              </a:lnSpc>
              <a:buNone/>
            </a:pPr>
            <a:r>
              <a:rPr lang="en-US" sz="4000" b="1" dirty="0">
                <a:solidFill>
                  <a:srgbClr val="0B2A55"/>
                </a:solidFill>
                <a:latin typeface="Carlito Bold" pitchFamily="34" charset="0"/>
                <a:ea typeface="Carlito Bold" pitchFamily="34" charset="-122"/>
                <a:cs typeface="Carlito Bold" pitchFamily="34" charset="-120"/>
              </a:rPr>
              <a:t>2</a:t>
            </a:r>
            <a:endParaRPr lang="en-US" sz="4000" dirty="0"/>
          </a:p>
        </p:txBody>
      </p:sp>
      <p:sp>
        <p:nvSpPr>
          <p:cNvPr id="17" name="Text 15"/>
          <p:cNvSpPr/>
          <p:nvPr/>
        </p:nvSpPr>
        <p:spPr>
          <a:xfrm>
            <a:off x="822900" y="4695130"/>
            <a:ext cx="24383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Pago y dispersión</a:t>
            </a:r>
            <a:endParaRPr lang="en-US" sz="1600" dirty="0"/>
          </a:p>
        </p:txBody>
      </p:sp>
      <p:sp>
        <p:nvSpPr>
          <p:cNvPr id="18" name="Text 16"/>
          <p:cNvSpPr/>
          <p:nvPr/>
        </p:nvSpPr>
        <p:spPr>
          <a:xfrm>
            <a:off x="822900" y="5068570"/>
            <a:ext cx="1771606" cy="594122"/>
          </a:xfrm>
          <a:prstGeom prst="rect">
            <a:avLst/>
          </a:prstGeom>
          <a:noFill/>
          <a:ln/>
        </p:spPr>
        <p:txBody>
          <a:bodyPr wrap="square" lIns="0" tIns="0" rIns="0" bIns="0" rtlCol="0" anchor="t">
            <a:normAutofit lnSpcReduction="10000"/>
          </a:bodyPr>
          <a:lstStyle/>
          <a:p>
            <a:pPr marL="0" indent="0" algn="l">
              <a:lnSpc>
                <a:spcPct val="100000"/>
              </a:lnSpc>
              <a:buNone/>
            </a:pPr>
            <a:r>
              <a:rPr lang="en-US" sz="1300" dirty="0">
                <a:solidFill>
                  <a:srgbClr val="1B1F2A"/>
                </a:solidFill>
                <a:latin typeface="Carlito" pitchFamily="34" charset="0"/>
                <a:ea typeface="Carlito" pitchFamily="34" charset="-122"/>
                <a:cs typeface="Carlito" pitchFamily="34" charset="-120"/>
              </a:rPr>
              <a:t>Webpay Mall: la pasarela dispersa el pago y descuenta el fee</a:t>
            </a:r>
            <a:endParaRPr lang="en-US" sz="1300" dirty="0"/>
          </a:p>
        </p:txBody>
      </p:sp>
      <p:sp>
        <p:nvSpPr>
          <p:cNvPr id="19" name="Shape 17"/>
          <p:cNvSpPr/>
          <p:nvPr/>
        </p:nvSpPr>
        <p:spPr>
          <a:xfrm>
            <a:off x="3154581" y="3840460"/>
            <a:ext cx="2377321" cy="2194520"/>
          </a:xfrm>
          <a:prstGeom prst="roundRect">
            <a:avLst>
              <a:gd name="adj" fmla="val 6000"/>
            </a:avLst>
          </a:prstGeom>
          <a:solidFill>
            <a:srgbClr val="EEF2F7"/>
          </a:solidFill>
          <a:ln w="12700">
            <a:solidFill>
              <a:srgbClr val="EEF2F7"/>
            </a:solidFill>
            <a:prstDash val="solid"/>
          </a:ln>
        </p:spPr>
        <p:txBody>
          <a:bodyPr/>
          <a:lstStyle/>
          <a:p>
            <a:endParaRPr lang="es-CL"/>
          </a:p>
        </p:txBody>
      </p:sp>
      <p:sp>
        <p:nvSpPr>
          <p:cNvPr id="20" name="Text 18"/>
          <p:cNvSpPr/>
          <p:nvPr/>
        </p:nvSpPr>
        <p:spPr>
          <a:xfrm>
            <a:off x="3428914" y="4047133"/>
            <a:ext cx="1097233" cy="609600"/>
          </a:xfrm>
          <a:prstGeom prst="rect">
            <a:avLst/>
          </a:prstGeom>
          <a:noFill/>
          <a:ln/>
        </p:spPr>
        <p:txBody>
          <a:bodyPr wrap="none" lIns="0" tIns="0" rIns="0" bIns="0" rtlCol="0" anchor="t"/>
          <a:lstStyle/>
          <a:p>
            <a:pPr marL="0" indent="0" algn="l">
              <a:lnSpc>
                <a:spcPct val="100000"/>
              </a:lnSpc>
              <a:buNone/>
            </a:pPr>
            <a:r>
              <a:rPr lang="en-US" sz="4000" b="1" dirty="0">
                <a:solidFill>
                  <a:srgbClr val="0B2A55"/>
                </a:solidFill>
                <a:latin typeface="Carlito Bold" pitchFamily="34" charset="0"/>
                <a:ea typeface="Carlito Bold" pitchFamily="34" charset="-122"/>
                <a:cs typeface="Carlito Bold" pitchFamily="34" charset="-120"/>
              </a:rPr>
              <a:t>5</a:t>
            </a:r>
            <a:endParaRPr lang="en-US" sz="4000" dirty="0"/>
          </a:p>
        </p:txBody>
      </p:sp>
      <p:sp>
        <p:nvSpPr>
          <p:cNvPr id="21" name="Text 19"/>
          <p:cNvSpPr/>
          <p:nvPr/>
        </p:nvSpPr>
        <p:spPr>
          <a:xfrm>
            <a:off x="3428914" y="4695130"/>
            <a:ext cx="24383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Entrega y confianza</a:t>
            </a:r>
            <a:endParaRPr lang="en-US" sz="1600" dirty="0"/>
          </a:p>
        </p:txBody>
      </p:sp>
      <p:sp>
        <p:nvSpPr>
          <p:cNvPr id="22" name="Text 20"/>
          <p:cNvSpPr/>
          <p:nvPr/>
        </p:nvSpPr>
        <p:spPr>
          <a:xfrm>
            <a:off x="3428914" y="5068570"/>
            <a:ext cx="1771606" cy="594122"/>
          </a:xfrm>
          <a:prstGeom prst="rect">
            <a:avLst/>
          </a:prstGeom>
          <a:noFill/>
          <a:ln/>
        </p:spPr>
        <p:txBody>
          <a:bodyPr wrap="square" lIns="0" tIns="0" rIns="0" bIns="0" rtlCol="0" anchor="t">
            <a:normAutofit lnSpcReduction="10000"/>
          </a:bodyPr>
          <a:lstStyle/>
          <a:p>
            <a:pPr marL="0" indent="0" algn="l">
              <a:lnSpc>
                <a:spcPct val="100000"/>
              </a:lnSpc>
              <a:buNone/>
            </a:pPr>
            <a:r>
              <a:rPr lang="en-US" sz="1300" dirty="0">
                <a:solidFill>
                  <a:srgbClr val="1B1F2A"/>
                </a:solidFill>
                <a:latin typeface="Carlito" pitchFamily="34" charset="0"/>
                <a:ea typeface="Carlito" pitchFamily="34" charset="-122"/>
                <a:cs typeface="Carlito" pitchFamily="34" charset="-120"/>
              </a:rPr>
              <a:t>Estados con código, calificación 1 a 5, reclamos y sanciones</a:t>
            </a:r>
            <a:endParaRPr lang="en-US" sz="1300" dirty="0"/>
          </a:p>
        </p:txBody>
      </p:sp>
      <p:sp>
        <p:nvSpPr>
          <p:cNvPr id="23" name="Shape 21"/>
          <p:cNvSpPr/>
          <p:nvPr/>
        </p:nvSpPr>
        <p:spPr>
          <a:xfrm>
            <a:off x="5760497" y="3840460"/>
            <a:ext cx="2377321" cy="2194520"/>
          </a:xfrm>
          <a:prstGeom prst="roundRect">
            <a:avLst>
              <a:gd name="adj" fmla="val 6000"/>
            </a:avLst>
          </a:prstGeom>
          <a:solidFill>
            <a:srgbClr val="EEF2F7"/>
          </a:solidFill>
          <a:ln w="12700">
            <a:solidFill>
              <a:srgbClr val="EEF2F7"/>
            </a:solidFill>
            <a:prstDash val="solid"/>
          </a:ln>
        </p:spPr>
        <p:txBody>
          <a:bodyPr/>
          <a:lstStyle/>
          <a:p>
            <a:endParaRPr lang="es-CL"/>
          </a:p>
        </p:txBody>
      </p:sp>
      <p:sp>
        <p:nvSpPr>
          <p:cNvPr id="24" name="Text 22"/>
          <p:cNvSpPr/>
          <p:nvPr/>
        </p:nvSpPr>
        <p:spPr>
          <a:xfrm>
            <a:off x="6034829" y="4047133"/>
            <a:ext cx="1097233" cy="609600"/>
          </a:xfrm>
          <a:prstGeom prst="rect">
            <a:avLst/>
          </a:prstGeom>
          <a:noFill/>
          <a:ln/>
        </p:spPr>
        <p:txBody>
          <a:bodyPr wrap="none" lIns="0" tIns="0" rIns="0" bIns="0" rtlCol="0" anchor="t"/>
          <a:lstStyle/>
          <a:p>
            <a:pPr marL="0" indent="0" algn="l">
              <a:lnSpc>
                <a:spcPct val="100000"/>
              </a:lnSpc>
              <a:buNone/>
            </a:pPr>
            <a:r>
              <a:rPr lang="en-US" sz="4000" b="1" dirty="0">
                <a:solidFill>
                  <a:srgbClr val="0B2A55"/>
                </a:solidFill>
                <a:latin typeface="Carlito Bold" pitchFamily="34" charset="0"/>
                <a:ea typeface="Carlito Bold" pitchFamily="34" charset="-122"/>
                <a:cs typeface="Carlito Bold" pitchFamily="34" charset="-120"/>
              </a:rPr>
              <a:t>5</a:t>
            </a:r>
            <a:endParaRPr lang="en-US" sz="4000" dirty="0"/>
          </a:p>
        </p:txBody>
      </p:sp>
      <p:sp>
        <p:nvSpPr>
          <p:cNvPr id="25" name="Text 23"/>
          <p:cNvSpPr/>
          <p:nvPr/>
        </p:nvSpPr>
        <p:spPr>
          <a:xfrm>
            <a:off x="6034829" y="4695130"/>
            <a:ext cx="2438339"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Administración</a:t>
            </a:r>
            <a:endParaRPr lang="en-US" sz="1600" dirty="0"/>
          </a:p>
        </p:txBody>
      </p:sp>
      <p:sp>
        <p:nvSpPr>
          <p:cNvPr id="26" name="Text 24"/>
          <p:cNvSpPr/>
          <p:nvPr/>
        </p:nvSpPr>
        <p:spPr>
          <a:xfrm>
            <a:off x="6034829" y="5068570"/>
            <a:ext cx="1771606" cy="594122"/>
          </a:xfrm>
          <a:prstGeom prst="rect">
            <a:avLst/>
          </a:prstGeom>
          <a:noFill/>
          <a:ln/>
        </p:spPr>
        <p:txBody>
          <a:bodyPr wrap="square" lIns="0" tIns="0" rIns="0" bIns="0" rtlCol="0" anchor="t">
            <a:normAutofit lnSpcReduction="10000"/>
          </a:bodyPr>
          <a:lstStyle/>
          <a:p>
            <a:pPr marL="0" indent="0" algn="l">
              <a:lnSpc>
                <a:spcPct val="100000"/>
              </a:lnSpc>
              <a:buNone/>
            </a:pPr>
            <a:r>
              <a:rPr lang="en-US" sz="1300" dirty="0">
                <a:solidFill>
                  <a:srgbClr val="1B1F2A"/>
                </a:solidFill>
                <a:latin typeface="Carlito" pitchFamily="34" charset="0"/>
                <a:ea typeface="Carlito" pitchFamily="34" charset="-122"/>
                <a:cs typeface="Carlito" pitchFamily="34" charset="-120"/>
              </a:rPr>
              <a:t>Usuarios, productos, dashboard, correos y validaciones</a:t>
            </a:r>
            <a:endParaRPr lang="en-US" sz="1300" dirty="0"/>
          </a:p>
        </p:txBody>
      </p:sp>
      <p:sp>
        <p:nvSpPr>
          <p:cNvPr id="27" name="Shape 25"/>
          <p:cNvSpPr/>
          <p:nvPr/>
        </p:nvSpPr>
        <p:spPr>
          <a:xfrm>
            <a:off x="8412250" y="1417241"/>
            <a:ext cx="3227704" cy="4617641"/>
          </a:xfrm>
          <a:prstGeom prst="roundRect">
            <a:avLst>
              <a:gd name="adj" fmla="val 4079"/>
            </a:avLst>
          </a:prstGeom>
          <a:solidFill>
            <a:srgbClr val="0B2A55"/>
          </a:solidFill>
          <a:ln w="12700">
            <a:solidFill>
              <a:srgbClr val="0B2A55"/>
            </a:solidFill>
            <a:prstDash val="solid"/>
          </a:ln>
        </p:spPr>
        <p:txBody>
          <a:bodyPr/>
          <a:lstStyle/>
          <a:p>
            <a:endParaRPr lang="es-CL"/>
          </a:p>
        </p:txBody>
      </p:sp>
      <p:sp>
        <p:nvSpPr>
          <p:cNvPr id="28" name="Text 26"/>
          <p:cNvSpPr/>
          <p:nvPr/>
        </p:nvSpPr>
        <p:spPr>
          <a:xfrm>
            <a:off x="8686583" y="1631950"/>
            <a:ext cx="3352716" cy="228600"/>
          </a:xfrm>
          <a:prstGeom prst="rect">
            <a:avLst/>
          </a:prstGeom>
          <a:noFill/>
          <a:ln/>
        </p:spPr>
        <p:txBody>
          <a:bodyPr wrap="none" lIns="0" tIns="0" rIns="0" bIns="0" rtlCol="0" anchor="t"/>
          <a:lstStyle/>
          <a:p>
            <a:pPr marL="0" indent="0" algn="l">
              <a:lnSpc>
                <a:spcPct val="125000"/>
              </a:lnSpc>
              <a:buNone/>
            </a:pPr>
            <a:r>
              <a:rPr lang="en-US" sz="1200" b="1" kern="100" spc="200" dirty="0">
                <a:solidFill>
                  <a:srgbClr val="FFC72C"/>
                </a:solidFill>
                <a:latin typeface="Carlito Bold" pitchFamily="34" charset="0"/>
                <a:ea typeface="Carlito Bold" pitchFamily="34" charset="-122"/>
                <a:cs typeface="Carlito Bold" pitchFamily="34" charset="-120"/>
              </a:rPr>
              <a:t>FUERA DEL MVP</a:t>
            </a:r>
            <a:endParaRPr lang="en-US" sz="1200" dirty="0"/>
          </a:p>
        </p:txBody>
      </p:sp>
      <p:sp>
        <p:nvSpPr>
          <p:cNvPr id="29" name="Text 27"/>
          <p:cNvSpPr/>
          <p:nvPr/>
        </p:nvSpPr>
        <p:spPr>
          <a:xfrm>
            <a:off x="8686583" y="1951931"/>
            <a:ext cx="2685983" cy="609600"/>
          </a:xfrm>
          <a:prstGeom prst="rect">
            <a:avLst/>
          </a:prstGeom>
          <a:noFill/>
          <a:ln/>
        </p:spPr>
        <p:txBody>
          <a:bodyPr wrap="square" lIns="0" tIns="0" rIns="0" bIns="0" rtlCol="0" anchor="t">
            <a:normAutofit/>
          </a:bodyPr>
          <a:lstStyle/>
          <a:p>
            <a:pPr marL="0" indent="0" algn="l">
              <a:lnSpc>
                <a:spcPct val="100000"/>
              </a:lnSpc>
              <a:buNone/>
            </a:pPr>
            <a:r>
              <a:rPr lang="en-US" sz="2000" b="1" dirty="0">
                <a:solidFill>
                  <a:srgbClr val="FFFFFF"/>
                </a:solidFill>
                <a:latin typeface="Carlito Bold" pitchFamily="34" charset="0"/>
                <a:ea typeface="Carlito Bold" pitchFamily="34" charset="-122"/>
                <a:cs typeface="Carlito Bold" pitchFamily="34" charset="-120"/>
              </a:rPr>
              <a:t>5 requerimientos descartados</a:t>
            </a:r>
            <a:endParaRPr lang="en-US" sz="2000" dirty="0"/>
          </a:p>
        </p:txBody>
      </p:sp>
      <p:sp>
        <p:nvSpPr>
          <p:cNvPr id="30" name="Text 28"/>
          <p:cNvSpPr/>
          <p:nvPr/>
        </p:nvSpPr>
        <p:spPr>
          <a:xfrm>
            <a:off x="8686583" y="2820591"/>
            <a:ext cx="2698682" cy="1371402"/>
          </a:xfrm>
          <a:prstGeom prst="rect">
            <a:avLst/>
          </a:prstGeom>
          <a:noFill/>
          <a:ln/>
        </p:spPr>
        <p:txBody>
          <a:bodyPr wrap="square" lIns="0" tIns="0" rIns="0" bIns="0" rtlCol="0" anchor="t">
            <a:normAutofit/>
          </a:bodyPr>
          <a:lstStyle/>
          <a:p>
            <a:pPr marL="343154" indent="-343154" algn="l">
              <a:lnSpc>
                <a:spcPct val="100000"/>
              </a:lnSpc>
              <a:buSzPct val="100000"/>
              <a:buChar char="•"/>
            </a:pPr>
            <a:r>
              <a:rPr lang="en-US" sz="1400" dirty="0">
                <a:solidFill>
                  <a:srgbClr val="FFFFFF"/>
                </a:solidFill>
                <a:latin typeface="Carlito" pitchFamily="34" charset="0"/>
                <a:ea typeface="Carlito" pitchFamily="34" charset="-122"/>
                <a:cs typeface="Carlito" pitchFamily="34" charset="-120"/>
              </a:rPr>
              <a:t>Historial de precios</a:t>
            </a:r>
            <a:endParaRPr lang="en-US" sz="1400" dirty="0"/>
          </a:p>
          <a:p>
            <a:pPr marL="343154" indent="-343154" algn="l">
              <a:lnSpc>
                <a:spcPct val="100000"/>
              </a:lnSpc>
              <a:buSzPct val="100000"/>
              <a:buChar char="•"/>
            </a:pPr>
            <a:r>
              <a:rPr lang="en-US" sz="1400" dirty="0">
                <a:solidFill>
                  <a:srgbClr val="FFFFFF"/>
                </a:solidFill>
                <a:latin typeface="Carlito" pitchFamily="34" charset="0"/>
                <a:ea typeface="Carlito" pitchFamily="34" charset="-122"/>
                <a:cs typeface="Carlito" pitchFamily="34" charset="-120"/>
              </a:rPr>
              <a:t>Alertas de stock bajo</a:t>
            </a:r>
            <a:endParaRPr lang="en-US" sz="1400" dirty="0"/>
          </a:p>
          <a:p>
            <a:pPr marL="343154" indent="-343154" algn="l">
              <a:lnSpc>
                <a:spcPct val="100000"/>
              </a:lnSpc>
              <a:buSzPct val="100000"/>
              <a:buChar char="•"/>
            </a:pPr>
            <a:r>
              <a:rPr lang="en-US" sz="1400" dirty="0">
                <a:solidFill>
                  <a:srgbClr val="FFFFFF"/>
                </a:solidFill>
                <a:latin typeface="Carlito" pitchFamily="34" charset="0"/>
                <a:ea typeface="Carlito" pitchFamily="34" charset="-122"/>
                <a:cs typeface="Carlito" pitchFamily="34" charset="-120"/>
              </a:rPr>
              <a:t>Múltiples administradores</a:t>
            </a:r>
            <a:endParaRPr lang="en-US" sz="1400" dirty="0"/>
          </a:p>
          <a:p>
            <a:pPr marL="343154" indent="-343154" algn="l">
              <a:lnSpc>
                <a:spcPct val="100000"/>
              </a:lnSpc>
              <a:buSzPct val="100000"/>
              <a:buChar char="•"/>
            </a:pPr>
            <a:r>
              <a:rPr lang="en-US" sz="1400" dirty="0">
                <a:solidFill>
                  <a:srgbClr val="FFFFFF"/>
                </a:solidFill>
                <a:latin typeface="Carlito" pitchFamily="34" charset="0"/>
                <a:ea typeface="Carlito" pitchFamily="34" charset="-122"/>
                <a:cs typeface="Carlito" pitchFamily="34" charset="-120"/>
              </a:rPr>
              <a:t>Retención de carnet</a:t>
            </a:r>
            <a:endParaRPr lang="en-US" sz="1400" dirty="0"/>
          </a:p>
          <a:p>
            <a:pPr marL="343154" indent="-343154" algn="l">
              <a:lnSpc>
                <a:spcPct val="100000"/>
              </a:lnSpc>
              <a:buSzPct val="100000"/>
              <a:buChar char="•"/>
            </a:pPr>
            <a:r>
              <a:rPr lang="en-US" sz="1400" dirty="0">
                <a:solidFill>
                  <a:srgbClr val="FFFFFF"/>
                </a:solidFill>
                <a:latin typeface="Carlito" pitchFamily="34" charset="0"/>
                <a:ea typeface="Carlito" pitchFamily="34" charset="-122"/>
                <a:cs typeface="Carlito" pitchFamily="34" charset="-120"/>
              </a:rPr>
              <a:t>Rate limiting propio</a:t>
            </a:r>
            <a:endParaRPr lang="en-US" sz="1400" dirty="0"/>
          </a:p>
        </p:txBody>
      </p:sp>
      <p:sp>
        <p:nvSpPr>
          <p:cNvPr id="31" name="Text 29"/>
          <p:cNvSpPr/>
          <p:nvPr/>
        </p:nvSpPr>
        <p:spPr>
          <a:xfrm>
            <a:off x="8686583" y="4923730"/>
            <a:ext cx="2685983" cy="457200"/>
          </a:xfrm>
          <a:prstGeom prst="rect">
            <a:avLst/>
          </a:prstGeom>
          <a:noFill/>
          <a:ln/>
        </p:spPr>
        <p:txBody>
          <a:bodyPr wrap="square" lIns="0" tIns="0" rIns="0" bIns="0" rtlCol="0" anchor="t">
            <a:normAutofit/>
          </a:bodyPr>
          <a:lstStyle/>
          <a:p>
            <a:pPr marL="0" indent="0" algn="l">
              <a:lnSpc>
                <a:spcPct val="125000"/>
              </a:lnSpc>
              <a:buNone/>
            </a:pPr>
            <a:r>
              <a:rPr lang="en-US" sz="1200" dirty="0">
                <a:solidFill>
                  <a:srgbClr val="FFFFFF"/>
                </a:solidFill>
                <a:latin typeface="Carlito" pitchFamily="34" charset="0"/>
                <a:ea typeface="Carlito" pitchFamily="34" charset="-122"/>
                <a:cs typeface="Carlito" pitchFamily="34" charset="-120"/>
              </a:rPr>
              <a:t>También fuera: GPS, fotos obligatorias y reputación algorítmica</a:t>
            </a:r>
            <a:endParaRPr lang="en-US" sz="1200" dirty="0"/>
          </a:p>
        </p:txBody>
      </p:sp>
      <p:sp>
        <p:nvSpPr>
          <p:cNvPr id="32" name="Text 30"/>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33" name="Text 31"/>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Flujo crítico de negocio</a:t>
            </a:r>
            <a:endParaRPr lang="en-US" sz="3400" dirty="0"/>
          </a:p>
        </p:txBody>
      </p:sp>
      <p:sp>
        <p:nvSpPr>
          <p:cNvPr id="3" name="Shape 1"/>
          <p:cNvSpPr/>
          <p:nvPr/>
        </p:nvSpPr>
        <p:spPr>
          <a:xfrm>
            <a:off x="1751961" y="2136080"/>
            <a:ext cx="8684400" cy="25400"/>
          </a:xfrm>
          <a:prstGeom prst="rect">
            <a:avLst/>
          </a:prstGeom>
          <a:solidFill>
            <a:srgbClr val="5B6577"/>
          </a:solidFill>
          <a:ln/>
        </p:spPr>
        <p:txBody>
          <a:bodyPr/>
          <a:lstStyle/>
          <a:p>
            <a:endParaRPr lang="es-CL"/>
          </a:p>
        </p:txBody>
      </p:sp>
      <p:sp>
        <p:nvSpPr>
          <p:cNvPr id="4" name="Shape 2"/>
          <p:cNvSpPr/>
          <p:nvPr/>
        </p:nvSpPr>
        <p:spPr>
          <a:xfrm>
            <a:off x="929359" y="1737320"/>
            <a:ext cx="822900" cy="822920"/>
          </a:xfrm>
          <a:prstGeom prst="ellipse">
            <a:avLst/>
          </a:prstGeom>
          <a:solidFill>
            <a:srgbClr val="0B2A55"/>
          </a:solidFill>
          <a:ln w="12700">
            <a:solidFill>
              <a:srgbClr val="0B2A55"/>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1135034" y="1943100"/>
            <a:ext cx="411450" cy="411460"/>
          </a:xfrm>
          <a:prstGeom prst="rect">
            <a:avLst/>
          </a:prstGeom>
        </p:spPr>
      </p:pic>
      <p:sp>
        <p:nvSpPr>
          <p:cNvPr id="6" name="Text 3"/>
          <p:cNvSpPr/>
          <p:nvPr/>
        </p:nvSpPr>
        <p:spPr>
          <a:xfrm>
            <a:off x="289513" y="2729210"/>
            <a:ext cx="2102591" cy="304800"/>
          </a:xfrm>
          <a:prstGeom prst="rect">
            <a:avLst/>
          </a:prstGeom>
          <a:noFill/>
          <a:ln/>
        </p:spPr>
        <p:txBody>
          <a:bodyPr wrap="none" lIns="0" tIns="0" rIns="0" bIns="0" rtlCol="0" anchor="t"/>
          <a:lstStyle/>
          <a:p>
            <a:pPr marL="0" indent="0" algn="ctr">
              <a:lnSpc>
                <a:spcPct val="125000"/>
              </a:lnSpc>
              <a:buNone/>
            </a:pPr>
            <a:r>
              <a:rPr lang="en-US" sz="1600" b="1" dirty="0">
                <a:solidFill>
                  <a:srgbClr val="0B2A55"/>
                </a:solidFill>
                <a:latin typeface="Carlito Bold" pitchFamily="34" charset="0"/>
                <a:ea typeface="Carlito Bold" pitchFamily="34" charset="-122"/>
                <a:cs typeface="Carlito Bold" pitchFamily="34" charset="-120"/>
              </a:rPr>
              <a:t>1. Explorar</a:t>
            </a:r>
            <a:endParaRPr lang="en-US" sz="1600" dirty="0"/>
          </a:p>
        </p:txBody>
      </p:sp>
      <p:sp>
        <p:nvSpPr>
          <p:cNvPr id="7" name="Text 4"/>
          <p:cNvSpPr/>
          <p:nvPr/>
        </p:nvSpPr>
        <p:spPr>
          <a:xfrm>
            <a:off x="316897" y="3140670"/>
            <a:ext cx="2047824" cy="247650"/>
          </a:xfrm>
          <a:prstGeom prst="rect">
            <a:avLst/>
          </a:prstGeom>
          <a:noFill/>
          <a:ln/>
        </p:spPr>
        <p:txBody>
          <a:bodyPr wrap="none" lIns="0" tIns="0" rIns="0" bIns="0" rtlCol="0" anchor="t"/>
          <a:lstStyle/>
          <a:p>
            <a:pPr marL="0" indent="0" algn="ctr">
              <a:lnSpc>
                <a:spcPct val="125000"/>
              </a:lnSpc>
              <a:buNone/>
            </a:pPr>
            <a:r>
              <a:rPr lang="en-US" sz="1300" dirty="0">
                <a:solidFill>
                  <a:srgbClr val="1B1F2A"/>
                </a:solidFill>
                <a:latin typeface="Carlito" pitchFamily="34" charset="0"/>
                <a:ea typeface="Carlito" pitchFamily="34" charset="-122"/>
                <a:cs typeface="Carlito" pitchFamily="34" charset="-120"/>
              </a:rPr>
              <a:t>Catálogo sin cuenta</a:t>
            </a:r>
            <a:endParaRPr lang="en-US" sz="1300" dirty="0"/>
          </a:p>
        </p:txBody>
      </p:sp>
      <p:sp>
        <p:nvSpPr>
          <p:cNvPr id="8" name="Shape 5"/>
          <p:cNvSpPr/>
          <p:nvPr/>
        </p:nvSpPr>
        <p:spPr>
          <a:xfrm>
            <a:off x="2513843" y="1737320"/>
            <a:ext cx="822900" cy="822920"/>
          </a:xfrm>
          <a:prstGeom prst="ellipse">
            <a:avLst/>
          </a:prstGeom>
          <a:solidFill>
            <a:srgbClr val="0B2A55"/>
          </a:solidFill>
          <a:ln w="12700">
            <a:solidFill>
              <a:srgbClr val="0B2A55"/>
            </a:solidFill>
            <a:prstDash val="solid"/>
          </a:ln>
        </p:spPr>
        <p:txBody>
          <a:bodyPr/>
          <a:lstStyle/>
          <a:p>
            <a:endParaRPr lang="es-CL"/>
          </a:p>
        </p:txBody>
      </p:sp>
      <p:pic>
        <p:nvPicPr>
          <p:cNvPr id="9" name="Image 1" descr="preencoded.png"/>
          <p:cNvPicPr>
            <a:picLocks noChangeAspect="1"/>
          </p:cNvPicPr>
          <p:nvPr/>
        </p:nvPicPr>
        <p:blipFill>
          <a:blip r:embed="rId4"/>
          <a:stretch>
            <a:fillRect/>
          </a:stretch>
        </p:blipFill>
        <p:spPr>
          <a:xfrm>
            <a:off x="2719617" y="1943100"/>
            <a:ext cx="411450" cy="411460"/>
          </a:xfrm>
          <a:prstGeom prst="rect">
            <a:avLst/>
          </a:prstGeom>
        </p:spPr>
      </p:pic>
      <p:sp>
        <p:nvSpPr>
          <p:cNvPr id="10" name="Text 6"/>
          <p:cNvSpPr/>
          <p:nvPr/>
        </p:nvSpPr>
        <p:spPr>
          <a:xfrm>
            <a:off x="1873997" y="2729210"/>
            <a:ext cx="2102591" cy="304800"/>
          </a:xfrm>
          <a:prstGeom prst="rect">
            <a:avLst/>
          </a:prstGeom>
          <a:noFill/>
          <a:ln/>
        </p:spPr>
        <p:txBody>
          <a:bodyPr wrap="none" lIns="0" tIns="0" rIns="0" bIns="0" rtlCol="0" anchor="t"/>
          <a:lstStyle/>
          <a:p>
            <a:pPr marL="0" indent="0" algn="ctr">
              <a:lnSpc>
                <a:spcPct val="125000"/>
              </a:lnSpc>
              <a:buNone/>
            </a:pPr>
            <a:r>
              <a:rPr lang="en-US" sz="1600" b="1" dirty="0">
                <a:solidFill>
                  <a:srgbClr val="0B2A55"/>
                </a:solidFill>
                <a:latin typeface="Carlito Bold" pitchFamily="34" charset="0"/>
                <a:ea typeface="Carlito Bold" pitchFamily="34" charset="-122"/>
                <a:cs typeface="Carlito Bold" pitchFamily="34" charset="-120"/>
              </a:rPr>
              <a:t>2. Comprar</a:t>
            </a:r>
            <a:endParaRPr lang="en-US" sz="1600" dirty="0"/>
          </a:p>
        </p:txBody>
      </p:sp>
      <p:sp>
        <p:nvSpPr>
          <p:cNvPr id="11" name="Text 7"/>
          <p:cNvSpPr/>
          <p:nvPr/>
        </p:nvSpPr>
        <p:spPr>
          <a:xfrm>
            <a:off x="2206272" y="3140670"/>
            <a:ext cx="1438239" cy="495300"/>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1B1F2A"/>
                </a:solidFill>
                <a:latin typeface="Carlito" pitchFamily="34" charset="0"/>
                <a:ea typeface="Carlito" pitchFamily="34" charset="-122"/>
                <a:cs typeface="Carlito" pitchFamily="34" charset="-120"/>
              </a:rPr>
              <a:t>Login, carrito y región validada</a:t>
            </a:r>
            <a:endParaRPr lang="en-US" sz="1300" dirty="0"/>
          </a:p>
        </p:txBody>
      </p:sp>
      <p:sp>
        <p:nvSpPr>
          <p:cNvPr id="12" name="Shape 8"/>
          <p:cNvSpPr/>
          <p:nvPr/>
        </p:nvSpPr>
        <p:spPr>
          <a:xfrm>
            <a:off x="4098227" y="1737320"/>
            <a:ext cx="822900" cy="822920"/>
          </a:xfrm>
          <a:prstGeom prst="ellipse">
            <a:avLst/>
          </a:prstGeom>
          <a:solidFill>
            <a:srgbClr val="0B2A55"/>
          </a:solidFill>
          <a:ln w="12700">
            <a:solidFill>
              <a:srgbClr val="0B2A55"/>
            </a:solidFill>
            <a:prstDash val="solid"/>
          </a:ln>
        </p:spPr>
        <p:txBody>
          <a:bodyPr/>
          <a:lstStyle/>
          <a:p>
            <a:endParaRPr lang="es-CL"/>
          </a:p>
        </p:txBody>
      </p:sp>
      <p:pic>
        <p:nvPicPr>
          <p:cNvPr id="13" name="Image 2" descr="preencoded.png"/>
          <p:cNvPicPr>
            <a:picLocks noChangeAspect="1"/>
          </p:cNvPicPr>
          <p:nvPr/>
        </p:nvPicPr>
        <p:blipFill>
          <a:blip r:embed="rId5"/>
          <a:stretch>
            <a:fillRect/>
          </a:stretch>
        </p:blipFill>
        <p:spPr>
          <a:xfrm>
            <a:off x="4304002" y="1943100"/>
            <a:ext cx="411450" cy="411460"/>
          </a:xfrm>
          <a:prstGeom prst="rect">
            <a:avLst/>
          </a:prstGeom>
        </p:spPr>
      </p:pic>
      <p:sp>
        <p:nvSpPr>
          <p:cNvPr id="14" name="Text 9"/>
          <p:cNvSpPr/>
          <p:nvPr/>
        </p:nvSpPr>
        <p:spPr>
          <a:xfrm>
            <a:off x="3458481" y="2729210"/>
            <a:ext cx="2102591" cy="304800"/>
          </a:xfrm>
          <a:prstGeom prst="rect">
            <a:avLst/>
          </a:prstGeom>
          <a:noFill/>
          <a:ln/>
        </p:spPr>
        <p:txBody>
          <a:bodyPr wrap="none" lIns="0" tIns="0" rIns="0" bIns="0" rtlCol="0" anchor="t"/>
          <a:lstStyle/>
          <a:p>
            <a:pPr marL="0" indent="0" algn="ctr">
              <a:lnSpc>
                <a:spcPct val="125000"/>
              </a:lnSpc>
              <a:buNone/>
            </a:pPr>
            <a:r>
              <a:rPr lang="en-US" sz="1600" b="1" dirty="0">
                <a:solidFill>
                  <a:srgbClr val="0B2A55"/>
                </a:solidFill>
                <a:latin typeface="Carlito Bold" pitchFamily="34" charset="0"/>
                <a:ea typeface="Carlito Bold" pitchFamily="34" charset="-122"/>
                <a:cs typeface="Carlito Bold" pitchFamily="34" charset="-120"/>
              </a:rPr>
              <a:t>3. Pagar</a:t>
            </a:r>
            <a:endParaRPr lang="en-US" sz="1600" dirty="0"/>
          </a:p>
        </p:txBody>
      </p:sp>
      <p:sp>
        <p:nvSpPr>
          <p:cNvPr id="15" name="Text 10"/>
          <p:cNvSpPr/>
          <p:nvPr/>
        </p:nvSpPr>
        <p:spPr>
          <a:xfrm>
            <a:off x="3790657" y="3140670"/>
            <a:ext cx="1438239" cy="495300"/>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1B1F2A"/>
                </a:solidFill>
                <a:latin typeface="Carlito" pitchFamily="34" charset="0"/>
                <a:ea typeface="Carlito" pitchFamily="34" charset="-122"/>
                <a:cs typeface="Carlito" pitchFamily="34" charset="-120"/>
              </a:rPr>
              <a:t>Webpay Mall, sin duplicados</a:t>
            </a:r>
            <a:endParaRPr lang="en-US" sz="1300" dirty="0"/>
          </a:p>
        </p:txBody>
      </p:sp>
      <p:sp>
        <p:nvSpPr>
          <p:cNvPr id="16" name="Shape 11"/>
          <p:cNvSpPr/>
          <p:nvPr/>
        </p:nvSpPr>
        <p:spPr>
          <a:xfrm>
            <a:off x="5682810" y="1737320"/>
            <a:ext cx="822900" cy="822920"/>
          </a:xfrm>
          <a:prstGeom prst="ellipse">
            <a:avLst/>
          </a:prstGeom>
          <a:solidFill>
            <a:srgbClr val="0B2A55"/>
          </a:solidFill>
          <a:ln w="12700">
            <a:solidFill>
              <a:srgbClr val="0B2A55"/>
            </a:solidFill>
            <a:prstDash val="solid"/>
          </a:ln>
        </p:spPr>
        <p:txBody>
          <a:bodyPr/>
          <a:lstStyle/>
          <a:p>
            <a:endParaRPr lang="es-CL"/>
          </a:p>
        </p:txBody>
      </p:sp>
      <p:pic>
        <p:nvPicPr>
          <p:cNvPr id="17" name="Image 3" descr="preencoded.png"/>
          <p:cNvPicPr>
            <a:picLocks noChangeAspect="1"/>
          </p:cNvPicPr>
          <p:nvPr/>
        </p:nvPicPr>
        <p:blipFill>
          <a:blip r:embed="rId6"/>
          <a:stretch>
            <a:fillRect/>
          </a:stretch>
        </p:blipFill>
        <p:spPr>
          <a:xfrm>
            <a:off x="5888585" y="1943100"/>
            <a:ext cx="411450" cy="411460"/>
          </a:xfrm>
          <a:prstGeom prst="rect">
            <a:avLst/>
          </a:prstGeom>
        </p:spPr>
      </p:pic>
      <p:sp>
        <p:nvSpPr>
          <p:cNvPr id="18" name="Text 12"/>
          <p:cNvSpPr/>
          <p:nvPr/>
        </p:nvSpPr>
        <p:spPr>
          <a:xfrm>
            <a:off x="5042964" y="2729210"/>
            <a:ext cx="2102591" cy="304800"/>
          </a:xfrm>
          <a:prstGeom prst="rect">
            <a:avLst/>
          </a:prstGeom>
          <a:noFill/>
          <a:ln/>
        </p:spPr>
        <p:txBody>
          <a:bodyPr wrap="none" lIns="0" tIns="0" rIns="0" bIns="0" rtlCol="0" anchor="t"/>
          <a:lstStyle/>
          <a:p>
            <a:pPr marL="0" indent="0" algn="ctr">
              <a:lnSpc>
                <a:spcPct val="125000"/>
              </a:lnSpc>
              <a:buNone/>
            </a:pPr>
            <a:r>
              <a:rPr lang="en-US" sz="1600" b="1" dirty="0">
                <a:solidFill>
                  <a:srgbClr val="0B2A55"/>
                </a:solidFill>
                <a:latin typeface="Carlito Bold" pitchFamily="34" charset="0"/>
                <a:ea typeface="Carlito Bold" pitchFamily="34" charset="-122"/>
                <a:cs typeface="Carlito Bold" pitchFamily="34" charset="-120"/>
              </a:rPr>
              <a:t>4. Dispersar</a:t>
            </a:r>
            <a:endParaRPr lang="en-US" sz="1600" dirty="0"/>
          </a:p>
        </p:txBody>
      </p:sp>
      <p:sp>
        <p:nvSpPr>
          <p:cNvPr id="19" name="Text 13"/>
          <p:cNvSpPr/>
          <p:nvPr/>
        </p:nvSpPr>
        <p:spPr>
          <a:xfrm>
            <a:off x="5375240" y="3140670"/>
            <a:ext cx="1438239" cy="495300"/>
          </a:xfrm>
          <a:prstGeom prst="rect">
            <a:avLst/>
          </a:prstGeom>
          <a:noFill/>
          <a:ln/>
        </p:spPr>
        <p:txBody>
          <a:bodyPr wrap="square" lIns="0" tIns="0" rIns="0" bIns="0" rtlCol="0" anchor="t">
            <a:normAutofit/>
          </a:bodyPr>
          <a:lstStyle/>
          <a:p>
            <a:pPr marL="0" indent="0" algn="ctr">
              <a:lnSpc>
                <a:spcPct val="125000"/>
              </a:lnSpc>
              <a:buNone/>
            </a:pPr>
            <a:r>
              <a:rPr lang="en-US" sz="1300" dirty="0">
                <a:solidFill>
                  <a:srgbClr val="1B1F2A"/>
                </a:solidFill>
                <a:latin typeface="Carlito" pitchFamily="34" charset="0"/>
                <a:ea typeface="Carlito" pitchFamily="34" charset="-122"/>
                <a:cs typeface="Carlito" pitchFamily="34" charset="-120"/>
              </a:rPr>
              <a:t>La pasarela deposita al productor</a:t>
            </a:r>
            <a:endParaRPr lang="en-US" sz="1300" dirty="0"/>
          </a:p>
        </p:txBody>
      </p:sp>
      <p:sp>
        <p:nvSpPr>
          <p:cNvPr id="20" name="Shape 14"/>
          <p:cNvSpPr/>
          <p:nvPr/>
        </p:nvSpPr>
        <p:spPr>
          <a:xfrm>
            <a:off x="7267393" y="1737320"/>
            <a:ext cx="822900" cy="822920"/>
          </a:xfrm>
          <a:prstGeom prst="ellipse">
            <a:avLst/>
          </a:prstGeom>
          <a:solidFill>
            <a:srgbClr val="0B2A55"/>
          </a:solidFill>
          <a:ln w="12700">
            <a:solidFill>
              <a:srgbClr val="0B2A55"/>
            </a:solidFill>
            <a:prstDash val="solid"/>
          </a:ln>
        </p:spPr>
        <p:txBody>
          <a:bodyPr/>
          <a:lstStyle/>
          <a:p>
            <a:endParaRPr lang="es-CL"/>
          </a:p>
        </p:txBody>
      </p:sp>
      <p:pic>
        <p:nvPicPr>
          <p:cNvPr id="21" name="Image 4" descr="preencoded.png"/>
          <p:cNvPicPr>
            <a:picLocks noChangeAspect="1"/>
          </p:cNvPicPr>
          <p:nvPr/>
        </p:nvPicPr>
        <p:blipFill>
          <a:blip r:embed="rId7"/>
          <a:stretch>
            <a:fillRect/>
          </a:stretch>
        </p:blipFill>
        <p:spPr>
          <a:xfrm>
            <a:off x="7473069" y="1943100"/>
            <a:ext cx="411450" cy="411460"/>
          </a:xfrm>
          <a:prstGeom prst="rect">
            <a:avLst/>
          </a:prstGeom>
        </p:spPr>
      </p:pic>
      <p:sp>
        <p:nvSpPr>
          <p:cNvPr id="22" name="Text 15"/>
          <p:cNvSpPr/>
          <p:nvPr/>
        </p:nvSpPr>
        <p:spPr>
          <a:xfrm>
            <a:off x="6627448" y="2729210"/>
            <a:ext cx="2102591" cy="304800"/>
          </a:xfrm>
          <a:prstGeom prst="rect">
            <a:avLst/>
          </a:prstGeom>
          <a:noFill/>
          <a:ln/>
        </p:spPr>
        <p:txBody>
          <a:bodyPr wrap="none" lIns="0" tIns="0" rIns="0" bIns="0" rtlCol="0" anchor="t"/>
          <a:lstStyle/>
          <a:p>
            <a:pPr marL="0" indent="0" algn="ctr">
              <a:lnSpc>
                <a:spcPct val="125000"/>
              </a:lnSpc>
              <a:buNone/>
            </a:pPr>
            <a:r>
              <a:rPr lang="en-US" sz="1600" b="1" dirty="0">
                <a:solidFill>
                  <a:srgbClr val="0B2A55"/>
                </a:solidFill>
                <a:latin typeface="Carlito Bold" pitchFamily="34" charset="0"/>
                <a:ea typeface="Carlito Bold" pitchFamily="34" charset="-122"/>
                <a:cs typeface="Carlito Bold" pitchFamily="34" charset="-120"/>
              </a:rPr>
              <a:t>5. Entregar</a:t>
            </a:r>
            <a:endParaRPr lang="en-US" sz="1600" dirty="0"/>
          </a:p>
        </p:txBody>
      </p:sp>
      <p:sp>
        <p:nvSpPr>
          <p:cNvPr id="23" name="Text 16"/>
          <p:cNvSpPr/>
          <p:nvPr/>
        </p:nvSpPr>
        <p:spPr>
          <a:xfrm>
            <a:off x="6959624" y="3148290"/>
            <a:ext cx="1438239" cy="594122"/>
          </a:xfrm>
          <a:prstGeom prst="rect">
            <a:avLst/>
          </a:prstGeom>
          <a:noFill/>
          <a:ln/>
        </p:spPr>
        <p:txBody>
          <a:bodyPr wrap="square" lIns="0" tIns="0" rIns="0" bIns="0" rtlCol="0" anchor="t">
            <a:normAutofit lnSpcReduction="10000"/>
          </a:bodyPr>
          <a:lstStyle/>
          <a:p>
            <a:pPr marL="0" indent="0" algn="ctr">
              <a:lnSpc>
                <a:spcPct val="100000"/>
              </a:lnSpc>
              <a:buNone/>
            </a:pPr>
            <a:r>
              <a:rPr lang="en-US" sz="1300" dirty="0">
                <a:solidFill>
                  <a:srgbClr val="1B1F2A"/>
                </a:solidFill>
                <a:latin typeface="Carlito" pitchFamily="34" charset="0"/>
                <a:ea typeface="Carlito" pitchFamily="34" charset="-122"/>
                <a:cs typeface="Carlito" pitchFamily="34" charset="-120"/>
              </a:rPr>
              <a:t>Preparación, En tránsito, Entregado con código</a:t>
            </a:r>
            <a:endParaRPr lang="en-US" sz="1300" dirty="0"/>
          </a:p>
        </p:txBody>
      </p:sp>
      <p:sp>
        <p:nvSpPr>
          <p:cNvPr id="24" name="Shape 17"/>
          <p:cNvSpPr/>
          <p:nvPr/>
        </p:nvSpPr>
        <p:spPr>
          <a:xfrm>
            <a:off x="8851778" y="1737320"/>
            <a:ext cx="822900" cy="822920"/>
          </a:xfrm>
          <a:prstGeom prst="ellipse">
            <a:avLst/>
          </a:prstGeom>
          <a:solidFill>
            <a:srgbClr val="0B2A55"/>
          </a:solidFill>
          <a:ln w="12700">
            <a:solidFill>
              <a:srgbClr val="0B2A55"/>
            </a:solidFill>
            <a:prstDash val="solid"/>
          </a:ln>
        </p:spPr>
        <p:txBody>
          <a:bodyPr/>
          <a:lstStyle/>
          <a:p>
            <a:endParaRPr lang="es-CL"/>
          </a:p>
        </p:txBody>
      </p:sp>
      <p:pic>
        <p:nvPicPr>
          <p:cNvPr id="25" name="Image 5" descr="preencoded.png"/>
          <p:cNvPicPr>
            <a:picLocks noChangeAspect="1"/>
          </p:cNvPicPr>
          <p:nvPr/>
        </p:nvPicPr>
        <p:blipFill>
          <a:blip r:embed="rId8"/>
          <a:stretch>
            <a:fillRect/>
          </a:stretch>
        </p:blipFill>
        <p:spPr>
          <a:xfrm>
            <a:off x="9057453" y="1943100"/>
            <a:ext cx="411450" cy="411460"/>
          </a:xfrm>
          <a:prstGeom prst="rect">
            <a:avLst/>
          </a:prstGeom>
        </p:spPr>
      </p:pic>
      <p:sp>
        <p:nvSpPr>
          <p:cNvPr id="26" name="Text 18"/>
          <p:cNvSpPr/>
          <p:nvPr/>
        </p:nvSpPr>
        <p:spPr>
          <a:xfrm>
            <a:off x="8211932" y="2729210"/>
            <a:ext cx="2102591" cy="304800"/>
          </a:xfrm>
          <a:prstGeom prst="rect">
            <a:avLst/>
          </a:prstGeom>
          <a:noFill/>
          <a:ln/>
        </p:spPr>
        <p:txBody>
          <a:bodyPr wrap="none" lIns="0" tIns="0" rIns="0" bIns="0" rtlCol="0" anchor="t">
            <a:noAutofit/>
          </a:bodyPr>
          <a:lstStyle/>
          <a:p>
            <a:pPr marL="0" indent="0" algn="ctr">
              <a:lnSpc>
                <a:spcPct val="100000"/>
              </a:lnSpc>
              <a:spcAft>
                <a:spcPts val="200"/>
              </a:spcAft>
              <a:buNone/>
            </a:pPr>
            <a:r>
              <a:rPr sz="1600" b="1">
                <a:solidFill>
                  <a:srgbClr val="0B2A55"/>
                </a:solidFill>
                <a:latin typeface="Carlito Bold"/>
              </a:rPr>
              <a:t>6. Calificar</a:t>
            </a:r>
            <a:endParaRPr lang="en-US" sz="1600" dirty="0"/>
          </a:p>
        </p:txBody>
      </p:sp>
      <p:sp>
        <p:nvSpPr>
          <p:cNvPr id="27" name="Text 19"/>
          <p:cNvSpPr/>
          <p:nvPr/>
        </p:nvSpPr>
        <p:spPr>
          <a:xfrm>
            <a:off x="8544207" y="3140670"/>
            <a:ext cx="1438239" cy="742950"/>
          </a:xfrm>
          <a:prstGeom prst="rect">
            <a:avLst/>
          </a:prstGeom>
          <a:noFill/>
          <a:ln/>
        </p:spPr>
        <p:txBody>
          <a:bodyPr wrap="square" lIns="0" tIns="0" rIns="0" bIns="0" rtlCol="0" anchor="t">
            <a:noAutofit/>
          </a:bodyPr>
          <a:lstStyle/>
          <a:p>
            <a:pPr marL="0" indent="0" algn="ctr">
              <a:lnSpc>
                <a:spcPct val="110000"/>
              </a:lnSpc>
              <a:spcAft>
                <a:spcPts val="200"/>
              </a:spcAft>
              <a:buNone/>
            </a:pPr>
            <a:r>
              <a:rPr sz="1300">
                <a:solidFill>
                  <a:srgbClr val="1B1F2A"/>
                </a:solidFill>
                <a:latin typeface="Carlito"/>
              </a:rPr>
              <a:t>Nota de 1 a 5 y promedio del vendedor</a:t>
            </a:r>
            <a:endParaRPr lang="en-US" sz="1300" dirty="0"/>
          </a:p>
        </p:txBody>
      </p:sp>
      <p:sp>
        <p:nvSpPr>
          <p:cNvPr id="28" name="Shape 20"/>
          <p:cNvSpPr/>
          <p:nvPr/>
        </p:nvSpPr>
        <p:spPr>
          <a:xfrm>
            <a:off x="10436262" y="1737320"/>
            <a:ext cx="822900" cy="822920"/>
          </a:xfrm>
          <a:prstGeom prst="ellipse">
            <a:avLst/>
          </a:prstGeom>
          <a:solidFill>
            <a:srgbClr val="0B2A55"/>
          </a:solidFill>
          <a:ln w="12700">
            <a:solidFill>
              <a:srgbClr val="0B2A55"/>
            </a:solidFill>
            <a:prstDash val="solid"/>
          </a:ln>
        </p:spPr>
        <p:txBody>
          <a:bodyPr/>
          <a:lstStyle/>
          <a:p>
            <a:endParaRPr lang="es-CL"/>
          </a:p>
        </p:txBody>
      </p:sp>
      <p:pic>
        <p:nvPicPr>
          <p:cNvPr id="29" name="Image 6" descr="preencoded.png"/>
          <p:cNvPicPr>
            <a:picLocks noChangeAspect="1"/>
          </p:cNvPicPr>
          <p:nvPr/>
        </p:nvPicPr>
        <p:blipFill>
          <a:blip r:embed="rId9"/>
          <a:stretch>
            <a:fillRect/>
          </a:stretch>
        </p:blipFill>
        <p:spPr>
          <a:xfrm>
            <a:off x="10642036" y="1943100"/>
            <a:ext cx="411450" cy="411460"/>
          </a:xfrm>
          <a:prstGeom prst="rect">
            <a:avLst/>
          </a:prstGeom>
        </p:spPr>
      </p:pic>
      <p:sp>
        <p:nvSpPr>
          <p:cNvPr id="30" name="Text 21"/>
          <p:cNvSpPr/>
          <p:nvPr/>
        </p:nvSpPr>
        <p:spPr>
          <a:xfrm>
            <a:off x="9796317" y="2729210"/>
            <a:ext cx="2102591" cy="304800"/>
          </a:xfrm>
          <a:prstGeom prst="rect">
            <a:avLst/>
          </a:prstGeom>
          <a:noFill/>
          <a:ln/>
        </p:spPr>
        <p:txBody>
          <a:bodyPr wrap="none" lIns="0" tIns="0" rIns="0" bIns="0" rtlCol="0" anchor="t">
            <a:noAutofit/>
          </a:bodyPr>
          <a:lstStyle/>
          <a:p>
            <a:pPr marL="0" indent="0" algn="ctr">
              <a:lnSpc>
                <a:spcPct val="100000"/>
              </a:lnSpc>
              <a:spcAft>
                <a:spcPts val="200"/>
              </a:spcAft>
              <a:buNone/>
            </a:pPr>
            <a:r>
              <a:rPr sz="1600" b="1">
                <a:solidFill>
                  <a:srgbClr val="0B2A55"/>
                </a:solidFill>
                <a:latin typeface="Carlito Bold"/>
              </a:rPr>
              <a:t>7. Resolver</a:t>
            </a:r>
            <a:endParaRPr lang="en-US" sz="1600" dirty="0"/>
          </a:p>
        </p:txBody>
      </p:sp>
      <p:sp>
        <p:nvSpPr>
          <p:cNvPr id="31" name="Text 22"/>
          <p:cNvSpPr/>
          <p:nvPr/>
        </p:nvSpPr>
        <p:spPr>
          <a:xfrm>
            <a:off x="10128592" y="3140670"/>
            <a:ext cx="1438239" cy="495300"/>
          </a:xfrm>
          <a:prstGeom prst="rect">
            <a:avLst/>
          </a:prstGeom>
          <a:noFill/>
          <a:ln/>
        </p:spPr>
        <p:txBody>
          <a:bodyPr wrap="square" lIns="0" tIns="0" rIns="0" bIns="0" rtlCol="0" anchor="t">
            <a:noAutofit/>
          </a:bodyPr>
          <a:lstStyle/>
          <a:p>
            <a:pPr marL="0" indent="0" algn="ctr">
              <a:lnSpc>
                <a:spcPct val="100000"/>
              </a:lnSpc>
              <a:spcAft>
                <a:spcPts val="200"/>
              </a:spcAft>
              <a:buNone/>
            </a:pPr>
            <a:r>
              <a:rPr sz="1200">
                <a:solidFill>
                  <a:srgbClr val="1B1F2A"/>
                </a:solidFill>
                <a:latin typeface="Carlito"/>
              </a:rPr>
              <a:t>Reclamos, sanciones y apelaciones</a:t>
            </a:r>
            <a:endParaRPr lang="en-US" sz="1300" dirty="0"/>
          </a:p>
        </p:txBody>
      </p:sp>
      <p:sp>
        <p:nvSpPr>
          <p:cNvPr id="32" name="Shape 23"/>
          <p:cNvSpPr/>
          <p:nvPr/>
        </p:nvSpPr>
        <p:spPr>
          <a:xfrm>
            <a:off x="548567" y="4846241"/>
            <a:ext cx="11091387" cy="1188641"/>
          </a:xfrm>
          <a:prstGeom prst="roundRect">
            <a:avLst>
              <a:gd name="adj" fmla="val 11077"/>
            </a:avLst>
          </a:prstGeom>
          <a:solidFill>
            <a:srgbClr val="EEF2F7"/>
          </a:solidFill>
          <a:ln w="12700">
            <a:solidFill>
              <a:srgbClr val="EEF2F7"/>
            </a:solidFill>
            <a:prstDash val="solid"/>
          </a:ln>
        </p:spPr>
        <p:txBody>
          <a:bodyPr/>
          <a:lstStyle/>
          <a:p>
            <a:endParaRPr lang="es-CL"/>
          </a:p>
        </p:txBody>
      </p:sp>
      <p:sp>
        <p:nvSpPr>
          <p:cNvPr id="33" name="Shape 24"/>
          <p:cNvSpPr/>
          <p:nvPr/>
        </p:nvSpPr>
        <p:spPr>
          <a:xfrm>
            <a:off x="868638" y="5120580"/>
            <a:ext cx="640044" cy="640060"/>
          </a:xfrm>
          <a:prstGeom prst="ellipse">
            <a:avLst/>
          </a:prstGeom>
          <a:solidFill>
            <a:srgbClr val="2E7D5B"/>
          </a:solidFill>
          <a:ln w="12700">
            <a:solidFill>
              <a:srgbClr val="2E7D5B"/>
            </a:solidFill>
            <a:prstDash val="solid"/>
          </a:ln>
        </p:spPr>
        <p:txBody>
          <a:bodyPr/>
          <a:lstStyle/>
          <a:p>
            <a:endParaRPr lang="es-CL"/>
          </a:p>
        </p:txBody>
      </p:sp>
      <p:pic>
        <p:nvPicPr>
          <p:cNvPr id="34" name="Image 7" descr="preencoded.png"/>
          <p:cNvPicPr>
            <a:picLocks noChangeAspect="1"/>
          </p:cNvPicPr>
          <p:nvPr/>
        </p:nvPicPr>
        <p:blipFill>
          <a:blip r:embed="rId10"/>
          <a:stretch>
            <a:fillRect/>
          </a:stretch>
        </p:blipFill>
        <p:spPr>
          <a:xfrm>
            <a:off x="1028674" y="5280620"/>
            <a:ext cx="319972" cy="319980"/>
          </a:xfrm>
          <a:prstGeom prst="rect">
            <a:avLst/>
          </a:prstGeom>
        </p:spPr>
      </p:pic>
      <p:sp>
        <p:nvSpPr>
          <p:cNvPr id="35" name="Text 25"/>
          <p:cNvSpPr/>
          <p:nvPr/>
        </p:nvSpPr>
        <p:spPr>
          <a:xfrm>
            <a:off x="1737277" y="5027593"/>
            <a:ext cx="9571195" cy="274241"/>
          </a:xfrm>
          <a:prstGeom prst="rect">
            <a:avLst/>
          </a:prstGeom>
          <a:noFill/>
          <a:ln/>
        </p:spPr>
        <p:txBody>
          <a:bodyPr wrap="none" lIns="0" tIns="0" rIns="0" bIns="0" rtlCol="0" anchor="t">
            <a:noAutofit/>
          </a:bodyPr>
          <a:lstStyle/>
          <a:p>
            <a:pPr marL="0" indent="0" algn="l">
              <a:lnSpc>
                <a:spcPct val="100000"/>
              </a:lnSpc>
              <a:spcAft>
                <a:spcPts val="200"/>
              </a:spcAft>
              <a:buNone/>
            </a:pPr>
            <a:r>
              <a:rPr sz="1700" b="1">
                <a:solidFill>
                  <a:srgbClr val="0B2A55"/>
                </a:solidFill>
                <a:latin typeface="Carlito Bold"/>
              </a:rPr>
              <a:t>Flujo verificado de punta a punta: la pasarela dispersa el pago al confirmar</a:t>
            </a:r>
            <a:endParaRPr lang="en-US" sz="1800" dirty="0"/>
          </a:p>
        </p:txBody>
      </p:sp>
      <p:sp>
        <p:nvSpPr>
          <p:cNvPr id="36" name="Text 26"/>
          <p:cNvSpPr/>
          <p:nvPr/>
        </p:nvSpPr>
        <p:spPr>
          <a:xfrm>
            <a:off x="1737277" y="5289451"/>
            <a:ext cx="10180780" cy="266700"/>
          </a:xfrm>
          <a:prstGeom prst="rect">
            <a:avLst/>
          </a:prstGeom>
          <a:noFill/>
          <a:ln/>
        </p:spPr>
        <p:txBody>
          <a:bodyPr wrap="square" lIns="0" tIns="0" rIns="0" bIns="0" rtlCol="0" anchor="t">
            <a:noAutofit/>
          </a:bodyPr>
          <a:lstStyle/>
          <a:p>
            <a:pPr marL="0" indent="0" algn="l">
              <a:lnSpc>
                <a:spcPct val="105000"/>
              </a:lnSpc>
              <a:spcAft>
                <a:spcPts val="200"/>
              </a:spcAft>
              <a:buNone/>
            </a:pPr>
            <a:r>
              <a:rPr sz="1300">
                <a:solidFill>
                  <a:srgbClr val="1B1F2A"/>
                </a:solidFill>
                <a:latin typeface="Carlito"/>
              </a:rPr>
              <a:t>Al confirmarse el pago, la pasarela captura y dispersa el monto al productor en tiempo real: CuTuCo no retiene fondos ni ejecuta payouts. Pruebas E2E con Cypress, semanas 9 a 11: si un servicio externo bloquea una prueba se usan mocks y la validación real queda pendiente.</a:t>
            </a:r>
            <a:endParaRPr lang="en-US" sz="1400" dirty="0"/>
          </a:p>
        </p:txBody>
      </p:sp>
      <p:sp>
        <p:nvSpPr>
          <p:cNvPr id="37" name="Text 27"/>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38" name="Text 28"/>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Gestión de riesgos</a:t>
            </a:r>
            <a:endParaRPr lang="en-US" sz="3400" dirty="0"/>
          </a:p>
        </p:txBody>
      </p:sp>
      <p:sp>
        <p:nvSpPr>
          <p:cNvPr id="3" name="Shape 1"/>
          <p:cNvSpPr/>
          <p:nvPr/>
        </p:nvSpPr>
        <p:spPr>
          <a:xfrm>
            <a:off x="548567" y="1417241"/>
            <a:ext cx="2468798" cy="1325860"/>
          </a:xfrm>
          <a:prstGeom prst="roundRect">
            <a:avLst>
              <a:gd name="adj" fmla="val 9931"/>
            </a:avLst>
          </a:prstGeom>
          <a:solidFill>
            <a:srgbClr val="0B2A55"/>
          </a:solidFill>
          <a:ln w="12700">
            <a:solidFill>
              <a:srgbClr val="0B2A55"/>
            </a:solidFill>
            <a:prstDash val="solid"/>
          </a:ln>
        </p:spPr>
        <p:txBody>
          <a:bodyPr/>
          <a:lstStyle/>
          <a:p>
            <a:endParaRPr lang="es-CL"/>
          </a:p>
        </p:txBody>
      </p:sp>
      <p:sp>
        <p:nvSpPr>
          <p:cNvPr id="4" name="Text 2"/>
          <p:cNvSpPr/>
          <p:nvPr/>
        </p:nvSpPr>
        <p:spPr>
          <a:xfrm>
            <a:off x="822900" y="1512954"/>
            <a:ext cx="1920132" cy="670520"/>
          </a:xfrm>
          <a:prstGeom prst="rect">
            <a:avLst/>
          </a:prstGeom>
          <a:noFill/>
          <a:ln/>
        </p:spPr>
        <p:txBody>
          <a:bodyPr wrap="none" lIns="0" tIns="0" rIns="0" bIns="0" rtlCol="0" anchor="t"/>
          <a:lstStyle/>
          <a:p>
            <a:pPr marL="0" indent="0" algn="l">
              <a:lnSpc>
                <a:spcPct val="100000"/>
              </a:lnSpc>
              <a:buNone/>
            </a:pPr>
            <a:r>
              <a:rPr lang="en-US" sz="4400" b="1" dirty="0">
                <a:solidFill>
                  <a:srgbClr val="FFFFFF"/>
                </a:solidFill>
                <a:latin typeface="Carlito Bold" pitchFamily="34" charset="0"/>
                <a:ea typeface="Carlito Bold" pitchFamily="34" charset="-122"/>
                <a:cs typeface="Carlito Bold" pitchFamily="34" charset="-120"/>
              </a:rPr>
              <a:t>6</a:t>
            </a:r>
            <a:endParaRPr lang="en-US" sz="4400" dirty="0"/>
          </a:p>
        </p:txBody>
      </p:sp>
      <p:sp>
        <p:nvSpPr>
          <p:cNvPr id="5" name="Text 3"/>
          <p:cNvSpPr/>
          <p:nvPr/>
        </p:nvSpPr>
        <p:spPr>
          <a:xfrm>
            <a:off x="822900" y="2272010"/>
            <a:ext cx="2621195"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Carlito" pitchFamily="34" charset="0"/>
                <a:ea typeface="Carlito" pitchFamily="34" charset="-122"/>
                <a:cs typeface="Carlito" pitchFamily="34" charset="-120"/>
              </a:rPr>
              <a:t>Críticos (15 a 25)</a:t>
            </a:r>
            <a:endParaRPr lang="en-US" sz="1400" dirty="0"/>
          </a:p>
        </p:txBody>
      </p:sp>
      <p:sp>
        <p:nvSpPr>
          <p:cNvPr id="6" name="Shape 4"/>
          <p:cNvSpPr/>
          <p:nvPr/>
        </p:nvSpPr>
        <p:spPr>
          <a:xfrm>
            <a:off x="548567" y="2880320"/>
            <a:ext cx="2468798" cy="1325860"/>
          </a:xfrm>
          <a:prstGeom prst="roundRect">
            <a:avLst>
              <a:gd name="adj" fmla="val 9931"/>
            </a:avLst>
          </a:prstGeom>
          <a:solidFill>
            <a:srgbClr val="2F6DB5"/>
          </a:solidFill>
          <a:ln w="12700">
            <a:solidFill>
              <a:srgbClr val="2F6DB5"/>
            </a:solidFill>
            <a:prstDash val="solid"/>
          </a:ln>
        </p:spPr>
        <p:txBody>
          <a:bodyPr/>
          <a:lstStyle/>
          <a:p>
            <a:endParaRPr lang="es-CL"/>
          </a:p>
        </p:txBody>
      </p:sp>
      <p:sp>
        <p:nvSpPr>
          <p:cNvPr id="7" name="Text 5"/>
          <p:cNvSpPr/>
          <p:nvPr/>
        </p:nvSpPr>
        <p:spPr>
          <a:xfrm>
            <a:off x="822900" y="2976033"/>
            <a:ext cx="1920132" cy="670520"/>
          </a:xfrm>
          <a:prstGeom prst="rect">
            <a:avLst/>
          </a:prstGeom>
          <a:noFill/>
          <a:ln/>
        </p:spPr>
        <p:txBody>
          <a:bodyPr wrap="none" lIns="0" tIns="0" rIns="0" bIns="0" rtlCol="0" anchor="t"/>
          <a:lstStyle/>
          <a:p>
            <a:pPr marL="0" indent="0" algn="l">
              <a:lnSpc>
                <a:spcPct val="100000"/>
              </a:lnSpc>
              <a:buNone/>
            </a:pPr>
            <a:r>
              <a:rPr lang="en-US" sz="4400" b="1" dirty="0">
                <a:solidFill>
                  <a:srgbClr val="FFFFFF"/>
                </a:solidFill>
                <a:latin typeface="Carlito Bold" pitchFamily="34" charset="0"/>
                <a:ea typeface="Carlito Bold" pitchFamily="34" charset="-122"/>
                <a:cs typeface="Carlito Bold" pitchFamily="34" charset="-120"/>
              </a:rPr>
              <a:t>8</a:t>
            </a:r>
            <a:endParaRPr lang="en-US" sz="4400" dirty="0"/>
          </a:p>
        </p:txBody>
      </p:sp>
      <p:sp>
        <p:nvSpPr>
          <p:cNvPr id="8" name="Text 6"/>
          <p:cNvSpPr/>
          <p:nvPr/>
        </p:nvSpPr>
        <p:spPr>
          <a:xfrm>
            <a:off x="822900" y="3734991"/>
            <a:ext cx="2621195" cy="266700"/>
          </a:xfrm>
          <a:prstGeom prst="rect">
            <a:avLst/>
          </a:prstGeom>
          <a:noFill/>
          <a:ln/>
        </p:spPr>
        <p:txBody>
          <a:bodyPr wrap="none" lIns="0" tIns="0" rIns="0" bIns="0" rtlCol="0" anchor="t"/>
          <a:lstStyle/>
          <a:p>
            <a:pPr marL="0" indent="0" algn="l">
              <a:lnSpc>
                <a:spcPct val="125000"/>
              </a:lnSpc>
              <a:buNone/>
            </a:pPr>
            <a:r>
              <a:rPr lang="en-US" sz="1400" dirty="0">
                <a:solidFill>
                  <a:srgbClr val="FFFFFF"/>
                </a:solidFill>
                <a:latin typeface="Carlito" pitchFamily="34" charset="0"/>
                <a:ea typeface="Carlito" pitchFamily="34" charset="-122"/>
                <a:cs typeface="Carlito" pitchFamily="34" charset="-120"/>
              </a:rPr>
              <a:t>Altos (10 a 14)</a:t>
            </a:r>
            <a:endParaRPr lang="en-US" sz="1400" dirty="0"/>
          </a:p>
        </p:txBody>
      </p:sp>
      <p:sp>
        <p:nvSpPr>
          <p:cNvPr id="9" name="Shape 7"/>
          <p:cNvSpPr/>
          <p:nvPr/>
        </p:nvSpPr>
        <p:spPr>
          <a:xfrm>
            <a:off x="548567" y="4343400"/>
            <a:ext cx="2468798" cy="1325860"/>
          </a:xfrm>
          <a:prstGeom prst="roundRect">
            <a:avLst>
              <a:gd name="adj" fmla="val 9931"/>
            </a:avLst>
          </a:prstGeom>
          <a:solidFill>
            <a:srgbClr val="EEF2F7"/>
          </a:solidFill>
          <a:ln w="12700">
            <a:solidFill>
              <a:srgbClr val="EEF2F7"/>
            </a:solidFill>
            <a:prstDash val="solid"/>
          </a:ln>
        </p:spPr>
        <p:txBody>
          <a:bodyPr/>
          <a:lstStyle/>
          <a:p>
            <a:endParaRPr lang="es-CL"/>
          </a:p>
        </p:txBody>
      </p:sp>
      <p:sp>
        <p:nvSpPr>
          <p:cNvPr id="10" name="Text 8"/>
          <p:cNvSpPr/>
          <p:nvPr/>
        </p:nvSpPr>
        <p:spPr>
          <a:xfrm>
            <a:off x="822900" y="4439014"/>
            <a:ext cx="1920132" cy="670520"/>
          </a:xfrm>
          <a:prstGeom prst="rect">
            <a:avLst/>
          </a:prstGeom>
          <a:noFill/>
          <a:ln/>
        </p:spPr>
        <p:txBody>
          <a:bodyPr wrap="none" lIns="0" tIns="0" rIns="0" bIns="0" rtlCol="0" anchor="t"/>
          <a:lstStyle/>
          <a:p>
            <a:pPr marL="0" indent="0" algn="l">
              <a:lnSpc>
                <a:spcPct val="100000"/>
              </a:lnSpc>
              <a:buNone/>
            </a:pPr>
            <a:r>
              <a:rPr lang="en-US" sz="4400" b="1" dirty="0">
                <a:solidFill>
                  <a:srgbClr val="0B2A55"/>
                </a:solidFill>
                <a:latin typeface="Carlito Bold" pitchFamily="34" charset="0"/>
                <a:ea typeface="Carlito Bold" pitchFamily="34" charset="-122"/>
                <a:cs typeface="Carlito Bold" pitchFamily="34" charset="-120"/>
              </a:rPr>
              <a:t>4</a:t>
            </a:r>
            <a:endParaRPr lang="en-US" sz="4400" dirty="0"/>
          </a:p>
        </p:txBody>
      </p:sp>
      <p:sp>
        <p:nvSpPr>
          <p:cNvPr id="11" name="Text 9"/>
          <p:cNvSpPr/>
          <p:nvPr/>
        </p:nvSpPr>
        <p:spPr>
          <a:xfrm>
            <a:off x="822900" y="5198070"/>
            <a:ext cx="2621195" cy="266700"/>
          </a:xfrm>
          <a:prstGeom prst="rect">
            <a:avLst/>
          </a:prstGeom>
          <a:noFill/>
          <a:ln/>
        </p:spPr>
        <p:txBody>
          <a:bodyPr wrap="none" lIns="0" tIns="0" rIns="0" bIns="0" rtlCol="0" anchor="t"/>
          <a:lstStyle/>
          <a:p>
            <a:pPr marL="0" indent="0" algn="l">
              <a:lnSpc>
                <a:spcPct val="125000"/>
              </a:lnSpc>
              <a:buNone/>
            </a:pPr>
            <a:r>
              <a:rPr lang="en-US" sz="1400" dirty="0">
                <a:solidFill>
                  <a:srgbClr val="0B2A55"/>
                </a:solidFill>
                <a:latin typeface="Carlito" pitchFamily="34" charset="0"/>
                <a:ea typeface="Carlito" pitchFamily="34" charset="-122"/>
                <a:cs typeface="Carlito" pitchFamily="34" charset="-120"/>
              </a:rPr>
              <a:t>Medios (5 a 9)</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91698" y="1417241"/>
          <a:ext cx="8348255" cy="4297477"/>
        </p:xfrm>
        <a:graphic>
          <a:graphicData uri="http://schemas.openxmlformats.org/drawingml/2006/table">
            <a:tbl>
              <a:tblPr/>
              <a:tblGrid>
                <a:gridCol w="2834158">
                  <a:extLst>
                    <a:ext uri="{9D8B030D-6E8A-4147-A177-3AD203B41FA5}">
                      <a16:colId xmlns:a16="http://schemas.microsoft.com/office/drawing/2014/main" val="20000"/>
                    </a:ext>
                  </a:extLst>
                </a:gridCol>
                <a:gridCol w="823060">
                  <a:extLst>
                    <a:ext uri="{9D8B030D-6E8A-4147-A177-3AD203B41FA5}">
                      <a16:colId xmlns:a16="http://schemas.microsoft.com/office/drawing/2014/main" val="20001"/>
                    </a:ext>
                  </a:extLst>
                </a:gridCol>
                <a:gridCol w="4691037">
                  <a:extLst>
                    <a:ext uri="{9D8B030D-6E8A-4147-A177-3AD203B41FA5}">
                      <a16:colId xmlns:a16="http://schemas.microsoft.com/office/drawing/2014/main" val="20002"/>
                    </a:ext>
                  </a:extLst>
                </a:gridCol>
              </a:tblGrid>
              <a:tr h="457189">
                <a:tc>
                  <a:txBody>
                    <a:bodyPr/>
                    <a:lstStyle/>
                    <a:p>
                      <a:pPr marL="0" indent="0" algn="l">
                        <a:buNone/>
                      </a:pPr>
                      <a:r>
                        <a:rPr lang="en-US" sz="1400" b="1" dirty="0">
                          <a:solidFill>
                            <a:srgbClr val="FFFFFF"/>
                          </a:solidFill>
                          <a:latin typeface="Carlito" pitchFamily="34" charset="0"/>
                          <a:ea typeface="Carlito" pitchFamily="34" charset="-122"/>
                          <a:cs typeface="Carlito" pitchFamily="34" charset="-120"/>
                        </a:rPr>
                        <a:t>Riesgo</a:t>
                      </a:r>
                      <a:endParaRPr lang="en-US" sz="1400" dirty="0">
                        <a:latin typeface="Carlito" charset="0"/>
                        <a:ea typeface="Carlito" charset="0"/>
                        <a:cs typeface="Carlito" charset="0"/>
                      </a:endParaRPr>
                    </a:p>
                  </a:txBody>
                  <a:tcPr marL="109725" marR="100200" marT="117218" marB="11721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solidFill>
                      <a:srgbClr val="0B2A55"/>
                    </a:solidFill>
                  </a:tcPr>
                </a:tc>
                <a:tc>
                  <a:txBody>
                    <a:bodyPr/>
                    <a:lstStyle/>
                    <a:p>
                      <a:pPr marL="0" indent="0" algn="l">
                        <a:buNone/>
                      </a:pPr>
                      <a:r>
                        <a:rPr lang="en-US" sz="1400" b="1" dirty="0">
                          <a:solidFill>
                            <a:srgbClr val="FFFFFF"/>
                          </a:solidFill>
                          <a:latin typeface="Carlito" pitchFamily="34" charset="0"/>
                          <a:ea typeface="Carlito" pitchFamily="34" charset="-122"/>
                          <a:cs typeface="Carlito" pitchFamily="34" charset="-120"/>
                        </a:rPr>
                        <a:t>Nivel</a:t>
                      </a:r>
                      <a:endParaRPr lang="en-US" sz="1400" dirty="0">
                        <a:latin typeface="Carlito" charset="0"/>
                        <a:ea typeface="Carlito" charset="0"/>
                        <a:cs typeface="Carlito" charset="0"/>
                      </a:endParaRPr>
                    </a:p>
                  </a:txBody>
                  <a:tcPr marL="109725" marR="100200" marT="117218" marB="11721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solidFill>
                      <a:srgbClr val="0B2A55"/>
                    </a:solidFill>
                  </a:tcPr>
                </a:tc>
                <a:tc>
                  <a:txBody>
                    <a:bodyPr/>
                    <a:lstStyle/>
                    <a:p>
                      <a:pPr marL="0" indent="0" algn="l">
                        <a:buNone/>
                      </a:pPr>
                      <a:r>
                        <a:rPr lang="en-US" sz="1400" b="1" dirty="0">
                          <a:solidFill>
                            <a:srgbClr val="FFFFFF"/>
                          </a:solidFill>
                          <a:latin typeface="Carlito" pitchFamily="34" charset="0"/>
                          <a:ea typeface="Carlito" pitchFamily="34" charset="-122"/>
                          <a:cs typeface="Carlito" pitchFamily="34" charset="-120"/>
                        </a:rPr>
                        <a:t>Mitigación</a:t>
                      </a:r>
                      <a:endParaRPr lang="en-US" sz="1400" dirty="0">
                        <a:latin typeface="Carlito" charset="0"/>
                        <a:ea typeface="Carlito" charset="0"/>
                        <a:cs typeface="Carlito" charset="0"/>
                      </a:endParaRPr>
                    </a:p>
                  </a:txBody>
                  <a:tcPr marL="109725" marR="109725" marT="117218" marB="11721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solidFill>
                      <a:srgbClr val="0B2A55"/>
                    </a:solidFill>
                  </a:tcPr>
                </a:tc>
                <a:extLst>
                  <a:ext uri="{0D108BD9-81ED-4DB2-BD59-A6C34878D82A}">
                    <a16:rowId xmlns:a16="http://schemas.microsoft.com/office/drawing/2014/main" val="10000"/>
                  </a:ext>
                </a:extLst>
              </a:tr>
              <a:tr h="640044">
                <a:tc>
                  <a:txBody>
                    <a:bodyPr/>
                    <a:lstStyle/>
                    <a:p>
                      <a:pPr marL="0" indent="0" algn="l">
                        <a:buNone/>
                      </a:pPr>
                      <a:r>
                        <a:rPr lang="en-US" sz="1300" b="1" dirty="0">
                          <a:solidFill>
                            <a:srgbClr val="0B2A55"/>
                          </a:solidFill>
                          <a:latin typeface="Carlito" pitchFamily="34" charset="0"/>
                          <a:ea typeface="Carlito" pitchFamily="34" charset="-122"/>
                          <a:cs typeface="Carlito" pitchFamily="34" charset="-120"/>
                        </a:rPr>
                        <a:t>Ampliación del alcance</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300" b="1" dirty="0">
                          <a:solidFill>
                            <a:srgbClr val="1B1F2A"/>
                          </a:solidFill>
                          <a:latin typeface="Carlito" pitchFamily="34" charset="0"/>
                          <a:ea typeface="Carlito" pitchFamily="34" charset="-122"/>
                          <a:cs typeface="Carlito" pitchFamily="34" charset="-120"/>
                        </a:rPr>
                        <a:t>20</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300" dirty="0">
                          <a:solidFill>
                            <a:srgbClr val="1B1F2A"/>
                          </a:solidFill>
                          <a:latin typeface="Carlito" pitchFamily="34" charset="0"/>
                          <a:ea typeface="Carlito" pitchFamily="34" charset="-122"/>
                          <a:cs typeface="Carlito" pitchFamily="34" charset="-120"/>
                        </a:rPr>
                        <a:t>Alcance congelado; cambios solo por decisión formal</a:t>
                      </a:r>
                      <a:endParaRPr lang="en-US" sz="1300" dirty="0">
                        <a:latin typeface="Carlito" charset="0"/>
                        <a:ea typeface="Carlito" charset="0"/>
                        <a:cs typeface="Carlito" charset="0"/>
                      </a:endParaRPr>
                    </a:p>
                  </a:txBody>
                  <a:tcPr marL="109725" marR="109725"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1"/>
                  </a:ext>
                </a:extLst>
              </a:tr>
              <a:tr h="640044">
                <a:tc>
                  <a:txBody>
                    <a:bodyPr/>
                    <a:lstStyle/>
                    <a:p>
                      <a:pPr marL="0" indent="0" algn="l">
                        <a:buNone/>
                      </a:pPr>
                      <a:r>
                        <a:rPr lang="en-US" sz="1300" b="1" dirty="0">
                          <a:solidFill>
                            <a:srgbClr val="0B2A55"/>
                          </a:solidFill>
                          <a:latin typeface="Carlito" pitchFamily="34" charset="0"/>
                          <a:ea typeface="Carlito" pitchFamily="34" charset="-122"/>
                          <a:cs typeface="Carlito" pitchFamily="34" charset="-120"/>
                        </a:rPr>
                        <a:t>Errores críticos al cierre</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300" b="1" dirty="0">
                          <a:solidFill>
                            <a:srgbClr val="1B1F2A"/>
                          </a:solidFill>
                          <a:latin typeface="Carlito" pitchFamily="34" charset="0"/>
                          <a:ea typeface="Carlito" pitchFamily="34" charset="-122"/>
                          <a:cs typeface="Carlito" pitchFamily="34" charset="-120"/>
                        </a:rPr>
                        <a:t>20</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300" dirty="0">
                          <a:solidFill>
                            <a:srgbClr val="1B1F2A"/>
                          </a:solidFill>
                          <a:latin typeface="Carlito" pitchFamily="34" charset="0"/>
                          <a:ea typeface="Carlito" pitchFamily="34" charset="-122"/>
                          <a:cs typeface="Carlito" pitchFamily="34" charset="-120"/>
                        </a:rPr>
                        <a:t>Semanas 9 a 11 reservadas para integrar y corregir</a:t>
                      </a:r>
                      <a:endParaRPr lang="en-US" sz="1300" dirty="0">
                        <a:latin typeface="Carlito" charset="0"/>
                        <a:ea typeface="Carlito" charset="0"/>
                        <a:cs typeface="Carlito" charset="0"/>
                      </a:endParaRPr>
                    </a:p>
                  </a:txBody>
                  <a:tcPr marL="109725" marR="109725"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2"/>
                  </a:ext>
                </a:extLst>
              </a:tr>
              <a:tr h="640044">
                <a:tc>
                  <a:txBody>
                    <a:bodyPr/>
                    <a:lstStyle/>
                    <a:p>
                      <a:pPr marL="0" indent="0" algn="l">
                        <a:buNone/>
                      </a:pPr>
                      <a:r>
                        <a:rPr lang="en-US" sz="1300" b="1" dirty="0">
                          <a:solidFill>
                            <a:srgbClr val="0B2A55"/>
                          </a:solidFill>
                          <a:latin typeface="Carlito" pitchFamily="34" charset="0"/>
                          <a:ea typeface="Carlito" pitchFamily="34" charset="-122"/>
                          <a:cs typeface="Carlito" pitchFamily="34" charset="-120"/>
                        </a:rPr>
                        <a:t>Equipo de solo dos personas</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300" b="1" dirty="0">
                          <a:solidFill>
                            <a:srgbClr val="1B1F2A"/>
                          </a:solidFill>
                          <a:latin typeface="Carlito" pitchFamily="34" charset="0"/>
                          <a:ea typeface="Carlito" pitchFamily="34" charset="-122"/>
                          <a:cs typeface="Carlito" pitchFamily="34" charset="-120"/>
                        </a:rPr>
                        <a:t>16</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300" dirty="0">
                          <a:solidFill>
                            <a:srgbClr val="1B1F2A"/>
                          </a:solidFill>
                          <a:latin typeface="Carlito" pitchFamily="34" charset="0"/>
                          <a:ea typeface="Carlito" pitchFamily="34" charset="-122"/>
                          <a:cs typeface="Carlito" pitchFamily="34" charset="-120"/>
                        </a:rPr>
                        <a:t>Roles por especialidad (RACI) y revisión semanal</a:t>
                      </a:r>
                      <a:endParaRPr lang="en-US" sz="1300" dirty="0">
                        <a:latin typeface="Carlito" charset="0"/>
                        <a:ea typeface="Carlito" charset="0"/>
                        <a:cs typeface="Carlito" charset="0"/>
                      </a:endParaRPr>
                    </a:p>
                  </a:txBody>
                  <a:tcPr marL="109725" marR="109725"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3"/>
                  </a:ext>
                </a:extLst>
              </a:tr>
              <a:tr h="640044">
                <a:tc>
                  <a:txBody>
                    <a:bodyPr/>
                    <a:lstStyle/>
                    <a:p>
                      <a:pPr marL="0" indent="0" algn="l">
                        <a:buNone/>
                      </a:pPr>
                      <a:r>
                        <a:rPr lang="en-US" sz="1300" b="1" dirty="0">
                          <a:solidFill>
                            <a:srgbClr val="0B2A55"/>
                          </a:solidFill>
                          <a:latin typeface="Carlito" pitchFamily="34" charset="0"/>
                          <a:ea typeface="Carlito" pitchFamily="34" charset="-122"/>
                          <a:cs typeface="Carlito" pitchFamily="34" charset="-120"/>
                        </a:rPr>
                        <a:t>Migración SQLite a PostgreSQL</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300" b="1" dirty="0">
                          <a:solidFill>
                            <a:srgbClr val="1B1F2A"/>
                          </a:solidFill>
                          <a:latin typeface="Carlito" pitchFamily="34" charset="0"/>
                          <a:ea typeface="Carlito" pitchFamily="34" charset="-122"/>
                          <a:cs typeface="Carlito" pitchFamily="34" charset="-120"/>
                        </a:rPr>
                        <a:t>15</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300" dirty="0">
                          <a:solidFill>
                            <a:srgbClr val="1B1F2A"/>
                          </a:solidFill>
                          <a:latin typeface="Carlito" pitchFamily="34" charset="0"/>
                          <a:ea typeface="Carlito" pitchFamily="34" charset="-122"/>
                          <a:cs typeface="Carlito" pitchFamily="34" charset="-120"/>
                        </a:rPr>
                        <a:t>Scripts DDL y validación con datos de prueba</a:t>
                      </a:r>
                      <a:endParaRPr lang="en-US" sz="1300" dirty="0">
                        <a:latin typeface="Carlito" charset="0"/>
                        <a:ea typeface="Carlito" charset="0"/>
                        <a:cs typeface="Carlito" charset="0"/>
                      </a:endParaRPr>
                    </a:p>
                  </a:txBody>
                  <a:tcPr marL="109725" marR="109725"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4"/>
                  </a:ext>
                </a:extLst>
              </a:tr>
              <a:tr h="640044">
                <a:tc>
                  <a:txBody>
                    <a:bodyPr/>
                    <a:lstStyle/>
                    <a:p>
                      <a:pPr marL="0" indent="0" algn="l">
                        <a:buNone/>
                      </a:pPr>
                      <a:r>
                        <a:rPr lang="en-US" sz="1300" b="1" dirty="0">
                          <a:solidFill>
                            <a:srgbClr val="0B2A55"/>
                          </a:solidFill>
                          <a:latin typeface="Carlito" pitchFamily="34" charset="0"/>
                          <a:ea typeface="Carlito" pitchFamily="34" charset="-122"/>
                          <a:cs typeface="Carlito" pitchFamily="34" charset="-120"/>
                        </a:rPr>
                        <a:t>Integración con Webpay Mall</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300" b="1" dirty="0">
                          <a:solidFill>
                            <a:srgbClr val="1B1F2A"/>
                          </a:solidFill>
                          <a:latin typeface="Carlito" pitchFamily="34" charset="0"/>
                          <a:ea typeface="Carlito" pitchFamily="34" charset="-122"/>
                          <a:cs typeface="Carlito" pitchFamily="34" charset="-120"/>
                        </a:rPr>
                        <a:t>15</a:t>
                      </a:r>
                      <a:endParaRPr lang="en-US" sz="1300" dirty="0">
                        <a:latin typeface="Carlito" charset="0"/>
                        <a:ea typeface="Carlito" charset="0"/>
                        <a:cs typeface="Carlito" charset="0"/>
                      </a:endParaRPr>
                    </a:p>
                  </a:txBody>
                  <a:tcPr marL="109725" marR="100200"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300" dirty="0">
                          <a:solidFill>
                            <a:srgbClr val="1B1F2A"/>
                          </a:solidFill>
                          <a:latin typeface="Carlito" pitchFamily="34" charset="0"/>
                          <a:ea typeface="Carlito" pitchFamily="34" charset="-122"/>
                          <a:cs typeface="Carlito" pitchFamily="34" charset="-120"/>
                        </a:rPr>
                        <a:t>Identificadores únicos y mocks si hay bloqueo</a:t>
                      </a:r>
                      <a:endParaRPr lang="en-US" sz="1300" dirty="0">
                        <a:latin typeface="Carlito" charset="0"/>
                        <a:ea typeface="Carlito" charset="0"/>
                        <a:cs typeface="Carlito" charset="0"/>
                      </a:endParaRPr>
                    </a:p>
                  </a:txBody>
                  <a:tcPr marL="109725" marR="109725" marT="216148" marB="21614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5"/>
                  </a:ext>
                </a:extLst>
              </a:tr>
              <a:tr h="640044">
                <a:tc>
                  <a:txBody>
                    <a:bodyPr/>
                    <a:lstStyle/>
                    <a:p>
                      <a:pPr marL="0" indent="0" algn="l">
                        <a:buNone/>
                      </a:pPr>
                      <a:r>
                        <a:rPr lang="en-US" sz="1300" b="1" dirty="0">
                          <a:solidFill>
                            <a:srgbClr val="0B2A55"/>
                          </a:solidFill>
                          <a:latin typeface="Carlito" pitchFamily="34" charset="0"/>
                          <a:ea typeface="Carlito" pitchFamily="34" charset="-122"/>
                          <a:cs typeface="Carlito" pitchFamily="34" charset="-120"/>
                        </a:rPr>
                        <a:t>Accesos y políticas RLS</a:t>
                      </a:r>
                      <a:endParaRPr lang="en-US" sz="1300" dirty="0">
                        <a:latin typeface="Carlito" charset="0"/>
                        <a:ea typeface="Carlito" charset="0"/>
                        <a:cs typeface="Carlito" charset="0"/>
                      </a:endParaRPr>
                    </a:p>
                  </a:txBody>
                  <a:tcPr marL="109725" marR="100200" marT="220974" marB="220974"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300" b="1" dirty="0">
                          <a:solidFill>
                            <a:srgbClr val="1B1F2A"/>
                          </a:solidFill>
                          <a:latin typeface="Carlito" pitchFamily="34" charset="0"/>
                          <a:ea typeface="Carlito" pitchFamily="34" charset="-122"/>
                          <a:cs typeface="Carlito" pitchFamily="34" charset="-120"/>
                        </a:rPr>
                        <a:t>15</a:t>
                      </a:r>
                      <a:endParaRPr lang="en-US" sz="1300" dirty="0">
                        <a:latin typeface="Carlito" charset="0"/>
                        <a:ea typeface="Carlito" charset="0"/>
                        <a:cs typeface="Carlito" charset="0"/>
                      </a:endParaRPr>
                    </a:p>
                  </a:txBody>
                  <a:tcPr marL="109725" marR="100200" marT="220974" marB="220974"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300" dirty="0">
                          <a:solidFill>
                            <a:srgbClr val="1B1F2A"/>
                          </a:solidFill>
                          <a:latin typeface="Carlito" pitchFamily="34" charset="0"/>
                          <a:ea typeface="Carlito" pitchFamily="34" charset="-122"/>
                          <a:cs typeface="Carlito" pitchFamily="34" charset="-120"/>
                        </a:rPr>
                        <a:t>Prueba de cada policy por rol con GoTrue</a:t>
                      </a:r>
                      <a:endParaRPr lang="en-US" sz="1300" dirty="0">
                        <a:latin typeface="Carlito" charset="0"/>
                        <a:ea typeface="Carlito" charset="0"/>
                        <a:cs typeface="Carlito" charset="0"/>
                      </a:endParaRPr>
                    </a:p>
                  </a:txBody>
                  <a:tcPr marL="109725" marR="109725" marT="220974" marB="220974"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Text 10"/>
          <p:cNvSpPr/>
          <p:nvPr/>
        </p:nvSpPr>
        <p:spPr>
          <a:xfrm>
            <a:off x="3291698" y="5929610"/>
            <a:ext cx="8899997" cy="228600"/>
          </a:xfrm>
          <a:prstGeom prst="rect">
            <a:avLst/>
          </a:prstGeom>
          <a:noFill/>
          <a:ln/>
        </p:spPr>
        <p:txBody>
          <a:bodyPr wrap="none" lIns="0" tIns="0" rIns="0" bIns="0" rtlCol="0" anchor="t"/>
          <a:lstStyle/>
          <a:p>
            <a:pPr marL="0" indent="0" algn="l">
              <a:lnSpc>
                <a:spcPct val="125000"/>
              </a:lnSpc>
              <a:buNone/>
            </a:pPr>
            <a:r>
              <a:rPr lang="en-US" sz="1200" dirty="0">
                <a:solidFill>
                  <a:srgbClr val="5B6577"/>
                </a:solidFill>
                <a:latin typeface="Carlito" pitchFamily="34" charset="0"/>
                <a:ea typeface="Carlito" pitchFamily="34" charset="-122"/>
                <a:cs typeface="Carlito" pitchFamily="34" charset="-120"/>
              </a:rPr>
              <a:t>Matriz de 18 riesgos (probabilidad × impacto). Se muestran los 6 de mayor nivel; todos con respuesta de mitigación.</a:t>
            </a:r>
            <a:endParaRPr lang="en-US" sz="1200" dirty="0"/>
          </a:p>
        </p:txBody>
      </p:sp>
      <p:sp>
        <p:nvSpPr>
          <p:cNvPr id="14" name="Text 11"/>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15" name="Text 12"/>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Calidad y estrategia de pruebas</a:t>
            </a:r>
            <a:endParaRPr lang="en-US" sz="3400" dirty="0"/>
          </a:p>
        </p:txBody>
      </p:sp>
      <p:sp>
        <p:nvSpPr>
          <p:cNvPr id="3" name="Shape 1"/>
          <p:cNvSpPr/>
          <p:nvPr/>
        </p:nvSpPr>
        <p:spPr>
          <a:xfrm>
            <a:off x="548567" y="1417241"/>
            <a:ext cx="2331582" cy="2286000"/>
          </a:xfrm>
          <a:prstGeom prst="roundRect">
            <a:avLst>
              <a:gd name="adj" fmla="val 5760"/>
            </a:avLst>
          </a:prstGeom>
          <a:solidFill>
            <a:srgbClr val="EEF2F7"/>
          </a:solidFill>
          <a:ln w="12700">
            <a:solidFill>
              <a:srgbClr val="EEF2F7"/>
            </a:solidFill>
            <a:prstDash val="solid"/>
          </a:ln>
        </p:spPr>
        <p:txBody>
          <a:bodyPr/>
          <a:lstStyle/>
          <a:p>
            <a:endParaRPr lang="es-CL"/>
          </a:p>
        </p:txBody>
      </p:sp>
      <p:sp>
        <p:nvSpPr>
          <p:cNvPr id="4" name="Text 2"/>
          <p:cNvSpPr/>
          <p:nvPr/>
        </p:nvSpPr>
        <p:spPr>
          <a:xfrm>
            <a:off x="777161" y="1651952"/>
            <a:ext cx="1920132" cy="548580"/>
          </a:xfrm>
          <a:prstGeom prst="rect">
            <a:avLst/>
          </a:prstGeom>
          <a:noFill/>
          <a:ln/>
        </p:spPr>
        <p:txBody>
          <a:bodyPr wrap="none" lIns="0" tIns="0" rIns="0" bIns="0" rtlCol="0" anchor="t"/>
          <a:lstStyle/>
          <a:p>
            <a:pPr marL="0" indent="0" algn="l">
              <a:lnSpc>
                <a:spcPct val="100000"/>
              </a:lnSpc>
              <a:buNone/>
            </a:pPr>
            <a:r>
              <a:rPr lang="en-US" sz="3600" b="1" dirty="0">
                <a:solidFill>
                  <a:srgbClr val="0B2A55"/>
                </a:solidFill>
                <a:latin typeface="Carlito Bold" pitchFamily="34" charset="0"/>
                <a:ea typeface="Carlito Bold" pitchFamily="34" charset="-122"/>
                <a:cs typeface="Carlito Bold" pitchFamily="34" charset="-120"/>
              </a:rPr>
              <a:t>22/22</a:t>
            </a:r>
            <a:endParaRPr lang="en-US" sz="3600" dirty="0"/>
          </a:p>
        </p:txBody>
      </p:sp>
      <p:sp>
        <p:nvSpPr>
          <p:cNvPr id="5" name="Text 3"/>
          <p:cNvSpPr/>
          <p:nvPr/>
        </p:nvSpPr>
        <p:spPr>
          <a:xfrm>
            <a:off x="777161" y="2506325"/>
            <a:ext cx="1862984" cy="73134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B1F2A"/>
                </a:solidFill>
                <a:latin typeface="Carlito" pitchFamily="34" charset="0"/>
                <a:ea typeface="Carlito" pitchFamily="34" charset="-122"/>
                <a:cs typeface="Carlito" pitchFamily="34" charset="-120"/>
              </a:rPr>
              <a:t>requerimientos verificados contra su criterio de aceptación</a:t>
            </a:r>
            <a:endParaRPr lang="en-US" sz="1600" dirty="0"/>
          </a:p>
        </p:txBody>
      </p:sp>
      <p:sp>
        <p:nvSpPr>
          <p:cNvPr id="6" name="Shape 4"/>
          <p:cNvSpPr/>
          <p:nvPr/>
        </p:nvSpPr>
        <p:spPr>
          <a:xfrm>
            <a:off x="3063104" y="1417241"/>
            <a:ext cx="2331582" cy="2286000"/>
          </a:xfrm>
          <a:prstGeom prst="roundRect">
            <a:avLst>
              <a:gd name="adj" fmla="val 5760"/>
            </a:avLst>
          </a:prstGeom>
          <a:solidFill>
            <a:srgbClr val="EEF2F7"/>
          </a:solidFill>
          <a:ln w="12700">
            <a:solidFill>
              <a:srgbClr val="EEF2F7"/>
            </a:solidFill>
            <a:prstDash val="solid"/>
          </a:ln>
        </p:spPr>
        <p:txBody>
          <a:bodyPr/>
          <a:lstStyle/>
          <a:p>
            <a:endParaRPr lang="es-CL"/>
          </a:p>
        </p:txBody>
      </p:sp>
      <p:sp>
        <p:nvSpPr>
          <p:cNvPr id="7" name="Text 5"/>
          <p:cNvSpPr/>
          <p:nvPr/>
        </p:nvSpPr>
        <p:spPr>
          <a:xfrm>
            <a:off x="3291698" y="1651952"/>
            <a:ext cx="1920132" cy="548580"/>
          </a:xfrm>
          <a:prstGeom prst="rect">
            <a:avLst/>
          </a:prstGeom>
          <a:noFill/>
          <a:ln/>
        </p:spPr>
        <p:txBody>
          <a:bodyPr wrap="none" lIns="0" tIns="0" rIns="0" bIns="0" rtlCol="0" anchor="t"/>
          <a:lstStyle/>
          <a:p>
            <a:pPr marL="0" indent="0" algn="l">
              <a:lnSpc>
                <a:spcPct val="100000"/>
              </a:lnSpc>
              <a:buNone/>
            </a:pPr>
            <a:r>
              <a:rPr lang="en-US" sz="3600" b="1" dirty="0">
                <a:solidFill>
                  <a:srgbClr val="0B2A55"/>
                </a:solidFill>
                <a:latin typeface="Carlito Bold" pitchFamily="34" charset="0"/>
                <a:ea typeface="Carlito Bold" pitchFamily="34" charset="-122"/>
                <a:cs typeface="Carlito Bold" pitchFamily="34" charset="-120"/>
              </a:rPr>
              <a:t>100 %</a:t>
            </a:r>
            <a:endParaRPr lang="en-US" sz="3600" dirty="0"/>
          </a:p>
        </p:txBody>
      </p:sp>
      <p:sp>
        <p:nvSpPr>
          <p:cNvPr id="8" name="Text 6"/>
          <p:cNvSpPr/>
          <p:nvPr/>
        </p:nvSpPr>
        <p:spPr>
          <a:xfrm>
            <a:off x="3291698" y="2500610"/>
            <a:ext cx="1862984" cy="9144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1B1F2A"/>
                </a:solidFill>
                <a:latin typeface="Carlito" pitchFamily="34" charset="0"/>
                <a:ea typeface="Carlito" pitchFamily="34" charset="-122"/>
                <a:cs typeface="Carlito" pitchFamily="34" charset="-120"/>
              </a:rPr>
              <a:t>de los casos de prueba críticos aprobados</a:t>
            </a:r>
            <a:endParaRPr lang="en-US" sz="1600" dirty="0"/>
          </a:p>
        </p:txBody>
      </p:sp>
      <p:sp>
        <p:nvSpPr>
          <p:cNvPr id="9" name="Shape 7"/>
          <p:cNvSpPr/>
          <p:nvPr/>
        </p:nvSpPr>
        <p:spPr>
          <a:xfrm>
            <a:off x="548567" y="3886200"/>
            <a:ext cx="2331582" cy="2286000"/>
          </a:xfrm>
          <a:prstGeom prst="roundRect">
            <a:avLst>
              <a:gd name="adj" fmla="val 5760"/>
            </a:avLst>
          </a:prstGeom>
          <a:solidFill>
            <a:srgbClr val="EEF2F7"/>
          </a:solidFill>
          <a:ln w="12700">
            <a:solidFill>
              <a:srgbClr val="EEF2F7"/>
            </a:solidFill>
            <a:prstDash val="solid"/>
          </a:ln>
        </p:spPr>
        <p:txBody>
          <a:bodyPr/>
          <a:lstStyle/>
          <a:p>
            <a:endParaRPr lang="es-CL"/>
          </a:p>
        </p:txBody>
      </p:sp>
      <p:sp>
        <p:nvSpPr>
          <p:cNvPr id="10" name="Text 8"/>
          <p:cNvSpPr/>
          <p:nvPr/>
        </p:nvSpPr>
        <p:spPr>
          <a:xfrm>
            <a:off x="777161" y="4120813"/>
            <a:ext cx="1920132" cy="548580"/>
          </a:xfrm>
          <a:prstGeom prst="rect">
            <a:avLst/>
          </a:prstGeom>
          <a:noFill/>
          <a:ln/>
        </p:spPr>
        <p:txBody>
          <a:bodyPr wrap="none" lIns="0" tIns="0" rIns="0" bIns="0" rtlCol="0" anchor="t"/>
          <a:lstStyle/>
          <a:p>
            <a:pPr marL="0" indent="0" algn="l">
              <a:lnSpc>
                <a:spcPct val="100000"/>
              </a:lnSpc>
              <a:buNone/>
            </a:pPr>
            <a:r>
              <a:rPr lang="en-US" sz="3600" b="1" dirty="0">
                <a:solidFill>
                  <a:srgbClr val="0B2A55"/>
                </a:solidFill>
                <a:latin typeface="Carlito Bold" pitchFamily="34" charset="0"/>
                <a:ea typeface="Carlito Bold" pitchFamily="34" charset="-122"/>
                <a:cs typeface="Carlito Bold" pitchFamily="34" charset="-120"/>
              </a:rPr>
              <a:t>≥ 80 %</a:t>
            </a:r>
            <a:endParaRPr lang="en-US" sz="3600" dirty="0"/>
          </a:p>
        </p:txBody>
      </p:sp>
      <p:sp>
        <p:nvSpPr>
          <p:cNvPr id="11" name="Text 9"/>
          <p:cNvSpPr/>
          <p:nvPr/>
        </p:nvSpPr>
        <p:spPr>
          <a:xfrm>
            <a:off x="777161" y="4975185"/>
            <a:ext cx="1862984" cy="73134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1B1F2A"/>
                </a:solidFill>
                <a:latin typeface="Carlito" pitchFamily="34" charset="0"/>
                <a:ea typeface="Carlito" pitchFamily="34" charset="-122"/>
                <a:cs typeface="Carlito" pitchFamily="34" charset="-120"/>
              </a:rPr>
              <a:t>de cobertura de pruebas unitarias del backend</a:t>
            </a:r>
            <a:endParaRPr lang="en-US" sz="1600" dirty="0"/>
          </a:p>
        </p:txBody>
      </p:sp>
      <p:sp>
        <p:nvSpPr>
          <p:cNvPr id="12" name="Shape 10"/>
          <p:cNvSpPr/>
          <p:nvPr/>
        </p:nvSpPr>
        <p:spPr>
          <a:xfrm>
            <a:off x="3063104" y="3886200"/>
            <a:ext cx="2331582" cy="2286000"/>
          </a:xfrm>
          <a:prstGeom prst="roundRect">
            <a:avLst>
              <a:gd name="adj" fmla="val 5760"/>
            </a:avLst>
          </a:prstGeom>
          <a:solidFill>
            <a:srgbClr val="EEF2F7"/>
          </a:solidFill>
          <a:ln w="12700">
            <a:solidFill>
              <a:srgbClr val="EEF2F7"/>
            </a:solidFill>
            <a:prstDash val="solid"/>
          </a:ln>
        </p:spPr>
        <p:txBody>
          <a:bodyPr/>
          <a:lstStyle/>
          <a:p>
            <a:endParaRPr lang="es-CL"/>
          </a:p>
        </p:txBody>
      </p:sp>
      <p:sp>
        <p:nvSpPr>
          <p:cNvPr id="13" name="Text 11"/>
          <p:cNvSpPr/>
          <p:nvPr/>
        </p:nvSpPr>
        <p:spPr>
          <a:xfrm>
            <a:off x="3291698" y="4120813"/>
            <a:ext cx="1920132" cy="548580"/>
          </a:xfrm>
          <a:prstGeom prst="rect">
            <a:avLst/>
          </a:prstGeom>
          <a:noFill/>
          <a:ln/>
        </p:spPr>
        <p:txBody>
          <a:bodyPr wrap="none" lIns="0" tIns="0" rIns="0" bIns="0" rtlCol="0" anchor="t"/>
          <a:lstStyle/>
          <a:p>
            <a:pPr marL="0" indent="0" algn="l">
              <a:lnSpc>
                <a:spcPct val="100000"/>
              </a:lnSpc>
              <a:buNone/>
            </a:pPr>
            <a:r>
              <a:rPr lang="en-US" sz="3600" b="1" dirty="0">
                <a:solidFill>
                  <a:srgbClr val="0B2A55"/>
                </a:solidFill>
                <a:latin typeface="Carlito Bold" pitchFamily="34" charset="0"/>
                <a:ea typeface="Carlito Bold" pitchFamily="34" charset="-122"/>
                <a:cs typeface="Carlito Bold" pitchFamily="34" charset="-120"/>
              </a:rPr>
              <a:t>0</a:t>
            </a:r>
            <a:endParaRPr lang="en-US" sz="3600" dirty="0"/>
          </a:p>
        </p:txBody>
      </p:sp>
      <p:sp>
        <p:nvSpPr>
          <p:cNvPr id="14" name="Text 12"/>
          <p:cNvSpPr/>
          <p:nvPr/>
        </p:nvSpPr>
        <p:spPr>
          <a:xfrm>
            <a:off x="3291698" y="4969470"/>
            <a:ext cx="1862984" cy="6096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1B1F2A"/>
                </a:solidFill>
                <a:latin typeface="Carlito" pitchFamily="34" charset="0"/>
                <a:ea typeface="Carlito" pitchFamily="34" charset="-122"/>
                <a:cs typeface="Carlito" pitchFamily="34" charset="-120"/>
              </a:rPr>
              <a:t>defectos críticos o altos abiertos al cierre</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2550823118"/>
              </p:ext>
            </p:extLst>
          </p:nvPr>
        </p:nvGraphicFramePr>
        <p:xfrm>
          <a:off x="5851974" y="1270032"/>
          <a:ext cx="5787979" cy="4424985"/>
        </p:xfrm>
        <a:graphic>
          <a:graphicData uri="http://schemas.openxmlformats.org/drawingml/2006/table">
            <a:tbl>
              <a:tblPr/>
              <a:tblGrid>
                <a:gridCol w="2285898">
                  <a:extLst>
                    <a:ext uri="{9D8B030D-6E8A-4147-A177-3AD203B41FA5}">
                      <a16:colId xmlns:a16="http://schemas.microsoft.com/office/drawing/2014/main" val="20000"/>
                    </a:ext>
                  </a:extLst>
                </a:gridCol>
                <a:gridCol w="2377279">
                  <a:extLst>
                    <a:ext uri="{9D8B030D-6E8A-4147-A177-3AD203B41FA5}">
                      <a16:colId xmlns:a16="http://schemas.microsoft.com/office/drawing/2014/main" val="20001"/>
                    </a:ext>
                  </a:extLst>
                </a:gridCol>
                <a:gridCol w="1124802">
                  <a:extLst>
                    <a:ext uri="{9D8B030D-6E8A-4147-A177-3AD203B41FA5}">
                      <a16:colId xmlns:a16="http://schemas.microsoft.com/office/drawing/2014/main" val="20002"/>
                    </a:ext>
                  </a:extLst>
                </a:gridCol>
              </a:tblGrid>
              <a:tr h="457189">
                <a:tc>
                  <a:txBody>
                    <a:bodyPr/>
                    <a:lstStyle/>
                    <a:p>
                      <a:pPr marL="0" indent="0" algn="l">
                        <a:buNone/>
                      </a:pPr>
                      <a:r>
                        <a:rPr lang="en-US" sz="1150" b="1" dirty="0">
                          <a:solidFill>
                            <a:srgbClr val="FFFFFF"/>
                          </a:solidFill>
                          <a:latin typeface="Carlito" pitchFamily="34" charset="0"/>
                          <a:ea typeface="Carlito" pitchFamily="34" charset="-122"/>
                          <a:cs typeface="Carlito" pitchFamily="34" charset="-120"/>
                        </a:rPr>
                        <a:t>Nivel de prueba</a:t>
                      </a:r>
                      <a:endParaRPr lang="en-US" sz="1400" dirty="0">
                        <a:latin typeface="Carlito" charset="0"/>
                        <a:ea typeface="Carlito" charset="0"/>
                        <a:cs typeface="Carlito" charset="0"/>
                      </a:endParaRPr>
                    </a:p>
                  </a:txBody>
                  <a:tcPr marL="109725" marR="100200" marT="117218" marB="11721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solidFill>
                      <a:srgbClr val="0B2A55"/>
                    </a:solidFill>
                  </a:tcPr>
                </a:tc>
                <a:tc>
                  <a:txBody>
                    <a:bodyPr/>
                    <a:lstStyle/>
                    <a:p>
                      <a:pPr marL="0" indent="0" algn="l">
                        <a:buNone/>
                      </a:pPr>
                      <a:r>
                        <a:rPr lang="en-US" sz="1150" b="1" dirty="0">
                          <a:solidFill>
                            <a:srgbClr val="FFFFFF"/>
                          </a:solidFill>
                          <a:latin typeface="Carlito" pitchFamily="34" charset="0"/>
                          <a:ea typeface="Carlito" pitchFamily="34" charset="-122"/>
                          <a:cs typeface="Carlito" pitchFamily="34" charset="-120"/>
                        </a:rPr>
                        <a:t>Herramienta</a:t>
                      </a:r>
                      <a:endParaRPr lang="en-US" sz="1400" dirty="0">
                        <a:latin typeface="Carlito" charset="0"/>
                        <a:ea typeface="Carlito" charset="0"/>
                        <a:cs typeface="Carlito" charset="0"/>
                      </a:endParaRPr>
                    </a:p>
                  </a:txBody>
                  <a:tcPr marL="109725" marR="100200" marT="117218" marB="11721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solidFill>
                      <a:srgbClr val="0B2A55"/>
                    </a:solidFill>
                  </a:tcPr>
                </a:tc>
                <a:tc>
                  <a:txBody>
                    <a:bodyPr/>
                    <a:lstStyle/>
                    <a:p>
                      <a:pPr marL="0" indent="0" algn="l">
                        <a:buNone/>
                      </a:pPr>
                      <a:r>
                        <a:rPr lang="en-US" sz="1150" b="1" dirty="0">
                          <a:solidFill>
                            <a:srgbClr val="FFFFFF"/>
                          </a:solidFill>
                          <a:latin typeface="Carlito" pitchFamily="34" charset="0"/>
                          <a:ea typeface="Carlito" pitchFamily="34" charset="-122"/>
                          <a:cs typeface="Carlito" pitchFamily="34" charset="-120"/>
                        </a:rPr>
                        <a:t>Semanas</a:t>
                      </a:r>
                      <a:endParaRPr lang="en-US" sz="1400" dirty="0">
                        <a:latin typeface="Carlito" charset="0"/>
                        <a:ea typeface="Carlito" charset="0"/>
                        <a:cs typeface="Carlito" charset="0"/>
                      </a:endParaRPr>
                    </a:p>
                  </a:txBody>
                  <a:tcPr marL="109725" marR="109725" marT="117218" marB="11721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solidFill>
                      <a:srgbClr val="0B2A55"/>
                    </a:solidFill>
                  </a:tcPr>
                </a:tc>
                <a:extLst>
                  <a:ext uri="{0D108BD9-81ED-4DB2-BD59-A6C34878D82A}">
                    <a16:rowId xmlns:a16="http://schemas.microsoft.com/office/drawing/2014/main" val="10000"/>
                  </a:ext>
                </a:extLst>
              </a:tr>
              <a:tr h="640044">
                <a:tc>
                  <a:txBody>
                    <a:bodyPr/>
                    <a:lstStyle/>
                    <a:p>
                      <a:pPr marL="0" indent="0" algn="l">
                        <a:buNone/>
                      </a:pPr>
                      <a:r>
                        <a:rPr lang="en-US" sz="1150" b="1" dirty="0">
                          <a:solidFill>
                            <a:srgbClr val="0B2A55"/>
                          </a:solidFill>
                          <a:latin typeface="Carlito" pitchFamily="34" charset="0"/>
                          <a:ea typeface="Carlito" pitchFamily="34" charset="-122"/>
                          <a:cs typeface="Carlito" pitchFamily="34" charset="-120"/>
                        </a:rPr>
                        <a:t>Unitarias backend</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150" dirty="0">
                          <a:solidFill>
                            <a:srgbClr val="1B1F2A"/>
                          </a:solidFill>
                          <a:latin typeface="Carlito" pitchFamily="34" charset="0"/>
                          <a:ea typeface="Carlito" pitchFamily="34" charset="-122"/>
                          <a:cs typeface="Carlito" pitchFamily="34" charset="-120"/>
                        </a:rPr>
                        <a:t>Pytest</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150" dirty="0">
                          <a:solidFill>
                            <a:srgbClr val="1B1F2A"/>
                          </a:solidFill>
                          <a:latin typeface="Carlito" pitchFamily="34" charset="0"/>
                          <a:ea typeface="Carlito" pitchFamily="34" charset="-122"/>
                          <a:cs typeface="Carlito" pitchFamily="34" charset="-120"/>
                        </a:rPr>
                        <a:t>6–10</a:t>
                      </a:r>
                      <a:endParaRPr lang="en-US" sz="1400" dirty="0">
                        <a:latin typeface="Carlito" charset="0"/>
                        <a:ea typeface="Carlito" charset="0"/>
                        <a:cs typeface="Carlito" charset="0"/>
                      </a:endParaRPr>
                    </a:p>
                  </a:txBody>
                  <a:tcPr marL="109725" marR="109725"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1"/>
                  </a:ext>
                </a:extLst>
              </a:tr>
              <a:tr h="640044">
                <a:tc>
                  <a:txBody>
                    <a:bodyPr/>
                    <a:lstStyle/>
                    <a:p>
                      <a:pPr marL="0" indent="0" algn="l">
                        <a:buNone/>
                      </a:pPr>
                      <a:r>
                        <a:rPr lang="en-US" sz="1150" b="1" dirty="0">
                          <a:solidFill>
                            <a:srgbClr val="0B2A55"/>
                          </a:solidFill>
                          <a:latin typeface="Carlito" pitchFamily="34" charset="0"/>
                          <a:ea typeface="Carlito" pitchFamily="34" charset="-122"/>
                          <a:cs typeface="Carlito" pitchFamily="34" charset="-120"/>
                        </a:rPr>
                        <a:t>Integración API y BD</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r>
                        <a:rPr sz="1150"/>
                        <a:t>Pytest + httpx</a:t>
                      </a: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150" dirty="0">
                          <a:solidFill>
                            <a:srgbClr val="1B1F2A"/>
                          </a:solidFill>
                          <a:latin typeface="Carlito" pitchFamily="34" charset="0"/>
                          <a:ea typeface="Carlito" pitchFamily="34" charset="-122"/>
                          <a:cs typeface="Carlito" pitchFamily="34" charset="-120"/>
                        </a:rPr>
                        <a:t>8–10</a:t>
                      </a:r>
                      <a:endParaRPr lang="en-US" sz="1400" dirty="0">
                        <a:latin typeface="Carlito" charset="0"/>
                        <a:ea typeface="Carlito" charset="0"/>
                        <a:cs typeface="Carlito" charset="0"/>
                      </a:endParaRPr>
                    </a:p>
                  </a:txBody>
                  <a:tcPr marL="109725" marR="109725"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2"/>
                  </a:ext>
                </a:extLst>
              </a:tr>
              <a:tr h="640044">
                <a:tc>
                  <a:txBody>
                    <a:bodyPr/>
                    <a:lstStyle/>
                    <a:p>
                      <a:pPr marL="0" indent="0" algn="l">
                        <a:buNone/>
                      </a:pPr>
                      <a:r>
                        <a:rPr lang="en-US" sz="1150" b="1" dirty="0">
                          <a:solidFill>
                            <a:srgbClr val="0B2A55"/>
                          </a:solidFill>
                          <a:latin typeface="Carlito" pitchFamily="34" charset="0"/>
                          <a:ea typeface="Carlito" pitchFamily="34" charset="-122"/>
                          <a:cs typeface="Carlito" pitchFamily="34" charset="-120"/>
                        </a:rPr>
                        <a:t>Pasarela de pago</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r>
                        <a:rPr sz="1150"/>
                        <a:t>Transbank SDK Test · Modo Integración</a:t>
                      </a: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150" dirty="0">
                          <a:solidFill>
                            <a:srgbClr val="1B1F2A"/>
                          </a:solidFill>
                          <a:latin typeface="Carlito" pitchFamily="34" charset="0"/>
                          <a:ea typeface="Carlito" pitchFamily="34" charset="-122"/>
                          <a:cs typeface="Carlito" pitchFamily="34" charset="-120"/>
                        </a:rPr>
                        <a:t>7–10</a:t>
                      </a:r>
                      <a:endParaRPr lang="en-US" sz="1400" dirty="0">
                        <a:latin typeface="Carlito" charset="0"/>
                        <a:ea typeface="Carlito" charset="0"/>
                        <a:cs typeface="Carlito" charset="0"/>
                      </a:endParaRPr>
                    </a:p>
                  </a:txBody>
                  <a:tcPr marL="109725" marR="109725"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3"/>
                  </a:ext>
                </a:extLst>
              </a:tr>
              <a:tr h="640044">
                <a:tc>
                  <a:txBody>
                    <a:bodyPr/>
                    <a:lstStyle/>
                    <a:p>
                      <a:pPr marL="0" indent="0" algn="l">
                        <a:buNone/>
                      </a:pPr>
                      <a:r>
                        <a:rPr lang="en-US" sz="1150" b="1" dirty="0">
                          <a:solidFill>
                            <a:srgbClr val="0B2A55"/>
                          </a:solidFill>
                          <a:latin typeface="Carlito" pitchFamily="34" charset="0"/>
                          <a:ea typeface="Carlito" pitchFamily="34" charset="-122"/>
                          <a:cs typeface="Carlito" pitchFamily="34" charset="-120"/>
                        </a:rPr>
                        <a:t>Frontend</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150" dirty="0">
                          <a:solidFill>
                            <a:srgbClr val="1B1F2A"/>
                          </a:solidFill>
                          <a:latin typeface="Carlito" pitchFamily="34" charset="0"/>
                          <a:ea typeface="Carlito" pitchFamily="34" charset="-122"/>
                          <a:cs typeface="Carlito" pitchFamily="34" charset="-120"/>
                        </a:rPr>
                        <a:t>Vitest</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150" dirty="0">
                          <a:solidFill>
                            <a:srgbClr val="1B1F2A"/>
                          </a:solidFill>
                          <a:latin typeface="Carlito" pitchFamily="34" charset="0"/>
                          <a:ea typeface="Carlito" pitchFamily="34" charset="-122"/>
                          <a:cs typeface="Carlito" pitchFamily="34" charset="-120"/>
                        </a:rPr>
                        <a:t>7–10</a:t>
                      </a:r>
                      <a:endParaRPr lang="en-US" sz="1400" dirty="0">
                        <a:latin typeface="Carlito" charset="0"/>
                        <a:ea typeface="Carlito" charset="0"/>
                        <a:cs typeface="Carlito" charset="0"/>
                      </a:endParaRPr>
                    </a:p>
                  </a:txBody>
                  <a:tcPr marL="109725" marR="109725"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4"/>
                  </a:ext>
                </a:extLst>
              </a:tr>
              <a:tr h="640044">
                <a:tc>
                  <a:txBody>
                    <a:bodyPr/>
                    <a:lstStyle/>
                    <a:p>
                      <a:pPr marL="0" indent="0" algn="l">
                        <a:buNone/>
                      </a:pPr>
                      <a:r>
                        <a:rPr lang="en-US" sz="1150" b="1" dirty="0">
                          <a:solidFill>
                            <a:srgbClr val="0B2A55"/>
                          </a:solidFill>
                          <a:latin typeface="Carlito" pitchFamily="34" charset="0"/>
                          <a:ea typeface="Carlito" pitchFamily="34" charset="-122"/>
                          <a:cs typeface="Carlito" pitchFamily="34" charset="-120"/>
                        </a:rPr>
                        <a:t>Extremo a extremo</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150" dirty="0">
                          <a:solidFill>
                            <a:srgbClr val="1B1F2A"/>
                          </a:solidFill>
                          <a:latin typeface="Carlito" pitchFamily="34" charset="0"/>
                          <a:ea typeface="Carlito" pitchFamily="34" charset="-122"/>
                          <a:cs typeface="Carlito" pitchFamily="34" charset="-120"/>
                        </a:rPr>
                        <a:t>Cypress</a:t>
                      </a:r>
                      <a:endParaRPr lang="en-US" sz="1400" dirty="0">
                        <a:latin typeface="Carlito" charset="0"/>
                        <a:ea typeface="Carlito" charset="0"/>
                        <a:cs typeface="Carlito" charset="0"/>
                      </a:endParaRPr>
                    </a:p>
                  </a:txBody>
                  <a:tcPr marL="109725" marR="100200"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150" dirty="0">
                          <a:solidFill>
                            <a:srgbClr val="1B1F2A"/>
                          </a:solidFill>
                          <a:latin typeface="Carlito" pitchFamily="34" charset="0"/>
                          <a:ea typeface="Carlito" pitchFamily="34" charset="-122"/>
                          <a:cs typeface="Carlito" pitchFamily="34" charset="-120"/>
                        </a:rPr>
                        <a:t>9–11</a:t>
                      </a:r>
                      <a:endParaRPr lang="en-US" sz="1400" dirty="0">
                        <a:latin typeface="Carlito" charset="0"/>
                        <a:ea typeface="Carlito" charset="0"/>
                        <a:cs typeface="Carlito" charset="0"/>
                      </a:endParaRPr>
                    </a:p>
                  </a:txBody>
                  <a:tcPr marL="109725" marR="109725" marT="208528" marB="208528"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5"/>
                  </a:ext>
                </a:extLst>
              </a:tr>
              <a:tr h="640044">
                <a:tc>
                  <a:txBody>
                    <a:bodyPr/>
                    <a:lstStyle/>
                    <a:p>
                      <a:pPr marL="0" indent="0" algn="l">
                        <a:buNone/>
                      </a:pPr>
                      <a:r>
                        <a:rPr lang="en-US" sz="1150" b="1" dirty="0">
                          <a:solidFill>
                            <a:srgbClr val="0B2A55"/>
                          </a:solidFill>
                          <a:latin typeface="Carlito" pitchFamily="34" charset="0"/>
                          <a:ea typeface="Carlito" pitchFamily="34" charset="-122"/>
                          <a:cs typeface="Carlito" pitchFamily="34" charset="-120"/>
                        </a:rPr>
                        <a:t>Seguridad</a:t>
                      </a:r>
                      <a:endParaRPr lang="en-US" sz="1400" dirty="0">
                        <a:latin typeface="Carlito" charset="0"/>
                        <a:ea typeface="Carlito" charset="0"/>
                        <a:cs typeface="Carlito" charset="0"/>
                      </a:endParaRPr>
                    </a:p>
                  </a:txBody>
                  <a:tcPr marL="109725" marR="100200" marT="213355" marB="213355"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l">
                        <a:buNone/>
                      </a:pPr>
                      <a:r>
                        <a:rPr lang="en-US" sz="1150" dirty="0">
                          <a:solidFill>
                            <a:srgbClr val="1B1F2A"/>
                          </a:solidFill>
                          <a:latin typeface="Carlito" pitchFamily="34" charset="0"/>
                          <a:ea typeface="Carlito" pitchFamily="34" charset="-122"/>
                          <a:cs typeface="Carlito" pitchFamily="34" charset="-120"/>
                        </a:rPr>
                        <a:t>OWASP ZAP</a:t>
                      </a:r>
                      <a:endParaRPr lang="en-US" sz="1400" dirty="0">
                        <a:latin typeface="Carlito" charset="0"/>
                        <a:ea typeface="Carlito" charset="0"/>
                        <a:cs typeface="Carlito" charset="0"/>
                      </a:endParaRPr>
                    </a:p>
                  </a:txBody>
                  <a:tcPr marL="109725" marR="100200" marT="213355" marB="213355"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tc>
                  <a:txBody>
                    <a:bodyPr/>
                    <a:lstStyle/>
                    <a:p>
                      <a:pPr marL="0" indent="0" algn="ctr">
                        <a:buNone/>
                      </a:pPr>
                      <a:r>
                        <a:rPr lang="en-US" sz="1150" dirty="0">
                          <a:solidFill>
                            <a:srgbClr val="1B1F2A"/>
                          </a:solidFill>
                          <a:latin typeface="Carlito" pitchFamily="34" charset="0"/>
                          <a:ea typeface="Carlito" pitchFamily="34" charset="-122"/>
                          <a:cs typeface="Carlito" pitchFamily="34" charset="-120"/>
                        </a:rPr>
                        <a:t>9–11</a:t>
                      </a:r>
                      <a:endParaRPr lang="en-US" sz="1400" dirty="0">
                        <a:latin typeface="Carlito" charset="0"/>
                        <a:ea typeface="Carlito" charset="0"/>
                        <a:cs typeface="Carlito" charset="0"/>
                      </a:endParaRPr>
                    </a:p>
                  </a:txBody>
                  <a:tcPr marL="109725" marR="109725" marT="213355" marB="213355" anchor="ctr">
                    <a:lnL w="12700" cap="flat" cmpd="sng" algn="ctr">
                      <a:solidFill>
                        <a:srgbClr val="D5DBE6"/>
                      </a:solidFill>
                      <a:prstDash val="solid"/>
                      <a:round/>
                      <a:headEnd type="none" w="med" len="med"/>
                      <a:tailEnd type="none" w="med" len="med"/>
                    </a:lnL>
                    <a:lnR w="12700" cap="flat" cmpd="sng" algn="ctr">
                      <a:solidFill>
                        <a:srgbClr val="D5DBE6"/>
                      </a:solidFill>
                      <a:prstDash val="solid"/>
                      <a:round/>
                      <a:headEnd type="none" w="med" len="med"/>
                      <a:tailEnd type="none" w="med" len="med"/>
                    </a:lnR>
                    <a:lnT w="12700" cap="flat" cmpd="sng" algn="ctr">
                      <a:solidFill>
                        <a:srgbClr val="D5DBE6"/>
                      </a:solidFill>
                      <a:prstDash val="solid"/>
                      <a:round/>
                      <a:headEnd type="none" w="med" len="med"/>
                      <a:tailEnd type="none" w="med" len="med"/>
                    </a:lnT>
                    <a:lnB w="12700" cap="flat" cmpd="sng" algn="ctr">
                      <a:solidFill>
                        <a:srgbClr val="D5DB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Text 13"/>
          <p:cNvSpPr/>
          <p:nvPr/>
        </p:nvSpPr>
        <p:spPr>
          <a:xfrm>
            <a:off x="5851974" y="5806440"/>
            <a:ext cx="6339721" cy="365760"/>
          </a:xfrm>
          <a:prstGeom prst="rect">
            <a:avLst/>
          </a:prstGeom>
          <a:noFill/>
          <a:ln/>
        </p:spPr>
        <p:txBody>
          <a:bodyPr wrap="square" lIns="0" tIns="0" rIns="0" bIns="0" rtlCol="0" anchor="t">
            <a:noAutofit/>
          </a:bodyPr>
          <a:lstStyle/>
          <a:p>
            <a:pPr marL="0" indent="0" algn="l">
              <a:lnSpc>
                <a:spcPct val="100000"/>
              </a:lnSpc>
              <a:spcAft>
                <a:spcPts val="200"/>
              </a:spcAft>
              <a:buNone/>
            </a:pPr>
            <a:r>
              <a:rPr sz="1200">
                <a:solidFill>
                  <a:srgbClr val="5B6577"/>
                </a:solidFill>
                <a:latin typeface="Carlito"/>
              </a:rPr>
              <a:t>Pytest y httpx para unitarias, API y BD; Vitest para el frontend. El Transbank SDK en Modo Integración permite probar con datos mock.</a:t>
            </a:r>
            <a:endParaRPr lang="en-US" sz="1200" dirty="0"/>
          </a:p>
        </p:txBody>
      </p:sp>
      <p:sp>
        <p:nvSpPr>
          <p:cNvPr id="17" name="Text 14"/>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18" name="Text 15"/>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Presupuesto y control de costos</a:t>
            </a:r>
            <a:endParaRPr lang="en-US" sz="3400" dirty="0"/>
          </a:p>
        </p:txBody>
      </p:sp>
      <p:sp>
        <p:nvSpPr>
          <p:cNvPr id="3" name="Shape 1"/>
          <p:cNvSpPr/>
          <p:nvPr/>
        </p:nvSpPr>
        <p:spPr>
          <a:xfrm>
            <a:off x="548567" y="1417241"/>
            <a:ext cx="4571886" cy="1371600"/>
          </a:xfrm>
          <a:prstGeom prst="roundRect">
            <a:avLst>
              <a:gd name="adj" fmla="val 9600"/>
            </a:avLst>
          </a:prstGeom>
          <a:solidFill>
            <a:srgbClr val="EEF2F7"/>
          </a:solidFill>
          <a:ln w="12700">
            <a:solidFill>
              <a:srgbClr val="EEF2F7"/>
            </a:solidFill>
            <a:prstDash val="solid"/>
          </a:ln>
        </p:spPr>
        <p:txBody>
          <a:bodyPr/>
          <a:lstStyle/>
          <a:p>
            <a:endParaRPr lang="es-CL"/>
          </a:p>
        </p:txBody>
      </p:sp>
      <p:sp>
        <p:nvSpPr>
          <p:cNvPr id="4" name="Text 2"/>
          <p:cNvSpPr/>
          <p:nvPr/>
        </p:nvSpPr>
        <p:spPr>
          <a:xfrm>
            <a:off x="822900" y="1572558"/>
            <a:ext cx="4023220"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$5.626.158</a:t>
            </a:r>
            <a:endParaRPr lang="en-US" sz="3400" dirty="0"/>
          </a:p>
        </p:txBody>
      </p:sp>
      <p:sp>
        <p:nvSpPr>
          <p:cNvPr id="5" name="Text 3"/>
          <p:cNvSpPr/>
          <p:nvPr/>
        </p:nvSpPr>
        <p:spPr>
          <a:xfrm>
            <a:off x="822900" y="2180530"/>
            <a:ext cx="4632804"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Total estimado, Opción A (escenario base)</a:t>
            </a:r>
            <a:endParaRPr lang="en-US" sz="1400" dirty="0"/>
          </a:p>
        </p:txBody>
      </p:sp>
      <p:sp>
        <p:nvSpPr>
          <p:cNvPr id="6" name="Shape 4"/>
          <p:cNvSpPr/>
          <p:nvPr/>
        </p:nvSpPr>
        <p:spPr>
          <a:xfrm>
            <a:off x="548567" y="2971800"/>
            <a:ext cx="4571886" cy="1371600"/>
          </a:xfrm>
          <a:prstGeom prst="roundRect">
            <a:avLst>
              <a:gd name="adj" fmla="val 9600"/>
            </a:avLst>
          </a:prstGeom>
          <a:solidFill>
            <a:srgbClr val="EEF2F7"/>
          </a:solidFill>
          <a:ln w="12700">
            <a:solidFill>
              <a:srgbClr val="EEF2F7"/>
            </a:solidFill>
            <a:prstDash val="solid"/>
          </a:ln>
        </p:spPr>
        <p:txBody>
          <a:bodyPr/>
          <a:lstStyle/>
          <a:p>
            <a:endParaRPr lang="es-CL"/>
          </a:p>
        </p:txBody>
      </p:sp>
      <p:sp>
        <p:nvSpPr>
          <p:cNvPr id="7" name="Text 5"/>
          <p:cNvSpPr/>
          <p:nvPr/>
        </p:nvSpPr>
        <p:spPr>
          <a:xfrm>
            <a:off x="822900" y="3127018"/>
            <a:ext cx="4023220"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$338.870</a:t>
            </a:r>
            <a:endParaRPr lang="en-US" sz="3400" dirty="0"/>
          </a:p>
        </p:txBody>
      </p:sp>
      <p:sp>
        <p:nvSpPr>
          <p:cNvPr id="8" name="Text 6"/>
          <p:cNvSpPr/>
          <p:nvPr/>
        </p:nvSpPr>
        <p:spPr>
          <a:xfrm>
            <a:off x="822900" y="3734991"/>
            <a:ext cx="3966071" cy="5334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Desembolso en efectivo con contingencia: lo que realmente se paga</a:t>
            </a:r>
            <a:endParaRPr lang="en-US" sz="1400" dirty="0"/>
          </a:p>
        </p:txBody>
      </p:sp>
      <p:sp>
        <p:nvSpPr>
          <p:cNvPr id="9" name="Shape 7"/>
          <p:cNvSpPr/>
          <p:nvPr/>
        </p:nvSpPr>
        <p:spPr>
          <a:xfrm>
            <a:off x="548567" y="4526260"/>
            <a:ext cx="4571886" cy="1371600"/>
          </a:xfrm>
          <a:prstGeom prst="roundRect">
            <a:avLst>
              <a:gd name="adj" fmla="val 9600"/>
            </a:avLst>
          </a:prstGeom>
          <a:solidFill>
            <a:srgbClr val="EEF2F7"/>
          </a:solidFill>
          <a:ln w="12700">
            <a:solidFill>
              <a:srgbClr val="EEF2F7"/>
            </a:solidFill>
            <a:prstDash val="solid"/>
          </a:ln>
        </p:spPr>
        <p:txBody>
          <a:bodyPr/>
          <a:lstStyle/>
          <a:p>
            <a:endParaRPr lang="es-CL"/>
          </a:p>
        </p:txBody>
      </p:sp>
      <p:sp>
        <p:nvSpPr>
          <p:cNvPr id="10" name="Text 8"/>
          <p:cNvSpPr/>
          <p:nvPr/>
        </p:nvSpPr>
        <p:spPr>
          <a:xfrm>
            <a:off x="822900" y="4681478"/>
            <a:ext cx="4023220"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520 h</a:t>
            </a:r>
            <a:endParaRPr lang="en-US" sz="3400" dirty="0"/>
          </a:p>
        </p:txBody>
      </p:sp>
      <p:sp>
        <p:nvSpPr>
          <p:cNvPr id="11" name="Text 9"/>
          <p:cNvSpPr/>
          <p:nvPr/>
        </p:nvSpPr>
        <p:spPr>
          <a:xfrm>
            <a:off x="822900" y="5303520"/>
            <a:ext cx="3966071" cy="530352"/>
          </a:xfrm>
          <a:prstGeom prst="rect">
            <a:avLst/>
          </a:prstGeom>
          <a:noFill/>
          <a:ln/>
        </p:spPr>
        <p:txBody>
          <a:bodyPr wrap="square" lIns="0" tIns="0" rIns="0" bIns="0" rtlCol="0" anchor="t">
            <a:noAutofit/>
          </a:bodyPr>
          <a:lstStyle/>
          <a:p>
            <a:pPr marL="0" indent="0" algn="l">
              <a:lnSpc>
                <a:spcPct val="100000"/>
              </a:lnSpc>
              <a:spcAft>
                <a:spcPts val="200"/>
              </a:spcAft>
              <a:buNone/>
            </a:pPr>
            <a:r>
              <a:rPr sz="1100">
                <a:solidFill>
                  <a:srgbClr val="1B1F2A"/>
                </a:solidFill>
                <a:latin typeface="Carlito"/>
              </a:rPr>
              <a:t>Horas del equipo según el desglose de HH del EDT: 260 h por integrante (20 h semanales × 13 semanas). Valorizado en $4.806.625 como referencia.</a:t>
            </a:r>
            <a:endParaRPr lang="en-US" sz="1400" dirty="0"/>
          </a:p>
        </p:txBody>
      </p:sp>
      <p:sp>
        <p:nvSpPr>
          <p:cNvPr id="14" name="Shape 11"/>
          <p:cNvSpPr/>
          <p:nvPr/>
        </p:nvSpPr>
        <p:spPr>
          <a:xfrm>
            <a:off x="5394785" y="5486400"/>
            <a:ext cx="6245168" cy="685800"/>
          </a:xfrm>
          <a:prstGeom prst="roundRect">
            <a:avLst>
              <a:gd name="adj" fmla="val 19200"/>
            </a:avLst>
          </a:prstGeom>
          <a:solidFill>
            <a:srgbClr val="EEF2F7"/>
          </a:solidFill>
          <a:ln w="12700">
            <a:solidFill>
              <a:srgbClr val="EEF2F7"/>
            </a:solidFill>
            <a:prstDash val="solid"/>
          </a:ln>
        </p:spPr>
        <p:txBody>
          <a:bodyPr/>
          <a:lstStyle/>
          <a:p>
            <a:endParaRPr lang="es-CL"/>
          </a:p>
        </p:txBody>
      </p:sp>
      <p:sp>
        <p:nvSpPr>
          <p:cNvPr id="15" name="Text 12"/>
          <p:cNvSpPr/>
          <p:nvPr/>
        </p:nvSpPr>
        <p:spPr>
          <a:xfrm>
            <a:off x="5623380" y="5586984"/>
            <a:ext cx="5852160" cy="411480"/>
          </a:xfrm>
          <a:prstGeom prst="rect">
            <a:avLst/>
          </a:prstGeom>
          <a:noFill/>
          <a:ln/>
        </p:spPr>
        <p:txBody>
          <a:bodyPr wrap="square" lIns="0" tIns="0" rIns="0" bIns="0" rtlCol="0" anchor="t">
            <a:noAutofit/>
          </a:bodyPr>
          <a:lstStyle/>
          <a:p>
            <a:pPr marL="0" indent="0" algn="l">
              <a:lnSpc>
                <a:spcPct val="100000"/>
              </a:lnSpc>
              <a:spcAft>
                <a:spcPts val="200"/>
              </a:spcAft>
              <a:buNone/>
            </a:pPr>
            <a:r>
              <a:rPr sz="1000">
                <a:solidFill>
                  <a:srgbClr val="1B1F2A"/>
                </a:solidFill>
                <a:latin typeface="Carlito"/>
              </a:rPr>
              <a:t>Consistente con el flujo de caja del plan de costos: total estimado $5.626.158 y desembolso en efectivo con contingencia $338.870. Al corte del 05/10 (S4): $81.143 sobre $308.064 y 0 % de desviación. Opción B productiva: USD 100 a 120 al mes, fuera del presupuesto.</a:t>
            </a:r>
            <a:endParaRPr lang="en-US" sz="1300" dirty="0"/>
          </a:p>
        </p:txBody>
      </p:sp>
      <p:sp>
        <p:nvSpPr>
          <p:cNvPr id="16" name="Text 13"/>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17" name="Text 14"/>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14</a:t>
            </a:r>
            <a:endParaRPr lang="en-US" sz="1000" dirty="0"/>
          </a:p>
        </p:txBody>
      </p:sp>
      <p:graphicFrame>
        <p:nvGraphicFramePr>
          <p:cNvPr id="19" name="Chart 0">
            <a:extLst>
              <a:ext uri="{FF2B5EF4-FFF2-40B4-BE49-F238E27FC236}">
                <a16:creationId xmlns:a16="http://schemas.microsoft.com/office/drawing/2014/main" id="{A5C530FE-A116-267C-57A0-8FC31B7866C2}"/>
              </a:ext>
            </a:extLst>
          </p:cNvPr>
          <p:cNvGraphicFramePr/>
          <p:nvPr/>
        </p:nvGraphicFramePr>
        <p:xfrm>
          <a:off x="5394960" y="1371600"/>
          <a:ext cx="6245352" cy="4023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Evidencias de avance</a:t>
            </a:r>
            <a:endParaRPr lang="en-US" sz="3400" dirty="0"/>
          </a:p>
        </p:txBody>
      </p:sp>
      <p:sp>
        <p:nvSpPr>
          <p:cNvPr id="3" name="Shape 1"/>
          <p:cNvSpPr/>
          <p:nvPr/>
        </p:nvSpPr>
        <p:spPr>
          <a:xfrm>
            <a:off x="548567" y="1417241"/>
            <a:ext cx="3502037" cy="3977580"/>
          </a:xfrm>
          <a:prstGeom prst="roundRect">
            <a:avLst>
              <a:gd name="adj" fmla="val 3760"/>
            </a:avLst>
          </a:prstGeom>
          <a:solidFill>
            <a:srgbClr val="EEF2F7"/>
          </a:solidFill>
          <a:ln w="12700">
            <a:solidFill>
              <a:srgbClr val="EEF2F7"/>
            </a:solidFill>
            <a:prstDash val="solid"/>
          </a:ln>
        </p:spPr>
        <p:txBody>
          <a:bodyPr/>
          <a:lstStyle/>
          <a:p>
            <a:endParaRPr lang="es-CL"/>
          </a:p>
        </p:txBody>
      </p:sp>
      <p:sp>
        <p:nvSpPr>
          <p:cNvPr id="4" name="Shape 2"/>
          <p:cNvSpPr/>
          <p:nvPr/>
        </p:nvSpPr>
        <p:spPr>
          <a:xfrm>
            <a:off x="822900" y="1645841"/>
            <a:ext cx="548567" cy="548580"/>
          </a:xfrm>
          <a:prstGeom prst="ellipse">
            <a:avLst/>
          </a:prstGeom>
          <a:solidFill>
            <a:srgbClr val="0B2A55"/>
          </a:solidFill>
          <a:ln w="12700">
            <a:solidFill>
              <a:srgbClr val="0B2A55"/>
            </a:solidFill>
            <a:prstDash val="solid"/>
          </a:ln>
        </p:spPr>
        <p:txBody>
          <a:bodyPr/>
          <a:lstStyle/>
          <a:p>
            <a:endParaRPr lang="es-CL"/>
          </a:p>
        </p:txBody>
      </p:sp>
      <p:pic>
        <p:nvPicPr>
          <p:cNvPr id="5" name="Image 0" descr="preencoded.png"/>
          <p:cNvPicPr>
            <a:picLocks noChangeAspect="1"/>
          </p:cNvPicPr>
          <p:nvPr/>
        </p:nvPicPr>
        <p:blipFill>
          <a:blip r:embed="rId3"/>
          <a:stretch>
            <a:fillRect/>
          </a:stretch>
        </p:blipFill>
        <p:spPr>
          <a:xfrm>
            <a:off x="960017" y="1783060"/>
            <a:ext cx="274234" cy="274241"/>
          </a:xfrm>
          <a:prstGeom prst="rect">
            <a:avLst/>
          </a:prstGeom>
        </p:spPr>
      </p:pic>
      <p:sp>
        <p:nvSpPr>
          <p:cNvPr id="6" name="Text 3"/>
          <p:cNvSpPr/>
          <p:nvPr/>
        </p:nvSpPr>
        <p:spPr>
          <a:xfrm>
            <a:off x="1554421" y="1753791"/>
            <a:ext cx="2285943" cy="304800"/>
          </a:xfrm>
          <a:prstGeom prst="rect">
            <a:avLst/>
          </a:prstGeom>
          <a:noFill/>
          <a:ln/>
        </p:spPr>
        <p:txBody>
          <a:bodyPr wrap="none" lIns="0" tIns="0" rIns="0" bIns="0" rtlCol="0" anchor="t"/>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Planificación</a:t>
            </a:r>
            <a:endParaRPr lang="en-US" sz="2000" dirty="0"/>
          </a:p>
        </p:txBody>
      </p:sp>
      <p:sp>
        <p:nvSpPr>
          <p:cNvPr id="7" name="Shape 4"/>
          <p:cNvSpPr/>
          <p:nvPr/>
        </p:nvSpPr>
        <p:spPr>
          <a:xfrm>
            <a:off x="868638" y="2624237"/>
            <a:ext cx="182856" cy="182860"/>
          </a:xfrm>
          <a:prstGeom prst="ellipse">
            <a:avLst/>
          </a:prstGeom>
          <a:solidFill>
            <a:srgbClr val="2E7D5B"/>
          </a:solidFill>
          <a:ln w="12700">
            <a:solidFill>
              <a:srgbClr val="2E7D5B"/>
            </a:solidFill>
            <a:prstDash val="solid"/>
          </a:ln>
        </p:spPr>
        <p:txBody>
          <a:bodyPr/>
          <a:lstStyle/>
          <a:p>
            <a:endParaRPr lang="es-CL"/>
          </a:p>
        </p:txBody>
      </p:sp>
      <p:sp>
        <p:nvSpPr>
          <p:cNvPr id="8" name="Text 5"/>
          <p:cNvSpPr/>
          <p:nvPr/>
        </p:nvSpPr>
        <p:spPr>
          <a:xfrm>
            <a:off x="1234350" y="2599630"/>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Acta de Constitución</a:t>
            </a:r>
            <a:endParaRPr lang="en-US" sz="1400" dirty="0"/>
          </a:p>
        </p:txBody>
      </p:sp>
      <p:sp>
        <p:nvSpPr>
          <p:cNvPr id="9" name="Shape 6"/>
          <p:cNvSpPr/>
          <p:nvPr/>
        </p:nvSpPr>
        <p:spPr>
          <a:xfrm>
            <a:off x="868638" y="3191173"/>
            <a:ext cx="182856" cy="182860"/>
          </a:xfrm>
          <a:prstGeom prst="ellipse">
            <a:avLst/>
          </a:prstGeom>
          <a:solidFill>
            <a:srgbClr val="2E7D5B"/>
          </a:solidFill>
          <a:ln w="12700">
            <a:solidFill>
              <a:srgbClr val="2E7D5B"/>
            </a:solidFill>
            <a:prstDash val="solid"/>
          </a:ln>
        </p:spPr>
        <p:txBody>
          <a:bodyPr/>
          <a:lstStyle/>
          <a:p>
            <a:endParaRPr lang="es-CL"/>
          </a:p>
        </p:txBody>
      </p:sp>
      <p:sp>
        <p:nvSpPr>
          <p:cNvPr id="10" name="Text 7"/>
          <p:cNvSpPr/>
          <p:nvPr/>
        </p:nvSpPr>
        <p:spPr>
          <a:xfrm>
            <a:off x="1234350" y="3166566"/>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EDT, hitos y diccionario</a:t>
            </a:r>
            <a:endParaRPr lang="en-US" sz="1400" dirty="0"/>
          </a:p>
        </p:txBody>
      </p:sp>
      <p:sp>
        <p:nvSpPr>
          <p:cNvPr id="11" name="Shape 8"/>
          <p:cNvSpPr/>
          <p:nvPr/>
        </p:nvSpPr>
        <p:spPr>
          <a:xfrm>
            <a:off x="868638" y="3758109"/>
            <a:ext cx="182856" cy="182860"/>
          </a:xfrm>
          <a:prstGeom prst="ellipse">
            <a:avLst/>
          </a:prstGeom>
          <a:solidFill>
            <a:srgbClr val="2E7D5B"/>
          </a:solidFill>
          <a:ln w="12700">
            <a:solidFill>
              <a:srgbClr val="2E7D5B"/>
            </a:solidFill>
            <a:prstDash val="solid"/>
          </a:ln>
        </p:spPr>
        <p:txBody>
          <a:bodyPr/>
          <a:lstStyle/>
          <a:p>
            <a:endParaRPr lang="es-CL"/>
          </a:p>
        </p:txBody>
      </p:sp>
      <p:sp>
        <p:nvSpPr>
          <p:cNvPr id="12" name="Text 9"/>
          <p:cNvSpPr/>
          <p:nvPr/>
        </p:nvSpPr>
        <p:spPr>
          <a:xfrm>
            <a:off x="1234350" y="3733502"/>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Carta Gantt</a:t>
            </a:r>
            <a:endParaRPr lang="en-US" sz="1400" dirty="0"/>
          </a:p>
        </p:txBody>
      </p:sp>
      <p:sp>
        <p:nvSpPr>
          <p:cNvPr id="13" name="Shape 10"/>
          <p:cNvSpPr/>
          <p:nvPr/>
        </p:nvSpPr>
        <p:spPr>
          <a:xfrm>
            <a:off x="868638" y="4325045"/>
            <a:ext cx="182856" cy="182860"/>
          </a:xfrm>
          <a:prstGeom prst="ellipse">
            <a:avLst/>
          </a:prstGeom>
          <a:solidFill>
            <a:srgbClr val="2E7D5B"/>
          </a:solidFill>
          <a:ln w="12700">
            <a:solidFill>
              <a:srgbClr val="2E7D5B"/>
            </a:solidFill>
            <a:prstDash val="solid"/>
          </a:ln>
        </p:spPr>
        <p:txBody>
          <a:bodyPr/>
          <a:lstStyle/>
          <a:p>
            <a:endParaRPr lang="es-CL"/>
          </a:p>
        </p:txBody>
      </p:sp>
      <p:sp>
        <p:nvSpPr>
          <p:cNvPr id="14" name="Text 11"/>
          <p:cNvSpPr/>
          <p:nvPr/>
        </p:nvSpPr>
        <p:spPr>
          <a:xfrm>
            <a:off x="1234350" y="4300438"/>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Matriz RACI</a:t>
            </a:r>
            <a:endParaRPr lang="en-US" sz="1400" dirty="0"/>
          </a:p>
        </p:txBody>
      </p:sp>
      <p:sp>
        <p:nvSpPr>
          <p:cNvPr id="15" name="Shape 12"/>
          <p:cNvSpPr/>
          <p:nvPr/>
        </p:nvSpPr>
        <p:spPr>
          <a:xfrm>
            <a:off x="868638" y="4891980"/>
            <a:ext cx="182856" cy="182860"/>
          </a:xfrm>
          <a:prstGeom prst="ellipse">
            <a:avLst/>
          </a:prstGeom>
          <a:solidFill>
            <a:srgbClr val="2E7D5B"/>
          </a:solidFill>
          <a:ln w="12700">
            <a:solidFill>
              <a:srgbClr val="2E7D5B"/>
            </a:solidFill>
            <a:prstDash val="solid"/>
          </a:ln>
        </p:spPr>
        <p:txBody>
          <a:bodyPr/>
          <a:lstStyle/>
          <a:p>
            <a:endParaRPr lang="es-CL"/>
          </a:p>
        </p:txBody>
      </p:sp>
      <p:sp>
        <p:nvSpPr>
          <p:cNvPr id="16" name="Text 13"/>
          <p:cNvSpPr/>
          <p:nvPr/>
        </p:nvSpPr>
        <p:spPr>
          <a:xfrm>
            <a:off x="1234350" y="4867374"/>
            <a:ext cx="3261239" cy="266700"/>
          </a:xfrm>
          <a:prstGeom prst="rect">
            <a:avLst/>
          </a:prstGeom>
          <a:noFill/>
          <a:ln/>
        </p:spPr>
        <p:txBody>
          <a:bodyPr wrap="none" lIns="0" tIns="0" rIns="0" bIns="0" rtlCol="0" anchor="t">
            <a:noAutofit/>
          </a:bodyPr>
          <a:lstStyle/>
          <a:p>
            <a:pPr marL="0" indent="0" algn="l">
              <a:lnSpc>
                <a:spcPct val="125000"/>
              </a:lnSpc>
              <a:spcAft>
                <a:spcPts val="200"/>
              </a:spcAft>
              <a:buNone/>
            </a:pPr>
            <a:r>
              <a:rPr sz="1400">
                <a:solidFill>
                  <a:srgbClr val="1B1F2A"/>
                </a:solidFill>
                <a:latin typeface="Carlito"/>
              </a:rPr>
              <a:t>Matriz de riesgos actualizada</a:t>
            </a:r>
            <a:endParaRPr lang="en-US" sz="1400" dirty="0"/>
          </a:p>
        </p:txBody>
      </p:sp>
      <p:sp>
        <p:nvSpPr>
          <p:cNvPr id="17" name="Shape 14"/>
          <p:cNvSpPr/>
          <p:nvPr/>
        </p:nvSpPr>
        <p:spPr>
          <a:xfrm>
            <a:off x="4343291" y="1417241"/>
            <a:ext cx="3502037" cy="3977580"/>
          </a:xfrm>
          <a:prstGeom prst="roundRect">
            <a:avLst>
              <a:gd name="adj" fmla="val 3760"/>
            </a:avLst>
          </a:prstGeom>
          <a:solidFill>
            <a:srgbClr val="EEF2F7"/>
          </a:solidFill>
          <a:ln w="12700">
            <a:solidFill>
              <a:srgbClr val="EEF2F7"/>
            </a:solidFill>
            <a:prstDash val="solid"/>
          </a:ln>
        </p:spPr>
        <p:txBody>
          <a:bodyPr/>
          <a:lstStyle/>
          <a:p>
            <a:endParaRPr lang="es-CL"/>
          </a:p>
        </p:txBody>
      </p:sp>
      <p:sp>
        <p:nvSpPr>
          <p:cNvPr id="18" name="Shape 15"/>
          <p:cNvSpPr/>
          <p:nvPr/>
        </p:nvSpPr>
        <p:spPr>
          <a:xfrm>
            <a:off x="4617525" y="1645841"/>
            <a:ext cx="548567" cy="548580"/>
          </a:xfrm>
          <a:prstGeom prst="ellipse">
            <a:avLst/>
          </a:prstGeom>
          <a:solidFill>
            <a:srgbClr val="0B2A55"/>
          </a:solidFill>
          <a:ln w="12700">
            <a:solidFill>
              <a:srgbClr val="0B2A55"/>
            </a:solidFill>
            <a:prstDash val="solid"/>
          </a:ln>
        </p:spPr>
        <p:txBody>
          <a:bodyPr/>
          <a:lstStyle/>
          <a:p>
            <a:endParaRPr lang="es-CL"/>
          </a:p>
        </p:txBody>
      </p:sp>
      <p:pic>
        <p:nvPicPr>
          <p:cNvPr id="19" name="Image 1" descr="preencoded.png"/>
          <p:cNvPicPr>
            <a:picLocks noChangeAspect="1"/>
          </p:cNvPicPr>
          <p:nvPr/>
        </p:nvPicPr>
        <p:blipFill>
          <a:blip r:embed="rId4"/>
          <a:stretch>
            <a:fillRect/>
          </a:stretch>
        </p:blipFill>
        <p:spPr>
          <a:xfrm>
            <a:off x="4754741" y="1783060"/>
            <a:ext cx="274234" cy="274241"/>
          </a:xfrm>
          <a:prstGeom prst="rect">
            <a:avLst/>
          </a:prstGeom>
        </p:spPr>
      </p:pic>
      <p:sp>
        <p:nvSpPr>
          <p:cNvPr id="20" name="Text 16"/>
          <p:cNvSpPr/>
          <p:nvPr/>
        </p:nvSpPr>
        <p:spPr>
          <a:xfrm>
            <a:off x="5349047" y="1753791"/>
            <a:ext cx="2285943" cy="304800"/>
          </a:xfrm>
          <a:prstGeom prst="rect">
            <a:avLst/>
          </a:prstGeom>
          <a:noFill/>
          <a:ln/>
        </p:spPr>
        <p:txBody>
          <a:bodyPr wrap="none" lIns="0" tIns="0" rIns="0" bIns="0" rtlCol="0" anchor="t"/>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Análisis y diseño</a:t>
            </a:r>
            <a:endParaRPr lang="en-US" sz="2000" dirty="0"/>
          </a:p>
        </p:txBody>
      </p:sp>
      <p:sp>
        <p:nvSpPr>
          <p:cNvPr id="21" name="Shape 17"/>
          <p:cNvSpPr/>
          <p:nvPr/>
        </p:nvSpPr>
        <p:spPr>
          <a:xfrm>
            <a:off x="4663264" y="2624237"/>
            <a:ext cx="182856" cy="182860"/>
          </a:xfrm>
          <a:prstGeom prst="ellipse">
            <a:avLst/>
          </a:prstGeom>
          <a:solidFill>
            <a:srgbClr val="2E7D5B"/>
          </a:solidFill>
          <a:ln w="12700">
            <a:solidFill>
              <a:srgbClr val="2E7D5B"/>
            </a:solidFill>
            <a:prstDash val="solid"/>
          </a:ln>
        </p:spPr>
        <p:txBody>
          <a:bodyPr/>
          <a:lstStyle/>
          <a:p>
            <a:endParaRPr lang="es-CL"/>
          </a:p>
        </p:txBody>
      </p:sp>
      <p:sp>
        <p:nvSpPr>
          <p:cNvPr id="22" name="Text 18"/>
          <p:cNvSpPr/>
          <p:nvPr/>
        </p:nvSpPr>
        <p:spPr>
          <a:xfrm>
            <a:off x="5029074" y="2599630"/>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ERS y criterios de aceptación</a:t>
            </a:r>
            <a:endParaRPr lang="en-US" sz="1400" dirty="0"/>
          </a:p>
        </p:txBody>
      </p:sp>
      <p:sp>
        <p:nvSpPr>
          <p:cNvPr id="23" name="Shape 19"/>
          <p:cNvSpPr/>
          <p:nvPr/>
        </p:nvSpPr>
        <p:spPr>
          <a:xfrm>
            <a:off x="4663264" y="3191173"/>
            <a:ext cx="182856" cy="182860"/>
          </a:xfrm>
          <a:prstGeom prst="ellipse">
            <a:avLst/>
          </a:prstGeom>
          <a:solidFill>
            <a:srgbClr val="2E7D5B"/>
          </a:solidFill>
          <a:ln w="12700">
            <a:solidFill>
              <a:srgbClr val="2E7D5B"/>
            </a:solidFill>
            <a:prstDash val="solid"/>
          </a:ln>
        </p:spPr>
        <p:txBody>
          <a:bodyPr/>
          <a:lstStyle/>
          <a:p>
            <a:endParaRPr lang="es-CL"/>
          </a:p>
        </p:txBody>
      </p:sp>
      <p:sp>
        <p:nvSpPr>
          <p:cNvPr id="24" name="Text 20"/>
          <p:cNvSpPr/>
          <p:nvPr/>
        </p:nvSpPr>
        <p:spPr>
          <a:xfrm>
            <a:off x="5029074" y="3166566"/>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Arquitectura de la solución</a:t>
            </a:r>
            <a:endParaRPr lang="en-US" sz="1400" dirty="0"/>
          </a:p>
        </p:txBody>
      </p:sp>
      <p:sp>
        <p:nvSpPr>
          <p:cNvPr id="25" name="Shape 21"/>
          <p:cNvSpPr/>
          <p:nvPr/>
        </p:nvSpPr>
        <p:spPr>
          <a:xfrm>
            <a:off x="4663264" y="3758109"/>
            <a:ext cx="182856" cy="182860"/>
          </a:xfrm>
          <a:prstGeom prst="ellipse">
            <a:avLst/>
          </a:prstGeom>
          <a:solidFill>
            <a:srgbClr val="2E7D5B"/>
          </a:solidFill>
          <a:ln w="12700">
            <a:solidFill>
              <a:srgbClr val="2E7D5B"/>
            </a:solidFill>
            <a:prstDash val="solid"/>
          </a:ln>
        </p:spPr>
        <p:txBody>
          <a:bodyPr/>
          <a:lstStyle/>
          <a:p>
            <a:endParaRPr lang="es-CL"/>
          </a:p>
        </p:txBody>
      </p:sp>
      <p:sp>
        <p:nvSpPr>
          <p:cNvPr id="26" name="Text 22"/>
          <p:cNvSpPr/>
          <p:nvPr/>
        </p:nvSpPr>
        <p:spPr>
          <a:xfrm>
            <a:off x="5029074" y="3733502"/>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Plan de calidad y costos</a:t>
            </a:r>
            <a:endParaRPr lang="en-US" sz="1400" dirty="0"/>
          </a:p>
        </p:txBody>
      </p:sp>
      <p:sp>
        <p:nvSpPr>
          <p:cNvPr id="27" name="Shape 23"/>
          <p:cNvSpPr/>
          <p:nvPr/>
        </p:nvSpPr>
        <p:spPr>
          <a:xfrm>
            <a:off x="4663264" y="4325045"/>
            <a:ext cx="182856" cy="182860"/>
          </a:xfrm>
          <a:prstGeom prst="ellipse">
            <a:avLst/>
          </a:prstGeom>
          <a:solidFill>
            <a:srgbClr val="C27C0E"/>
          </a:solidFill>
          <a:ln w="12700">
            <a:solidFill>
              <a:srgbClr val="C27C0E"/>
            </a:solidFill>
            <a:prstDash val="solid"/>
          </a:ln>
        </p:spPr>
        <p:txBody>
          <a:bodyPr/>
          <a:lstStyle/>
          <a:p>
            <a:endParaRPr lang="es-CL"/>
          </a:p>
        </p:txBody>
      </p:sp>
      <p:sp>
        <p:nvSpPr>
          <p:cNvPr id="28" name="Text 24"/>
          <p:cNvSpPr/>
          <p:nvPr/>
        </p:nvSpPr>
        <p:spPr>
          <a:xfrm>
            <a:off x="5029074" y="4300438"/>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Modelo de datos</a:t>
            </a:r>
            <a:endParaRPr lang="en-US" sz="1400" dirty="0"/>
          </a:p>
        </p:txBody>
      </p:sp>
      <p:sp>
        <p:nvSpPr>
          <p:cNvPr id="29" name="Shape 25"/>
          <p:cNvSpPr/>
          <p:nvPr/>
        </p:nvSpPr>
        <p:spPr>
          <a:xfrm>
            <a:off x="4663264" y="4891980"/>
            <a:ext cx="182856" cy="182860"/>
          </a:xfrm>
          <a:prstGeom prst="ellipse">
            <a:avLst/>
          </a:prstGeom>
          <a:solidFill>
            <a:srgbClr val="C27C0E"/>
          </a:solidFill>
          <a:ln w="12700">
            <a:solidFill>
              <a:srgbClr val="C27C0E"/>
            </a:solidFill>
            <a:prstDash val="solid"/>
          </a:ln>
        </p:spPr>
        <p:txBody>
          <a:bodyPr/>
          <a:lstStyle/>
          <a:p>
            <a:endParaRPr lang="es-CL"/>
          </a:p>
        </p:txBody>
      </p:sp>
      <p:sp>
        <p:nvSpPr>
          <p:cNvPr id="30" name="Text 26"/>
          <p:cNvSpPr/>
          <p:nvPr/>
        </p:nvSpPr>
        <p:spPr>
          <a:xfrm>
            <a:off x="5029074" y="4867374"/>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Mockups de interfaz</a:t>
            </a:r>
            <a:endParaRPr lang="en-US" sz="1400" dirty="0"/>
          </a:p>
        </p:txBody>
      </p:sp>
      <p:sp>
        <p:nvSpPr>
          <p:cNvPr id="31" name="Shape 27"/>
          <p:cNvSpPr/>
          <p:nvPr/>
        </p:nvSpPr>
        <p:spPr>
          <a:xfrm>
            <a:off x="8137917" y="1417241"/>
            <a:ext cx="3502037" cy="3977580"/>
          </a:xfrm>
          <a:prstGeom prst="roundRect">
            <a:avLst>
              <a:gd name="adj" fmla="val 3760"/>
            </a:avLst>
          </a:prstGeom>
          <a:solidFill>
            <a:srgbClr val="EEF2F7"/>
          </a:solidFill>
          <a:ln w="12700">
            <a:solidFill>
              <a:srgbClr val="EEF2F7"/>
            </a:solidFill>
            <a:prstDash val="solid"/>
          </a:ln>
        </p:spPr>
        <p:txBody>
          <a:bodyPr/>
          <a:lstStyle/>
          <a:p>
            <a:endParaRPr lang="es-CL"/>
          </a:p>
        </p:txBody>
      </p:sp>
      <p:sp>
        <p:nvSpPr>
          <p:cNvPr id="32" name="Shape 28"/>
          <p:cNvSpPr/>
          <p:nvPr/>
        </p:nvSpPr>
        <p:spPr>
          <a:xfrm>
            <a:off x="8412250" y="1645841"/>
            <a:ext cx="548567" cy="548580"/>
          </a:xfrm>
          <a:prstGeom prst="ellipse">
            <a:avLst/>
          </a:prstGeom>
          <a:solidFill>
            <a:srgbClr val="0B2A55"/>
          </a:solidFill>
          <a:ln w="12700">
            <a:solidFill>
              <a:srgbClr val="0B2A55"/>
            </a:solidFill>
            <a:prstDash val="solid"/>
          </a:ln>
        </p:spPr>
        <p:txBody>
          <a:bodyPr/>
          <a:lstStyle/>
          <a:p>
            <a:endParaRPr lang="es-CL"/>
          </a:p>
        </p:txBody>
      </p:sp>
      <p:pic>
        <p:nvPicPr>
          <p:cNvPr id="33" name="Image 2" descr="preencoded.png"/>
          <p:cNvPicPr>
            <a:picLocks noChangeAspect="1"/>
          </p:cNvPicPr>
          <p:nvPr/>
        </p:nvPicPr>
        <p:blipFill>
          <a:blip r:embed="rId5"/>
          <a:stretch>
            <a:fillRect/>
          </a:stretch>
        </p:blipFill>
        <p:spPr>
          <a:xfrm>
            <a:off x="8549367" y="1783060"/>
            <a:ext cx="274234" cy="274241"/>
          </a:xfrm>
          <a:prstGeom prst="rect">
            <a:avLst/>
          </a:prstGeom>
        </p:spPr>
      </p:pic>
      <p:sp>
        <p:nvSpPr>
          <p:cNvPr id="34" name="Text 29"/>
          <p:cNvSpPr/>
          <p:nvPr/>
        </p:nvSpPr>
        <p:spPr>
          <a:xfrm>
            <a:off x="9143771" y="1753791"/>
            <a:ext cx="2285943" cy="304800"/>
          </a:xfrm>
          <a:prstGeom prst="rect">
            <a:avLst/>
          </a:prstGeom>
          <a:noFill/>
          <a:ln/>
        </p:spPr>
        <p:txBody>
          <a:bodyPr wrap="none" lIns="0" tIns="0" rIns="0" bIns="0" rtlCol="0" anchor="t"/>
          <a:lstStyle/>
          <a:p>
            <a:pPr marL="0" indent="0" algn="l">
              <a:lnSpc>
                <a:spcPct val="100000"/>
              </a:lnSpc>
              <a:buNone/>
            </a:pPr>
            <a:r>
              <a:rPr lang="en-US" sz="2000" b="1" dirty="0">
                <a:solidFill>
                  <a:srgbClr val="0B2A55"/>
                </a:solidFill>
                <a:latin typeface="Carlito Bold" pitchFamily="34" charset="0"/>
                <a:ea typeface="Carlito Bold" pitchFamily="34" charset="-122"/>
                <a:cs typeface="Carlito Bold" pitchFamily="34" charset="-120"/>
              </a:rPr>
              <a:t>Pruebas y código</a:t>
            </a:r>
            <a:endParaRPr lang="en-US" sz="2000" dirty="0"/>
          </a:p>
        </p:txBody>
      </p:sp>
      <p:sp>
        <p:nvSpPr>
          <p:cNvPr id="35" name="Shape 30"/>
          <p:cNvSpPr/>
          <p:nvPr/>
        </p:nvSpPr>
        <p:spPr>
          <a:xfrm>
            <a:off x="8457988" y="2624237"/>
            <a:ext cx="182856" cy="182860"/>
          </a:xfrm>
          <a:prstGeom prst="ellipse">
            <a:avLst/>
          </a:prstGeom>
          <a:solidFill>
            <a:srgbClr val="2E7D5B"/>
          </a:solidFill>
          <a:ln w="12700">
            <a:solidFill>
              <a:srgbClr val="2E7D5B"/>
            </a:solidFill>
            <a:prstDash val="solid"/>
          </a:ln>
        </p:spPr>
        <p:txBody>
          <a:bodyPr/>
          <a:lstStyle/>
          <a:p>
            <a:endParaRPr lang="es-CL"/>
          </a:p>
        </p:txBody>
      </p:sp>
      <p:sp>
        <p:nvSpPr>
          <p:cNvPr id="36" name="Text 31"/>
          <p:cNvSpPr/>
          <p:nvPr/>
        </p:nvSpPr>
        <p:spPr>
          <a:xfrm>
            <a:off x="8823700" y="2599630"/>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Plan de pruebas y matriz de casos</a:t>
            </a:r>
            <a:endParaRPr lang="en-US" sz="1400" dirty="0"/>
          </a:p>
        </p:txBody>
      </p:sp>
      <p:sp>
        <p:nvSpPr>
          <p:cNvPr id="38" name="Text 33"/>
          <p:cNvSpPr/>
          <p:nvPr/>
        </p:nvSpPr>
        <p:spPr>
          <a:xfrm>
            <a:off x="8823700" y="3166566"/>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Repositorio Git</a:t>
            </a:r>
            <a:endParaRPr lang="en-US" sz="1400" dirty="0"/>
          </a:p>
        </p:txBody>
      </p:sp>
      <p:sp>
        <p:nvSpPr>
          <p:cNvPr id="39" name="Shape 34"/>
          <p:cNvSpPr/>
          <p:nvPr/>
        </p:nvSpPr>
        <p:spPr>
          <a:xfrm>
            <a:off x="8457988" y="3758109"/>
            <a:ext cx="182856" cy="182860"/>
          </a:xfrm>
          <a:prstGeom prst="ellipse">
            <a:avLst/>
          </a:prstGeom>
          <a:solidFill>
            <a:srgbClr val="C27C0E"/>
          </a:solidFill>
          <a:ln w="12700">
            <a:solidFill>
              <a:srgbClr val="C27C0E"/>
            </a:solidFill>
            <a:prstDash val="solid"/>
          </a:ln>
        </p:spPr>
        <p:txBody>
          <a:bodyPr/>
          <a:lstStyle/>
          <a:p>
            <a:endParaRPr lang="es-CL"/>
          </a:p>
        </p:txBody>
      </p:sp>
      <p:sp>
        <p:nvSpPr>
          <p:cNvPr id="40" name="Text 35"/>
          <p:cNvSpPr/>
          <p:nvPr/>
        </p:nvSpPr>
        <p:spPr>
          <a:xfrm>
            <a:off x="8823700" y="3733502"/>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Scripts de base de datos</a:t>
            </a:r>
            <a:endParaRPr lang="en-US" sz="1400" dirty="0"/>
          </a:p>
        </p:txBody>
      </p:sp>
      <p:sp>
        <p:nvSpPr>
          <p:cNvPr id="41" name="Shape 36"/>
          <p:cNvSpPr/>
          <p:nvPr/>
        </p:nvSpPr>
        <p:spPr>
          <a:xfrm>
            <a:off x="8457988" y="4325045"/>
            <a:ext cx="182856" cy="182860"/>
          </a:xfrm>
          <a:prstGeom prst="ellipse">
            <a:avLst/>
          </a:prstGeom>
          <a:solidFill>
            <a:srgbClr val="C27C0E"/>
          </a:solidFill>
          <a:ln w="12700">
            <a:solidFill>
              <a:srgbClr val="C27C0E"/>
            </a:solidFill>
            <a:prstDash val="solid"/>
          </a:ln>
        </p:spPr>
        <p:txBody>
          <a:bodyPr/>
          <a:lstStyle/>
          <a:p>
            <a:endParaRPr lang="es-CL"/>
          </a:p>
        </p:txBody>
      </p:sp>
      <p:sp>
        <p:nvSpPr>
          <p:cNvPr id="42" name="Text 37"/>
          <p:cNvSpPr/>
          <p:nvPr/>
        </p:nvSpPr>
        <p:spPr>
          <a:xfrm>
            <a:off x="8823700" y="4300438"/>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Configuración de despliegue</a:t>
            </a:r>
            <a:endParaRPr lang="en-US" sz="1400" dirty="0"/>
          </a:p>
        </p:txBody>
      </p:sp>
      <p:sp>
        <p:nvSpPr>
          <p:cNvPr id="43" name="Shape 38"/>
          <p:cNvSpPr/>
          <p:nvPr/>
        </p:nvSpPr>
        <p:spPr>
          <a:xfrm>
            <a:off x="8457988" y="4891980"/>
            <a:ext cx="182856" cy="182860"/>
          </a:xfrm>
          <a:prstGeom prst="ellipse">
            <a:avLst/>
          </a:prstGeom>
          <a:solidFill>
            <a:srgbClr val="C27C0E"/>
          </a:solidFill>
          <a:ln w="12700">
            <a:solidFill>
              <a:srgbClr val="C27C0E"/>
            </a:solidFill>
            <a:prstDash val="solid"/>
          </a:ln>
        </p:spPr>
        <p:txBody>
          <a:bodyPr/>
          <a:lstStyle/>
          <a:p>
            <a:endParaRPr lang="es-CL"/>
          </a:p>
        </p:txBody>
      </p:sp>
      <p:sp>
        <p:nvSpPr>
          <p:cNvPr id="44" name="Text 39"/>
          <p:cNvSpPr/>
          <p:nvPr/>
        </p:nvSpPr>
        <p:spPr>
          <a:xfrm>
            <a:off x="8823700" y="4867374"/>
            <a:ext cx="3261239"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Minutas de control semanal</a:t>
            </a:r>
            <a:endParaRPr lang="en-US" sz="1400" dirty="0"/>
          </a:p>
        </p:txBody>
      </p:sp>
      <p:sp>
        <p:nvSpPr>
          <p:cNvPr id="45" name="Shape 40"/>
          <p:cNvSpPr/>
          <p:nvPr/>
        </p:nvSpPr>
        <p:spPr>
          <a:xfrm>
            <a:off x="548567" y="5577780"/>
            <a:ext cx="182856" cy="182860"/>
          </a:xfrm>
          <a:prstGeom prst="ellipse">
            <a:avLst/>
          </a:prstGeom>
          <a:solidFill>
            <a:srgbClr val="2E7D5B"/>
          </a:solidFill>
          <a:ln w="12700">
            <a:solidFill>
              <a:srgbClr val="2E7D5B"/>
            </a:solidFill>
            <a:prstDash val="solid"/>
          </a:ln>
        </p:spPr>
        <p:txBody>
          <a:bodyPr/>
          <a:lstStyle/>
          <a:p>
            <a:endParaRPr lang="es-CL"/>
          </a:p>
        </p:txBody>
      </p:sp>
      <p:sp>
        <p:nvSpPr>
          <p:cNvPr id="46" name="Text 41"/>
          <p:cNvSpPr/>
          <p:nvPr/>
        </p:nvSpPr>
        <p:spPr>
          <a:xfrm>
            <a:off x="822900" y="5556250"/>
            <a:ext cx="1981150" cy="247650"/>
          </a:xfrm>
          <a:prstGeom prst="rect">
            <a:avLst/>
          </a:prstGeom>
          <a:noFill/>
          <a:ln/>
        </p:spPr>
        <p:txBody>
          <a:bodyPr wrap="none" lIns="0" tIns="0" rIns="0" bIns="0" rtlCol="0" anchor="t"/>
          <a:lstStyle/>
          <a:p>
            <a:pPr marL="0" indent="0" algn="l">
              <a:lnSpc>
                <a:spcPct val="125000"/>
              </a:lnSpc>
              <a:buNone/>
            </a:pPr>
            <a:r>
              <a:rPr lang="en-US" sz="1300" dirty="0">
                <a:solidFill>
                  <a:srgbClr val="1B1F2A"/>
                </a:solidFill>
                <a:latin typeface="Carlito" pitchFamily="34" charset="0"/>
                <a:ea typeface="Carlito" pitchFamily="34" charset="-122"/>
                <a:cs typeface="Carlito" pitchFamily="34" charset="-120"/>
              </a:rPr>
              <a:t>Entregado</a:t>
            </a:r>
            <a:endParaRPr lang="en-US" sz="1300" dirty="0"/>
          </a:p>
        </p:txBody>
      </p:sp>
      <p:sp>
        <p:nvSpPr>
          <p:cNvPr id="47" name="Shape 42"/>
          <p:cNvSpPr/>
          <p:nvPr/>
        </p:nvSpPr>
        <p:spPr>
          <a:xfrm>
            <a:off x="2285943" y="5577780"/>
            <a:ext cx="182856" cy="182860"/>
          </a:xfrm>
          <a:prstGeom prst="ellipse">
            <a:avLst/>
          </a:prstGeom>
          <a:solidFill>
            <a:srgbClr val="C27C0E"/>
          </a:solidFill>
          <a:ln w="12700">
            <a:solidFill>
              <a:srgbClr val="C27C0E"/>
            </a:solidFill>
            <a:prstDash val="solid"/>
          </a:ln>
        </p:spPr>
        <p:txBody>
          <a:bodyPr/>
          <a:lstStyle/>
          <a:p>
            <a:endParaRPr lang="es-CL"/>
          </a:p>
        </p:txBody>
      </p:sp>
      <p:sp>
        <p:nvSpPr>
          <p:cNvPr id="48" name="Text 43"/>
          <p:cNvSpPr/>
          <p:nvPr/>
        </p:nvSpPr>
        <p:spPr>
          <a:xfrm>
            <a:off x="2560177" y="5556250"/>
            <a:ext cx="1981150" cy="247650"/>
          </a:xfrm>
          <a:prstGeom prst="rect">
            <a:avLst/>
          </a:prstGeom>
          <a:noFill/>
          <a:ln/>
        </p:spPr>
        <p:txBody>
          <a:bodyPr wrap="none" lIns="0" tIns="0" rIns="0" bIns="0" rtlCol="0" anchor="t"/>
          <a:lstStyle/>
          <a:p>
            <a:pPr marL="0" indent="0" algn="l">
              <a:lnSpc>
                <a:spcPct val="125000"/>
              </a:lnSpc>
              <a:buNone/>
            </a:pPr>
            <a:r>
              <a:rPr lang="en-US" sz="1300" dirty="0">
                <a:solidFill>
                  <a:srgbClr val="1B1F2A"/>
                </a:solidFill>
                <a:latin typeface="Carlito" pitchFamily="34" charset="0"/>
                <a:ea typeface="Carlito" pitchFamily="34" charset="-122"/>
                <a:cs typeface="Carlito" pitchFamily="34" charset="-120"/>
              </a:rPr>
              <a:t>En curso</a:t>
            </a:r>
            <a:endParaRPr lang="en-US" sz="1300" dirty="0"/>
          </a:p>
        </p:txBody>
      </p:sp>
      <p:sp>
        <p:nvSpPr>
          <p:cNvPr id="49" name="Text 44"/>
          <p:cNvSpPr/>
          <p:nvPr/>
        </p:nvSpPr>
        <p:spPr>
          <a:xfrm>
            <a:off x="4114697" y="5709599"/>
            <a:ext cx="7525256" cy="539496"/>
          </a:xfrm>
          <a:prstGeom prst="rect">
            <a:avLst/>
          </a:prstGeom>
          <a:noFill/>
          <a:ln/>
        </p:spPr>
        <p:txBody>
          <a:bodyPr wrap="square" lIns="0" tIns="0" rIns="0" bIns="0" rtlCol="0" anchor="t">
            <a:noAutofit/>
          </a:bodyPr>
          <a:lstStyle/>
          <a:p>
            <a:pPr marL="0" indent="0" algn="r">
              <a:lnSpc>
                <a:spcPct val="100000"/>
              </a:lnSpc>
              <a:spcAft>
                <a:spcPts val="200"/>
              </a:spcAft>
              <a:buNone/>
            </a:pPr>
            <a:r>
              <a:rPr sz="1100" dirty="0">
                <a:solidFill>
                  <a:srgbClr val="5B6577"/>
                </a:solidFill>
                <a:latin typeface="Carlito"/>
              </a:rPr>
              <a:t>El ajuste de alcance obligó a corregir y actualizar los documentos base (ERS, EDT, modelo de datos y plan de pruebas); esa corrección se presenta como evidencia de avance. Las etapas de construcción, integración y pruebas finales siguen planificadas: no se presentan como terminadas.</a:t>
            </a:r>
            <a:endParaRPr lang="en-US" sz="1300" dirty="0"/>
          </a:p>
        </p:txBody>
      </p:sp>
      <p:sp>
        <p:nvSpPr>
          <p:cNvPr id="50" name="Text 45"/>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51" name="Text 46"/>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15</a:t>
            </a:r>
            <a:endParaRPr lang="en-US" sz="1000" dirty="0"/>
          </a:p>
        </p:txBody>
      </p:sp>
      <p:sp>
        <p:nvSpPr>
          <p:cNvPr id="52" name="Oval 51"/>
          <p:cNvSpPr/>
          <p:nvPr/>
        </p:nvSpPr>
        <p:spPr>
          <a:xfrm>
            <a:off x="2605845" y="1124999"/>
            <a:ext cx="182880" cy="182880"/>
          </a:xfrm>
          <a:prstGeom prst="ellipse">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971605" y="1124671"/>
            <a:ext cx="3181961" cy="176972"/>
          </a:xfrm>
          <a:prstGeom prst="rect">
            <a:avLst/>
          </a:prstGeom>
          <a:noFill/>
        </p:spPr>
        <p:txBody>
          <a:bodyPr wrap="none" lIns="0" tIns="0" rIns="0" bIns="0" anchor="t">
            <a:spAutoFit/>
          </a:bodyPr>
          <a:lstStyle/>
          <a:p>
            <a:pPr algn="l">
              <a:lnSpc>
                <a:spcPct val="100000"/>
              </a:lnSpc>
            </a:pPr>
            <a:r>
              <a:rPr sz="1150" b="0" dirty="0" err="1">
                <a:solidFill>
                  <a:srgbClr val="1B1F2A"/>
                </a:solidFill>
                <a:latin typeface="Carlito"/>
              </a:rPr>
              <a:t>Documentos</a:t>
            </a:r>
            <a:r>
              <a:rPr sz="1150" b="0" dirty="0">
                <a:solidFill>
                  <a:srgbClr val="1B1F2A"/>
                </a:solidFill>
                <a:latin typeface="Carlito"/>
              </a:rPr>
              <a:t> </a:t>
            </a:r>
            <a:r>
              <a:rPr sz="1150" b="0" dirty="0" err="1">
                <a:solidFill>
                  <a:srgbClr val="1B1F2A"/>
                </a:solidFill>
                <a:latin typeface="Carlito"/>
              </a:rPr>
              <a:t>actualizados</a:t>
            </a:r>
            <a:r>
              <a:rPr sz="1150" b="0" dirty="0">
                <a:solidFill>
                  <a:srgbClr val="1B1F2A"/>
                </a:solidFill>
                <a:latin typeface="Carlito"/>
              </a:rPr>
              <a:t> </a:t>
            </a:r>
            <a:r>
              <a:rPr lang="es-CL" sz="1150" b="0" dirty="0">
                <a:solidFill>
                  <a:srgbClr val="1B1F2A"/>
                </a:solidFill>
                <a:latin typeface="Carlito"/>
              </a:rPr>
              <a:t>por </a:t>
            </a:r>
            <a:r>
              <a:rPr sz="1150" b="0" dirty="0">
                <a:solidFill>
                  <a:srgbClr val="1B1F2A"/>
                </a:solidFill>
                <a:latin typeface="Carlito"/>
              </a:rPr>
              <a:t>p</a:t>
            </a:r>
            <a:r>
              <a:rPr lang="es-CL" sz="1150" b="0" dirty="0" err="1">
                <a:solidFill>
                  <a:srgbClr val="1B1F2A"/>
                </a:solidFill>
                <a:latin typeface="Carlito"/>
              </a:rPr>
              <a:t>ropuestas</a:t>
            </a:r>
            <a:r>
              <a:rPr sz="1150" b="0" dirty="0">
                <a:solidFill>
                  <a:srgbClr val="1B1F2A"/>
                </a:solidFill>
                <a:latin typeface="Carlito"/>
              </a:rPr>
              <a:t> </a:t>
            </a:r>
            <a:r>
              <a:rPr lang="es-CL" sz="1150" b="0" dirty="0">
                <a:solidFill>
                  <a:srgbClr val="1B1F2A"/>
                </a:solidFill>
                <a:latin typeface="Carlito"/>
              </a:rPr>
              <a:t>d</a:t>
            </a:r>
            <a:r>
              <a:rPr sz="1150" b="0" dirty="0">
                <a:solidFill>
                  <a:srgbClr val="1B1F2A"/>
                </a:solidFill>
                <a:latin typeface="Carlito"/>
              </a:rPr>
              <a:t>el </a:t>
            </a:r>
            <a:r>
              <a:rPr sz="1150" b="0" dirty="0" err="1">
                <a:solidFill>
                  <a:srgbClr val="1B1F2A"/>
                </a:solidFill>
                <a:latin typeface="Carlito"/>
              </a:rPr>
              <a:t>alcance</a:t>
            </a:r>
            <a:endParaRPr sz="1150" b="0" dirty="0">
              <a:solidFill>
                <a:srgbClr val="1B1F2A"/>
              </a:solidFill>
              <a:latin typeface="Carlito"/>
            </a:endParaRPr>
          </a:p>
        </p:txBody>
      </p:sp>
      <p:sp>
        <p:nvSpPr>
          <p:cNvPr id="55" name="Shape 30">
            <a:extLst>
              <a:ext uri="{FF2B5EF4-FFF2-40B4-BE49-F238E27FC236}">
                <a16:creationId xmlns:a16="http://schemas.microsoft.com/office/drawing/2014/main" id="{DBB14ACF-19D3-DB41-B680-AE2EF81DE476}"/>
              </a:ext>
            </a:extLst>
          </p:cNvPr>
          <p:cNvSpPr/>
          <p:nvPr/>
        </p:nvSpPr>
        <p:spPr>
          <a:xfrm>
            <a:off x="8457939" y="3220788"/>
            <a:ext cx="182856" cy="182860"/>
          </a:xfrm>
          <a:prstGeom prst="ellipse">
            <a:avLst/>
          </a:prstGeom>
          <a:solidFill>
            <a:srgbClr val="2E7D5B"/>
          </a:solidFill>
          <a:ln w="12700">
            <a:solidFill>
              <a:srgbClr val="2E7D5B"/>
            </a:solidFill>
            <a:prstDash val="solid"/>
          </a:ln>
        </p:spPr>
        <p:txBody>
          <a:bodyPr/>
          <a:lstStyle/>
          <a:p>
            <a:endParaRPr lang="es-CL"/>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Facilitadores y dificultades</a:t>
            </a:r>
            <a:endParaRPr lang="en-US" sz="3400" dirty="0"/>
          </a:p>
        </p:txBody>
      </p:sp>
      <p:sp>
        <p:nvSpPr>
          <p:cNvPr id="3" name="Shape 1"/>
          <p:cNvSpPr/>
          <p:nvPr/>
        </p:nvSpPr>
        <p:spPr>
          <a:xfrm>
            <a:off x="548567" y="1417241"/>
            <a:ext cx="5394785" cy="457200"/>
          </a:xfrm>
          <a:prstGeom prst="roundRect">
            <a:avLst>
              <a:gd name="adj" fmla="val 28799"/>
            </a:avLst>
          </a:prstGeom>
          <a:solidFill>
            <a:srgbClr val="0B2A55"/>
          </a:solidFill>
          <a:ln w="12700">
            <a:solidFill>
              <a:srgbClr val="0B2A55"/>
            </a:solidFill>
            <a:prstDash val="solid"/>
          </a:ln>
        </p:spPr>
        <p:txBody>
          <a:bodyPr/>
          <a:lstStyle/>
          <a:p>
            <a:endParaRPr lang="es-CL"/>
          </a:p>
        </p:txBody>
      </p:sp>
      <p:sp>
        <p:nvSpPr>
          <p:cNvPr id="4" name="Text 2"/>
          <p:cNvSpPr/>
          <p:nvPr/>
        </p:nvSpPr>
        <p:spPr>
          <a:xfrm>
            <a:off x="777161" y="1510010"/>
            <a:ext cx="5547182" cy="304800"/>
          </a:xfrm>
          <a:prstGeom prst="rect">
            <a:avLst/>
          </a:prstGeom>
          <a:noFill/>
          <a:ln/>
        </p:spPr>
        <p:txBody>
          <a:bodyPr wrap="none" lIns="0" tIns="0" rIns="0" bIns="0" rtlCol="0" anchor="t"/>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Facilitadores</a:t>
            </a:r>
            <a:endParaRPr lang="en-US" sz="1600" dirty="0"/>
          </a:p>
        </p:txBody>
      </p:sp>
      <p:sp>
        <p:nvSpPr>
          <p:cNvPr id="5" name="Shape 3"/>
          <p:cNvSpPr/>
          <p:nvPr/>
        </p:nvSpPr>
        <p:spPr>
          <a:xfrm>
            <a:off x="548567" y="2011660"/>
            <a:ext cx="5394785" cy="1234380"/>
          </a:xfrm>
          <a:prstGeom prst="roundRect">
            <a:avLst>
              <a:gd name="adj" fmla="val 10667"/>
            </a:avLst>
          </a:prstGeom>
          <a:solidFill>
            <a:srgbClr val="EEF2F7"/>
          </a:solidFill>
          <a:ln w="12700">
            <a:solidFill>
              <a:srgbClr val="EEF2F7"/>
            </a:solidFill>
            <a:prstDash val="solid"/>
          </a:ln>
        </p:spPr>
        <p:txBody>
          <a:bodyPr/>
          <a:lstStyle/>
          <a:p>
            <a:endParaRPr lang="es-CL"/>
          </a:p>
        </p:txBody>
      </p:sp>
      <p:sp>
        <p:nvSpPr>
          <p:cNvPr id="6" name="Shape 4"/>
          <p:cNvSpPr/>
          <p:nvPr/>
        </p:nvSpPr>
        <p:spPr>
          <a:xfrm>
            <a:off x="777161" y="2359124"/>
            <a:ext cx="548567" cy="548580"/>
          </a:xfrm>
          <a:prstGeom prst="ellipse">
            <a:avLst/>
          </a:prstGeom>
          <a:solidFill>
            <a:srgbClr val="0B2A55"/>
          </a:solidFill>
          <a:ln w="12700">
            <a:solidFill>
              <a:srgbClr val="0B2A55"/>
            </a:solidFill>
            <a:prstDash val="solid"/>
          </a:ln>
        </p:spPr>
        <p:txBody>
          <a:bodyPr/>
          <a:lstStyle/>
          <a:p>
            <a:endParaRPr lang="es-CL"/>
          </a:p>
        </p:txBody>
      </p:sp>
      <p:pic>
        <p:nvPicPr>
          <p:cNvPr id="7" name="Image 0" descr="preencoded.png"/>
          <p:cNvPicPr>
            <a:picLocks noChangeAspect="1"/>
          </p:cNvPicPr>
          <p:nvPr/>
        </p:nvPicPr>
        <p:blipFill>
          <a:blip r:embed="rId3"/>
          <a:stretch>
            <a:fillRect/>
          </a:stretch>
        </p:blipFill>
        <p:spPr>
          <a:xfrm>
            <a:off x="914377" y="2496245"/>
            <a:ext cx="274234" cy="274241"/>
          </a:xfrm>
          <a:prstGeom prst="rect">
            <a:avLst/>
          </a:prstGeom>
        </p:spPr>
      </p:pic>
      <p:sp>
        <p:nvSpPr>
          <p:cNvPr id="8" name="Text 5"/>
          <p:cNvSpPr/>
          <p:nvPr/>
        </p:nvSpPr>
        <p:spPr>
          <a:xfrm>
            <a:off x="1554421" y="2254806"/>
            <a:ext cx="4758511" cy="243780"/>
          </a:xfrm>
          <a:prstGeom prst="rect">
            <a:avLst/>
          </a:prstGeom>
          <a:noFill/>
          <a:ln/>
        </p:spPr>
        <p:txBody>
          <a:bodyPr wrap="none" lIns="0" tIns="0" rIns="0" bIns="0" rtlCol="0" anchor="t"/>
          <a:lstStyle/>
          <a:p>
            <a:pPr marL="0" indent="0" algn="l">
              <a:lnSpc>
                <a:spcPct val="100000"/>
              </a:lnSpc>
              <a:buNone/>
            </a:pPr>
            <a:r>
              <a:rPr lang="en-US" sz="1600" b="1" dirty="0">
                <a:solidFill>
                  <a:srgbClr val="0B2A55"/>
                </a:solidFill>
                <a:latin typeface="Carlito Bold" pitchFamily="34" charset="0"/>
                <a:ea typeface="Carlito Bold" pitchFamily="34" charset="-122"/>
                <a:cs typeface="Carlito Bold" pitchFamily="34" charset="-120"/>
              </a:rPr>
              <a:t>MVP funcional existente</a:t>
            </a:r>
            <a:endParaRPr lang="en-US" sz="1600" dirty="0"/>
          </a:p>
        </p:txBody>
      </p:sp>
      <p:sp>
        <p:nvSpPr>
          <p:cNvPr id="9" name="Text 6"/>
          <p:cNvSpPr/>
          <p:nvPr/>
        </p:nvSpPr>
        <p:spPr>
          <a:xfrm>
            <a:off x="1554421" y="2494486"/>
            <a:ext cx="4148927"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1B1F2A"/>
                </a:solidFill>
                <a:latin typeface="Carlito" pitchFamily="34" charset="0"/>
                <a:ea typeface="Carlito" pitchFamily="34" charset="-122"/>
                <a:cs typeface="Carlito" pitchFamily="34" charset="-120"/>
              </a:rPr>
              <a:t>No partimos de cero: el esfuerzo va a reingeniería, integración y calidad</a:t>
            </a:r>
            <a:endParaRPr lang="en-US" sz="1400" dirty="0"/>
          </a:p>
        </p:txBody>
      </p:sp>
      <p:sp>
        <p:nvSpPr>
          <p:cNvPr id="10" name="Shape 7"/>
          <p:cNvSpPr/>
          <p:nvPr/>
        </p:nvSpPr>
        <p:spPr>
          <a:xfrm>
            <a:off x="548567" y="3383260"/>
            <a:ext cx="5394785" cy="1234380"/>
          </a:xfrm>
          <a:prstGeom prst="roundRect">
            <a:avLst>
              <a:gd name="adj" fmla="val 10667"/>
            </a:avLst>
          </a:prstGeom>
          <a:solidFill>
            <a:srgbClr val="EEF2F7"/>
          </a:solidFill>
          <a:ln w="12700">
            <a:solidFill>
              <a:srgbClr val="EEF2F7"/>
            </a:solidFill>
            <a:prstDash val="solid"/>
          </a:ln>
        </p:spPr>
        <p:txBody>
          <a:bodyPr/>
          <a:lstStyle/>
          <a:p>
            <a:endParaRPr lang="es-CL"/>
          </a:p>
        </p:txBody>
      </p:sp>
      <p:sp>
        <p:nvSpPr>
          <p:cNvPr id="11" name="Shape 8"/>
          <p:cNvSpPr/>
          <p:nvPr/>
        </p:nvSpPr>
        <p:spPr>
          <a:xfrm>
            <a:off x="777161" y="3730724"/>
            <a:ext cx="548567" cy="548580"/>
          </a:xfrm>
          <a:prstGeom prst="ellipse">
            <a:avLst/>
          </a:prstGeom>
          <a:solidFill>
            <a:srgbClr val="0B2A55"/>
          </a:solidFill>
          <a:ln w="12700">
            <a:solidFill>
              <a:srgbClr val="0B2A55"/>
            </a:solidFill>
            <a:prstDash val="solid"/>
          </a:ln>
        </p:spPr>
        <p:txBody>
          <a:bodyPr/>
          <a:lstStyle/>
          <a:p>
            <a:endParaRPr lang="es-CL"/>
          </a:p>
        </p:txBody>
      </p:sp>
      <p:pic>
        <p:nvPicPr>
          <p:cNvPr id="12" name="Image 1" descr="preencoded.png"/>
          <p:cNvPicPr>
            <a:picLocks noChangeAspect="1"/>
          </p:cNvPicPr>
          <p:nvPr/>
        </p:nvPicPr>
        <p:blipFill>
          <a:blip r:embed="rId4"/>
          <a:stretch>
            <a:fillRect/>
          </a:stretch>
        </p:blipFill>
        <p:spPr>
          <a:xfrm>
            <a:off x="914377" y="3867845"/>
            <a:ext cx="274234" cy="274241"/>
          </a:xfrm>
          <a:prstGeom prst="rect">
            <a:avLst/>
          </a:prstGeom>
        </p:spPr>
      </p:pic>
      <p:sp>
        <p:nvSpPr>
          <p:cNvPr id="13" name="Text 9"/>
          <p:cNvSpPr/>
          <p:nvPr/>
        </p:nvSpPr>
        <p:spPr>
          <a:xfrm>
            <a:off x="1554421" y="3626406"/>
            <a:ext cx="4758511" cy="243780"/>
          </a:xfrm>
          <a:prstGeom prst="rect">
            <a:avLst/>
          </a:prstGeom>
          <a:noFill/>
          <a:ln/>
        </p:spPr>
        <p:txBody>
          <a:bodyPr wrap="none" lIns="0" tIns="0" rIns="0" bIns="0" rtlCol="0" anchor="t"/>
          <a:lstStyle/>
          <a:p>
            <a:pPr marL="0" indent="0" algn="l">
              <a:lnSpc>
                <a:spcPct val="100000"/>
              </a:lnSpc>
              <a:buNone/>
            </a:pPr>
            <a:r>
              <a:rPr lang="en-US" sz="1600" b="1" dirty="0">
                <a:solidFill>
                  <a:srgbClr val="0B2A55"/>
                </a:solidFill>
                <a:latin typeface="Carlito Bold" pitchFamily="34" charset="0"/>
                <a:ea typeface="Carlito Bold" pitchFamily="34" charset="-122"/>
                <a:cs typeface="Carlito Bold" pitchFamily="34" charset="-120"/>
              </a:rPr>
              <a:t>Planificación documentada</a:t>
            </a:r>
            <a:endParaRPr lang="en-US" sz="1600" dirty="0"/>
          </a:p>
        </p:txBody>
      </p:sp>
      <p:sp>
        <p:nvSpPr>
          <p:cNvPr id="14" name="Text 10"/>
          <p:cNvSpPr/>
          <p:nvPr/>
        </p:nvSpPr>
        <p:spPr>
          <a:xfrm>
            <a:off x="1554421" y="3866086"/>
            <a:ext cx="4148927"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1B1F2A"/>
                </a:solidFill>
                <a:latin typeface="Carlito" pitchFamily="34" charset="0"/>
                <a:ea typeface="Carlito" pitchFamily="34" charset="-122"/>
                <a:cs typeface="Carlito" pitchFamily="34" charset="-120"/>
              </a:rPr>
              <a:t>Alcance, EDT, hitos, RACI, riesgos y plan de pruebas ya definidos</a:t>
            </a:r>
            <a:endParaRPr lang="en-US" sz="1400" dirty="0"/>
          </a:p>
        </p:txBody>
      </p:sp>
      <p:sp>
        <p:nvSpPr>
          <p:cNvPr id="15" name="Shape 11"/>
          <p:cNvSpPr/>
          <p:nvPr/>
        </p:nvSpPr>
        <p:spPr>
          <a:xfrm>
            <a:off x="548567" y="4754860"/>
            <a:ext cx="5394785" cy="1234380"/>
          </a:xfrm>
          <a:prstGeom prst="roundRect">
            <a:avLst>
              <a:gd name="adj" fmla="val 10667"/>
            </a:avLst>
          </a:prstGeom>
          <a:solidFill>
            <a:srgbClr val="EEF2F7"/>
          </a:solidFill>
          <a:ln w="12700">
            <a:solidFill>
              <a:srgbClr val="EEF2F7"/>
            </a:solidFill>
            <a:prstDash val="solid"/>
          </a:ln>
        </p:spPr>
        <p:txBody>
          <a:bodyPr/>
          <a:lstStyle/>
          <a:p>
            <a:endParaRPr lang="es-CL"/>
          </a:p>
        </p:txBody>
      </p:sp>
      <p:sp>
        <p:nvSpPr>
          <p:cNvPr id="16" name="Shape 12"/>
          <p:cNvSpPr/>
          <p:nvPr/>
        </p:nvSpPr>
        <p:spPr>
          <a:xfrm>
            <a:off x="777161" y="5102324"/>
            <a:ext cx="548567" cy="548580"/>
          </a:xfrm>
          <a:prstGeom prst="ellipse">
            <a:avLst/>
          </a:prstGeom>
          <a:solidFill>
            <a:srgbClr val="0B2A55"/>
          </a:solidFill>
          <a:ln w="12700">
            <a:solidFill>
              <a:srgbClr val="0B2A55"/>
            </a:solidFill>
            <a:prstDash val="solid"/>
          </a:ln>
        </p:spPr>
        <p:txBody>
          <a:bodyPr/>
          <a:lstStyle/>
          <a:p>
            <a:endParaRPr lang="es-CL"/>
          </a:p>
        </p:txBody>
      </p:sp>
      <p:pic>
        <p:nvPicPr>
          <p:cNvPr id="17" name="Image 2" descr="preencoded.png"/>
          <p:cNvPicPr>
            <a:picLocks noChangeAspect="1"/>
          </p:cNvPicPr>
          <p:nvPr/>
        </p:nvPicPr>
        <p:blipFill>
          <a:blip r:embed="rId5"/>
          <a:stretch>
            <a:fillRect/>
          </a:stretch>
        </p:blipFill>
        <p:spPr>
          <a:xfrm>
            <a:off x="914377" y="5239445"/>
            <a:ext cx="274234" cy="274241"/>
          </a:xfrm>
          <a:prstGeom prst="rect">
            <a:avLst/>
          </a:prstGeom>
        </p:spPr>
      </p:pic>
      <p:sp>
        <p:nvSpPr>
          <p:cNvPr id="18" name="Text 13"/>
          <p:cNvSpPr/>
          <p:nvPr/>
        </p:nvSpPr>
        <p:spPr>
          <a:xfrm>
            <a:off x="1554421" y="4998006"/>
            <a:ext cx="4758511" cy="243780"/>
          </a:xfrm>
          <a:prstGeom prst="rect">
            <a:avLst/>
          </a:prstGeom>
          <a:noFill/>
          <a:ln/>
        </p:spPr>
        <p:txBody>
          <a:bodyPr wrap="none" lIns="0" tIns="0" rIns="0" bIns="0" rtlCol="0" anchor="t"/>
          <a:lstStyle/>
          <a:p>
            <a:pPr marL="0" indent="0" algn="l">
              <a:lnSpc>
                <a:spcPct val="100000"/>
              </a:lnSpc>
              <a:buNone/>
            </a:pPr>
            <a:r>
              <a:rPr lang="en-US" sz="1600" b="1" dirty="0">
                <a:solidFill>
                  <a:srgbClr val="0B2A55"/>
                </a:solidFill>
                <a:latin typeface="Carlito Bold" pitchFamily="34" charset="0"/>
                <a:ea typeface="Carlito Bold" pitchFamily="34" charset="-122"/>
                <a:cs typeface="Carlito Bold" pitchFamily="34" charset="-120"/>
              </a:rPr>
              <a:t>División clara del trabajo</a:t>
            </a:r>
            <a:endParaRPr lang="en-US" sz="1600" dirty="0"/>
          </a:p>
        </p:txBody>
      </p:sp>
      <p:sp>
        <p:nvSpPr>
          <p:cNvPr id="19" name="Text 14"/>
          <p:cNvSpPr/>
          <p:nvPr/>
        </p:nvSpPr>
        <p:spPr>
          <a:xfrm>
            <a:off x="1554421" y="5237686"/>
            <a:ext cx="4148927"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1B1F2A"/>
                </a:solidFill>
                <a:latin typeface="Carlito" pitchFamily="34" charset="0"/>
                <a:ea typeface="Carlito" pitchFamily="34" charset="-122"/>
                <a:cs typeface="Carlito" pitchFamily="34" charset="-120"/>
              </a:rPr>
              <a:t>Backend con Vicente, frontend con Ignacio; arquitectura y pruebas compartidas</a:t>
            </a:r>
            <a:endParaRPr lang="en-US" sz="1400" dirty="0"/>
          </a:p>
        </p:txBody>
      </p:sp>
      <p:sp>
        <p:nvSpPr>
          <p:cNvPr id="20" name="Shape 15"/>
          <p:cNvSpPr/>
          <p:nvPr/>
        </p:nvSpPr>
        <p:spPr>
          <a:xfrm>
            <a:off x="6245168" y="1417241"/>
            <a:ext cx="5394785" cy="457200"/>
          </a:xfrm>
          <a:prstGeom prst="roundRect">
            <a:avLst>
              <a:gd name="adj" fmla="val 28799"/>
            </a:avLst>
          </a:prstGeom>
          <a:solidFill>
            <a:srgbClr val="0B2A55"/>
          </a:solidFill>
          <a:ln w="12700">
            <a:solidFill>
              <a:srgbClr val="0B2A55"/>
            </a:solidFill>
            <a:prstDash val="solid"/>
          </a:ln>
        </p:spPr>
        <p:txBody>
          <a:bodyPr/>
          <a:lstStyle/>
          <a:p>
            <a:endParaRPr lang="es-CL"/>
          </a:p>
        </p:txBody>
      </p:sp>
      <p:sp>
        <p:nvSpPr>
          <p:cNvPr id="21" name="Text 16"/>
          <p:cNvSpPr/>
          <p:nvPr/>
        </p:nvSpPr>
        <p:spPr>
          <a:xfrm>
            <a:off x="6473762" y="1510010"/>
            <a:ext cx="5547182" cy="304800"/>
          </a:xfrm>
          <a:prstGeom prst="rect">
            <a:avLst/>
          </a:prstGeom>
          <a:noFill/>
          <a:ln/>
        </p:spPr>
        <p:txBody>
          <a:bodyPr wrap="none" lIns="0" tIns="0" rIns="0" bIns="0" rtlCol="0" anchor="t"/>
          <a:lstStyle/>
          <a:p>
            <a:pPr marL="0" indent="0" algn="l">
              <a:lnSpc>
                <a:spcPct val="125000"/>
              </a:lnSpc>
              <a:buNone/>
            </a:pPr>
            <a:r>
              <a:rPr lang="en-US" sz="1600" b="1" dirty="0">
                <a:solidFill>
                  <a:srgbClr val="FFFFFF"/>
                </a:solidFill>
                <a:latin typeface="Carlito Bold" pitchFamily="34" charset="0"/>
                <a:ea typeface="Carlito Bold" pitchFamily="34" charset="-122"/>
                <a:cs typeface="Carlito Bold" pitchFamily="34" charset="-120"/>
              </a:rPr>
              <a:t>Dificultades y respuesta</a:t>
            </a:r>
            <a:endParaRPr lang="en-US" sz="1600" dirty="0"/>
          </a:p>
        </p:txBody>
      </p:sp>
      <p:sp>
        <p:nvSpPr>
          <p:cNvPr id="22" name="Shape 17"/>
          <p:cNvSpPr/>
          <p:nvPr/>
        </p:nvSpPr>
        <p:spPr>
          <a:xfrm>
            <a:off x="6245168" y="2011660"/>
            <a:ext cx="5394785" cy="1234380"/>
          </a:xfrm>
          <a:prstGeom prst="roundRect">
            <a:avLst>
              <a:gd name="adj" fmla="val 10667"/>
            </a:avLst>
          </a:prstGeom>
          <a:solidFill>
            <a:srgbClr val="EEF2F7"/>
          </a:solidFill>
          <a:ln w="12700">
            <a:solidFill>
              <a:srgbClr val="EEF2F7"/>
            </a:solidFill>
            <a:prstDash val="solid"/>
          </a:ln>
        </p:spPr>
        <p:txBody>
          <a:bodyPr/>
          <a:lstStyle/>
          <a:p>
            <a:endParaRPr lang="es-CL"/>
          </a:p>
        </p:txBody>
      </p:sp>
      <p:sp>
        <p:nvSpPr>
          <p:cNvPr id="23" name="Shape 18"/>
          <p:cNvSpPr/>
          <p:nvPr/>
        </p:nvSpPr>
        <p:spPr>
          <a:xfrm>
            <a:off x="6473762" y="2359124"/>
            <a:ext cx="548567" cy="548580"/>
          </a:xfrm>
          <a:prstGeom prst="ellipse">
            <a:avLst/>
          </a:prstGeom>
          <a:solidFill>
            <a:srgbClr val="0B2A55"/>
          </a:solidFill>
          <a:ln w="12700">
            <a:solidFill>
              <a:srgbClr val="0B2A55"/>
            </a:solidFill>
            <a:prstDash val="solid"/>
          </a:ln>
        </p:spPr>
        <p:txBody>
          <a:bodyPr/>
          <a:lstStyle/>
          <a:p>
            <a:endParaRPr lang="es-CL"/>
          </a:p>
        </p:txBody>
      </p:sp>
      <p:pic>
        <p:nvPicPr>
          <p:cNvPr id="24" name="Image 3" descr="preencoded.png"/>
          <p:cNvPicPr>
            <a:picLocks noChangeAspect="1"/>
          </p:cNvPicPr>
          <p:nvPr/>
        </p:nvPicPr>
        <p:blipFill>
          <a:blip r:embed="rId6"/>
          <a:stretch>
            <a:fillRect/>
          </a:stretch>
        </p:blipFill>
        <p:spPr>
          <a:xfrm>
            <a:off x="6610879" y="2496245"/>
            <a:ext cx="274234" cy="274241"/>
          </a:xfrm>
          <a:prstGeom prst="rect">
            <a:avLst/>
          </a:prstGeom>
        </p:spPr>
      </p:pic>
      <p:sp>
        <p:nvSpPr>
          <p:cNvPr id="25" name="Text 19"/>
          <p:cNvSpPr/>
          <p:nvPr/>
        </p:nvSpPr>
        <p:spPr>
          <a:xfrm>
            <a:off x="7250923" y="2254806"/>
            <a:ext cx="4758511" cy="243780"/>
          </a:xfrm>
          <a:prstGeom prst="rect">
            <a:avLst/>
          </a:prstGeom>
          <a:noFill/>
          <a:ln/>
        </p:spPr>
        <p:txBody>
          <a:bodyPr wrap="none" lIns="0" tIns="0" rIns="0" bIns="0" rtlCol="0" anchor="t"/>
          <a:lstStyle/>
          <a:p>
            <a:pPr marL="0" indent="0" algn="l">
              <a:lnSpc>
                <a:spcPct val="100000"/>
              </a:lnSpc>
              <a:buNone/>
            </a:pPr>
            <a:r>
              <a:rPr lang="en-US" sz="1600" b="1" dirty="0">
                <a:solidFill>
                  <a:srgbClr val="0B2A55"/>
                </a:solidFill>
                <a:latin typeface="Carlito Bold" pitchFamily="34" charset="0"/>
                <a:ea typeface="Carlito Bold" pitchFamily="34" charset="-122"/>
                <a:cs typeface="Carlito Bold" pitchFamily="34" charset="-120"/>
              </a:rPr>
              <a:t>Más que un CRUD</a:t>
            </a:r>
            <a:endParaRPr lang="en-US" sz="1600" dirty="0"/>
          </a:p>
        </p:txBody>
      </p:sp>
      <p:sp>
        <p:nvSpPr>
          <p:cNvPr id="26" name="Text 20"/>
          <p:cNvSpPr/>
          <p:nvPr/>
        </p:nvSpPr>
        <p:spPr>
          <a:xfrm>
            <a:off x="7250923" y="2542032"/>
            <a:ext cx="4148927" cy="566928"/>
          </a:xfrm>
          <a:prstGeom prst="rect">
            <a:avLst/>
          </a:prstGeom>
          <a:noFill/>
          <a:ln/>
        </p:spPr>
        <p:txBody>
          <a:bodyPr wrap="square" lIns="0" tIns="0" rIns="0" bIns="0" rtlCol="0" anchor="t">
            <a:noAutofit/>
          </a:bodyPr>
          <a:lstStyle/>
          <a:p>
            <a:pPr marL="0" indent="0" algn="l">
              <a:lnSpc>
                <a:spcPct val="100000"/>
              </a:lnSpc>
              <a:spcAft>
                <a:spcPts val="100"/>
              </a:spcAft>
              <a:buNone/>
            </a:pPr>
            <a:r>
              <a:rPr sz="1050">
                <a:solidFill>
                  <a:srgbClr val="1B1F2A"/>
                </a:solidFill>
                <a:latin typeface="Carlito"/>
              </a:rPr>
              <a:t>Mucho más que un CRUD: RLS, policies, grants y RPC en la base de datos</a:t>
            </a:r>
            <a:endParaRPr lang="en-US" sz="1400" dirty="0"/>
          </a:p>
          <a:p>
            <a:pPr algn="l">
              <a:lnSpc>
                <a:spcPct val="100000"/>
              </a:lnSpc>
              <a:spcAft>
                <a:spcPts val="100"/>
              </a:spcAft>
            </a:pPr>
            <a:r>
              <a:rPr sz="1050">
                <a:solidFill>
                  <a:srgbClr val="1B1F2A"/>
                </a:solidFill>
                <a:latin typeface="Carlito"/>
              </a:rPr>
              <a:t>Además: migración SQLite → PostgreSQL, integración con Transbank y transacciones con restricciones UNIQUE e idempotencia</a:t>
            </a:r>
          </a:p>
        </p:txBody>
      </p:sp>
      <p:sp>
        <p:nvSpPr>
          <p:cNvPr id="27" name="Shape 21"/>
          <p:cNvSpPr/>
          <p:nvPr/>
        </p:nvSpPr>
        <p:spPr>
          <a:xfrm>
            <a:off x="6245168" y="3383260"/>
            <a:ext cx="5394785" cy="1234380"/>
          </a:xfrm>
          <a:prstGeom prst="roundRect">
            <a:avLst>
              <a:gd name="adj" fmla="val 10667"/>
            </a:avLst>
          </a:prstGeom>
          <a:solidFill>
            <a:srgbClr val="EEF2F7"/>
          </a:solidFill>
          <a:ln w="12700">
            <a:solidFill>
              <a:srgbClr val="EEF2F7"/>
            </a:solidFill>
            <a:prstDash val="solid"/>
          </a:ln>
        </p:spPr>
        <p:txBody>
          <a:bodyPr/>
          <a:lstStyle/>
          <a:p>
            <a:endParaRPr lang="es-CL"/>
          </a:p>
        </p:txBody>
      </p:sp>
      <p:sp>
        <p:nvSpPr>
          <p:cNvPr id="28" name="Shape 22"/>
          <p:cNvSpPr/>
          <p:nvPr/>
        </p:nvSpPr>
        <p:spPr>
          <a:xfrm>
            <a:off x="6473762" y="3730724"/>
            <a:ext cx="548567" cy="548580"/>
          </a:xfrm>
          <a:prstGeom prst="ellipse">
            <a:avLst/>
          </a:prstGeom>
          <a:solidFill>
            <a:srgbClr val="0B2A55"/>
          </a:solidFill>
          <a:ln w="12700">
            <a:solidFill>
              <a:srgbClr val="0B2A55"/>
            </a:solidFill>
            <a:prstDash val="solid"/>
          </a:ln>
        </p:spPr>
        <p:txBody>
          <a:bodyPr/>
          <a:lstStyle/>
          <a:p>
            <a:endParaRPr lang="es-CL"/>
          </a:p>
        </p:txBody>
      </p:sp>
      <p:pic>
        <p:nvPicPr>
          <p:cNvPr id="29" name="Image 4" descr="preencoded.png"/>
          <p:cNvPicPr>
            <a:picLocks noChangeAspect="1"/>
          </p:cNvPicPr>
          <p:nvPr/>
        </p:nvPicPr>
        <p:blipFill>
          <a:blip r:embed="rId7"/>
          <a:stretch>
            <a:fillRect/>
          </a:stretch>
        </p:blipFill>
        <p:spPr>
          <a:xfrm>
            <a:off x="6610879" y="3867845"/>
            <a:ext cx="274234" cy="274241"/>
          </a:xfrm>
          <a:prstGeom prst="rect">
            <a:avLst/>
          </a:prstGeom>
        </p:spPr>
      </p:pic>
      <p:sp>
        <p:nvSpPr>
          <p:cNvPr id="30" name="Text 23"/>
          <p:cNvSpPr/>
          <p:nvPr/>
        </p:nvSpPr>
        <p:spPr>
          <a:xfrm>
            <a:off x="7250923" y="3620691"/>
            <a:ext cx="4758511"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Equipo de dos personas</a:t>
            </a:r>
            <a:endParaRPr lang="en-US" sz="1600" dirty="0"/>
          </a:p>
        </p:txBody>
      </p:sp>
      <p:sp>
        <p:nvSpPr>
          <p:cNvPr id="31" name="Text 24"/>
          <p:cNvSpPr/>
          <p:nvPr/>
        </p:nvSpPr>
        <p:spPr>
          <a:xfrm>
            <a:off x="7250923" y="3925491"/>
            <a:ext cx="4758511"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Control formal de cambios y revisión semanal del alcance</a:t>
            </a:r>
            <a:endParaRPr lang="en-US" sz="1400" dirty="0"/>
          </a:p>
        </p:txBody>
      </p:sp>
      <p:sp>
        <p:nvSpPr>
          <p:cNvPr id="32" name="Shape 25"/>
          <p:cNvSpPr/>
          <p:nvPr/>
        </p:nvSpPr>
        <p:spPr>
          <a:xfrm>
            <a:off x="6245168" y="4754860"/>
            <a:ext cx="5394785" cy="1234380"/>
          </a:xfrm>
          <a:prstGeom prst="roundRect">
            <a:avLst>
              <a:gd name="adj" fmla="val 10667"/>
            </a:avLst>
          </a:prstGeom>
          <a:solidFill>
            <a:srgbClr val="EEF2F7"/>
          </a:solidFill>
          <a:ln w="12700">
            <a:solidFill>
              <a:srgbClr val="EEF2F7"/>
            </a:solidFill>
            <a:prstDash val="solid"/>
          </a:ln>
        </p:spPr>
        <p:txBody>
          <a:bodyPr/>
          <a:lstStyle/>
          <a:p>
            <a:endParaRPr lang="es-CL"/>
          </a:p>
        </p:txBody>
      </p:sp>
      <p:sp>
        <p:nvSpPr>
          <p:cNvPr id="33" name="Shape 26"/>
          <p:cNvSpPr/>
          <p:nvPr/>
        </p:nvSpPr>
        <p:spPr>
          <a:xfrm>
            <a:off x="6473762" y="5102324"/>
            <a:ext cx="548567" cy="548580"/>
          </a:xfrm>
          <a:prstGeom prst="ellipse">
            <a:avLst/>
          </a:prstGeom>
          <a:solidFill>
            <a:srgbClr val="0B2A55"/>
          </a:solidFill>
          <a:ln w="12700">
            <a:solidFill>
              <a:srgbClr val="0B2A55"/>
            </a:solidFill>
            <a:prstDash val="solid"/>
          </a:ln>
        </p:spPr>
        <p:txBody>
          <a:bodyPr/>
          <a:lstStyle/>
          <a:p>
            <a:endParaRPr lang="es-CL"/>
          </a:p>
        </p:txBody>
      </p:sp>
      <p:pic>
        <p:nvPicPr>
          <p:cNvPr id="34" name="Image 5" descr="preencoded.png"/>
          <p:cNvPicPr>
            <a:picLocks noChangeAspect="1"/>
          </p:cNvPicPr>
          <p:nvPr/>
        </p:nvPicPr>
        <p:blipFill>
          <a:blip r:embed="rId8"/>
          <a:stretch>
            <a:fillRect/>
          </a:stretch>
        </p:blipFill>
        <p:spPr>
          <a:xfrm>
            <a:off x="6610879" y="5239445"/>
            <a:ext cx="274234" cy="274241"/>
          </a:xfrm>
          <a:prstGeom prst="rect">
            <a:avLst/>
          </a:prstGeom>
        </p:spPr>
      </p:pic>
      <p:sp>
        <p:nvSpPr>
          <p:cNvPr id="35" name="Text 27"/>
          <p:cNvSpPr/>
          <p:nvPr/>
        </p:nvSpPr>
        <p:spPr>
          <a:xfrm>
            <a:off x="7250923" y="4998006"/>
            <a:ext cx="4758511" cy="243780"/>
          </a:xfrm>
          <a:prstGeom prst="rect">
            <a:avLst/>
          </a:prstGeom>
          <a:noFill/>
          <a:ln/>
        </p:spPr>
        <p:txBody>
          <a:bodyPr wrap="none" lIns="0" tIns="0" rIns="0" bIns="0" rtlCol="0" anchor="t"/>
          <a:lstStyle/>
          <a:p>
            <a:pPr marL="0" indent="0" algn="l">
              <a:lnSpc>
                <a:spcPct val="100000"/>
              </a:lnSpc>
              <a:buNone/>
            </a:pPr>
            <a:r>
              <a:rPr lang="en-US" sz="1600" b="1" dirty="0">
                <a:solidFill>
                  <a:srgbClr val="0B2A55"/>
                </a:solidFill>
                <a:latin typeface="Carlito Bold" pitchFamily="34" charset="0"/>
                <a:ea typeface="Carlito Bold" pitchFamily="34" charset="-122"/>
                <a:cs typeface="Carlito Bold" pitchFamily="34" charset="-120"/>
              </a:rPr>
              <a:t>Servicios externos</a:t>
            </a:r>
            <a:endParaRPr lang="en-US" sz="1600" dirty="0"/>
          </a:p>
        </p:txBody>
      </p:sp>
      <p:sp>
        <p:nvSpPr>
          <p:cNvPr id="36" name="Text 28"/>
          <p:cNvSpPr/>
          <p:nvPr/>
        </p:nvSpPr>
        <p:spPr>
          <a:xfrm>
            <a:off x="7250923" y="5237686"/>
            <a:ext cx="4148927" cy="42664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1B1F2A"/>
                </a:solidFill>
                <a:latin typeface="Carlito" pitchFamily="34" charset="0"/>
                <a:ea typeface="Carlito" pitchFamily="34" charset="-122"/>
                <a:cs typeface="Carlito" pitchFamily="34" charset="-120"/>
              </a:rPr>
              <a:t>Supabase, Vercel, GCP y Transbank: mocks o stubs y validación real posterior</a:t>
            </a:r>
            <a:endParaRPr lang="en-US" sz="1400" dirty="0"/>
          </a:p>
        </p:txBody>
      </p:sp>
      <p:sp>
        <p:nvSpPr>
          <p:cNvPr id="37" name="Text 29"/>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38" name="Text 30"/>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0B2A55"/>
                </a:solidFill>
                <a:latin typeface="Carlito Bold" pitchFamily="34" charset="0"/>
                <a:ea typeface="Carlito Bold" pitchFamily="34" charset="-122"/>
                <a:cs typeface="Carlito Bold" pitchFamily="34" charset="-120"/>
              </a:rPr>
              <a:t>Ajustes al plan de trabajo</a:t>
            </a:r>
            <a:endParaRPr lang="en-US" sz="3400" dirty="0"/>
          </a:p>
        </p:txBody>
      </p:sp>
      <p:sp>
        <p:nvSpPr>
          <p:cNvPr id="3" name="Text 1"/>
          <p:cNvSpPr/>
          <p:nvPr/>
        </p:nvSpPr>
        <p:spPr>
          <a:xfrm>
            <a:off x="2377321" y="1266130"/>
            <a:ext cx="4358471" cy="228600"/>
          </a:xfrm>
          <a:prstGeom prst="rect">
            <a:avLst/>
          </a:prstGeom>
          <a:noFill/>
          <a:ln/>
        </p:spPr>
        <p:txBody>
          <a:bodyPr wrap="none" lIns="0" tIns="0" rIns="0" bIns="0" rtlCol="0" anchor="t"/>
          <a:lstStyle/>
          <a:p>
            <a:pPr marL="0" indent="0" algn="l">
              <a:lnSpc>
                <a:spcPct val="125000"/>
              </a:lnSpc>
              <a:buNone/>
            </a:pPr>
            <a:r>
              <a:rPr lang="en-US" sz="1200" b="1" kern="100" spc="200" dirty="0">
                <a:solidFill>
                  <a:srgbClr val="5B6577"/>
                </a:solidFill>
                <a:latin typeface="Carlito Bold" pitchFamily="34" charset="0"/>
                <a:ea typeface="Carlito Bold" pitchFamily="34" charset="-122"/>
                <a:cs typeface="Carlito Bold" pitchFamily="34" charset="-120"/>
              </a:rPr>
              <a:t>ANTES</a:t>
            </a:r>
            <a:endParaRPr lang="en-US" sz="1200" dirty="0"/>
          </a:p>
        </p:txBody>
      </p:sp>
      <p:sp>
        <p:nvSpPr>
          <p:cNvPr id="4" name="Text 2"/>
          <p:cNvSpPr/>
          <p:nvPr/>
        </p:nvSpPr>
        <p:spPr>
          <a:xfrm>
            <a:off x="6903468" y="1266130"/>
            <a:ext cx="5288227" cy="228600"/>
          </a:xfrm>
          <a:prstGeom prst="rect">
            <a:avLst/>
          </a:prstGeom>
          <a:noFill/>
          <a:ln/>
        </p:spPr>
        <p:txBody>
          <a:bodyPr wrap="none" lIns="0" tIns="0" rIns="0" bIns="0" rtlCol="0" anchor="t"/>
          <a:lstStyle/>
          <a:p>
            <a:pPr marL="0" indent="0" algn="l">
              <a:lnSpc>
                <a:spcPct val="125000"/>
              </a:lnSpc>
              <a:buNone/>
            </a:pPr>
            <a:r>
              <a:rPr lang="en-US" sz="1200" b="1" kern="100" spc="200" dirty="0">
                <a:solidFill>
                  <a:srgbClr val="5B6577"/>
                </a:solidFill>
                <a:latin typeface="Carlito Bold" pitchFamily="34" charset="0"/>
                <a:ea typeface="Carlito Bold" pitchFamily="34" charset="-122"/>
                <a:cs typeface="Carlito Bold" pitchFamily="34" charset="-120"/>
              </a:rPr>
              <a:t>AHORA</a:t>
            </a:r>
            <a:endParaRPr lang="en-US" sz="1200" dirty="0"/>
          </a:p>
        </p:txBody>
      </p:sp>
      <p:sp>
        <p:nvSpPr>
          <p:cNvPr id="5" name="Text 3"/>
          <p:cNvSpPr/>
          <p:nvPr/>
        </p:nvSpPr>
        <p:spPr>
          <a:xfrm>
            <a:off x="548567" y="1866602"/>
            <a:ext cx="2346862"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Alcance</a:t>
            </a:r>
            <a:endParaRPr lang="en-US" sz="1600" dirty="0"/>
          </a:p>
        </p:txBody>
      </p:sp>
      <p:sp>
        <p:nvSpPr>
          <p:cNvPr id="6" name="Shape 4"/>
          <p:cNvSpPr/>
          <p:nvPr/>
        </p:nvSpPr>
        <p:spPr>
          <a:xfrm>
            <a:off x="2377321" y="1627584"/>
            <a:ext cx="3748887" cy="749796"/>
          </a:xfrm>
          <a:prstGeom prst="roundRect">
            <a:avLst>
              <a:gd name="adj" fmla="val 17561"/>
            </a:avLst>
          </a:prstGeom>
          <a:solidFill>
            <a:srgbClr val="EEF2F7"/>
          </a:solidFill>
          <a:ln w="12700">
            <a:solidFill>
              <a:srgbClr val="EEF2F7"/>
            </a:solidFill>
            <a:prstDash val="solid"/>
          </a:ln>
        </p:spPr>
        <p:txBody>
          <a:bodyPr/>
          <a:lstStyle/>
          <a:p>
            <a:endParaRPr lang="es-CL"/>
          </a:p>
        </p:txBody>
      </p:sp>
      <p:sp>
        <p:nvSpPr>
          <p:cNvPr id="7" name="Text 5"/>
          <p:cNvSpPr/>
          <p:nvPr/>
        </p:nvSpPr>
        <p:spPr>
          <a:xfrm>
            <a:off x="2605915" y="1881882"/>
            <a:ext cx="3947022"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26 requerimientos en el ERS inicial</a:t>
            </a:r>
            <a:endParaRPr lang="en-US" sz="1400" dirty="0"/>
          </a:p>
        </p:txBody>
      </p:sp>
      <p:sp>
        <p:nvSpPr>
          <p:cNvPr id="8" name="Shape 6"/>
          <p:cNvSpPr/>
          <p:nvPr/>
        </p:nvSpPr>
        <p:spPr>
          <a:xfrm>
            <a:off x="6263424" y="1773932"/>
            <a:ext cx="457189" cy="457200"/>
          </a:xfrm>
          <a:prstGeom prst="ellipse">
            <a:avLst/>
          </a:prstGeom>
          <a:solidFill>
            <a:srgbClr val="2F6DB5"/>
          </a:solidFill>
          <a:ln w="12700">
            <a:solidFill>
              <a:srgbClr val="2F6DB5"/>
            </a:solidFill>
            <a:prstDash val="solid"/>
          </a:ln>
        </p:spPr>
        <p:txBody>
          <a:bodyPr/>
          <a:lstStyle/>
          <a:p>
            <a:endParaRPr lang="es-CL"/>
          </a:p>
        </p:txBody>
      </p:sp>
      <p:pic>
        <p:nvPicPr>
          <p:cNvPr id="9" name="Image 0" descr="preencoded.png"/>
          <p:cNvPicPr>
            <a:picLocks noChangeAspect="1"/>
          </p:cNvPicPr>
          <p:nvPr/>
        </p:nvPicPr>
        <p:blipFill>
          <a:blip r:embed="rId3"/>
          <a:stretch>
            <a:fillRect/>
          </a:stretch>
        </p:blipFill>
        <p:spPr>
          <a:xfrm>
            <a:off x="6377721" y="1888232"/>
            <a:ext cx="228594" cy="228600"/>
          </a:xfrm>
          <a:prstGeom prst="rect">
            <a:avLst/>
          </a:prstGeom>
        </p:spPr>
      </p:pic>
      <p:sp>
        <p:nvSpPr>
          <p:cNvPr id="10" name="Shape 7"/>
          <p:cNvSpPr/>
          <p:nvPr/>
        </p:nvSpPr>
        <p:spPr>
          <a:xfrm>
            <a:off x="6903468" y="1627584"/>
            <a:ext cx="4736386" cy="749796"/>
          </a:xfrm>
          <a:prstGeom prst="roundRect">
            <a:avLst>
              <a:gd name="adj" fmla="val 17561"/>
            </a:avLst>
          </a:prstGeom>
          <a:solidFill>
            <a:srgbClr val="0B2A55"/>
          </a:solidFill>
          <a:ln w="12700">
            <a:solidFill>
              <a:srgbClr val="0B2A55"/>
            </a:solidFill>
            <a:prstDash val="solid"/>
          </a:ln>
        </p:spPr>
        <p:txBody>
          <a:bodyPr/>
          <a:lstStyle/>
          <a:p>
            <a:endParaRPr lang="es-CL"/>
          </a:p>
        </p:txBody>
      </p:sp>
      <p:sp>
        <p:nvSpPr>
          <p:cNvPr id="11" name="Text 8"/>
          <p:cNvSpPr/>
          <p:nvPr/>
        </p:nvSpPr>
        <p:spPr>
          <a:xfrm>
            <a:off x="7132062" y="1881882"/>
            <a:ext cx="4907137" cy="266700"/>
          </a:xfrm>
          <a:prstGeom prst="rect">
            <a:avLst/>
          </a:prstGeom>
          <a:noFill/>
          <a:ln/>
        </p:spPr>
        <p:txBody>
          <a:bodyPr wrap="none" lIns="0" tIns="0" rIns="0" bIns="0" rtlCol="0" anchor="t"/>
          <a:lstStyle/>
          <a:p>
            <a:pPr marL="0" indent="0" algn="l">
              <a:lnSpc>
                <a:spcPct val="125000"/>
              </a:lnSpc>
              <a:buNone/>
            </a:pPr>
            <a:r>
              <a:rPr lang="en-US" sz="1400" b="1" dirty="0">
                <a:solidFill>
                  <a:srgbClr val="FFFFFF"/>
                </a:solidFill>
                <a:latin typeface="Carlito Bold" pitchFamily="34" charset="0"/>
                <a:ea typeface="Carlito Bold" pitchFamily="34" charset="-122"/>
                <a:cs typeface="Carlito Bold" pitchFamily="34" charset="-120"/>
              </a:rPr>
              <a:t>22 requerimientos validados</a:t>
            </a:r>
            <a:endParaRPr lang="en-US" sz="1400" dirty="0"/>
          </a:p>
        </p:txBody>
      </p:sp>
      <p:sp>
        <p:nvSpPr>
          <p:cNvPr id="12" name="Text 9"/>
          <p:cNvSpPr/>
          <p:nvPr/>
        </p:nvSpPr>
        <p:spPr>
          <a:xfrm>
            <a:off x="548567" y="2753519"/>
            <a:ext cx="2346862"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Pagos</a:t>
            </a:r>
            <a:endParaRPr lang="en-US" sz="1600" dirty="0"/>
          </a:p>
        </p:txBody>
      </p:sp>
      <p:sp>
        <p:nvSpPr>
          <p:cNvPr id="13" name="Shape 10"/>
          <p:cNvSpPr/>
          <p:nvPr/>
        </p:nvSpPr>
        <p:spPr>
          <a:xfrm>
            <a:off x="2377321" y="2514600"/>
            <a:ext cx="3748887" cy="749796"/>
          </a:xfrm>
          <a:prstGeom prst="roundRect">
            <a:avLst>
              <a:gd name="adj" fmla="val 17561"/>
            </a:avLst>
          </a:prstGeom>
          <a:solidFill>
            <a:srgbClr val="EEF2F7"/>
          </a:solidFill>
          <a:ln w="12700">
            <a:solidFill>
              <a:srgbClr val="EEF2F7"/>
            </a:solidFill>
            <a:prstDash val="solid"/>
          </a:ln>
        </p:spPr>
        <p:txBody>
          <a:bodyPr/>
          <a:lstStyle/>
          <a:p>
            <a:endParaRPr lang="es-CL"/>
          </a:p>
        </p:txBody>
      </p:sp>
      <p:sp>
        <p:nvSpPr>
          <p:cNvPr id="14" name="Text 11"/>
          <p:cNvSpPr/>
          <p:nvPr/>
        </p:nvSpPr>
        <p:spPr>
          <a:xfrm>
            <a:off x="2605915" y="2768798"/>
            <a:ext cx="3947022"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Múltiples pasarelas, incluida Stripe</a:t>
            </a:r>
            <a:endParaRPr lang="en-US" sz="1400" dirty="0"/>
          </a:p>
        </p:txBody>
      </p:sp>
      <p:sp>
        <p:nvSpPr>
          <p:cNvPr id="15" name="Shape 12"/>
          <p:cNvSpPr/>
          <p:nvPr/>
        </p:nvSpPr>
        <p:spPr>
          <a:xfrm>
            <a:off x="6263424" y="2660848"/>
            <a:ext cx="457189" cy="457200"/>
          </a:xfrm>
          <a:prstGeom prst="ellipse">
            <a:avLst/>
          </a:prstGeom>
          <a:solidFill>
            <a:srgbClr val="2F6DB5"/>
          </a:solidFill>
          <a:ln w="12700">
            <a:solidFill>
              <a:srgbClr val="2F6DB5"/>
            </a:solidFill>
            <a:prstDash val="solid"/>
          </a:ln>
        </p:spPr>
        <p:txBody>
          <a:bodyPr/>
          <a:lstStyle/>
          <a:p>
            <a:endParaRPr lang="es-CL"/>
          </a:p>
        </p:txBody>
      </p:sp>
      <p:pic>
        <p:nvPicPr>
          <p:cNvPr id="16" name="Image 1" descr="preencoded.png"/>
          <p:cNvPicPr>
            <a:picLocks noChangeAspect="1"/>
          </p:cNvPicPr>
          <p:nvPr/>
        </p:nvPicPr>
        <p:blipFill>
          <a:blip r:embed="rId3"/>
          <a:stretch>
            <a:fillRect/>
          </a:stretch>
        </p:blipFill>
        <p:spPr>
          <a:xfrm>
            <a:off x="6377721" y="2775148"/>
            <a:ext cx="228594" cy="228600"/>
          </a:xfrm>
          <a:prstGeom prst="rect">
            <a:avLst/>
          </a:prstGeom>
        </p:spPr>
      </p:pic>
      <p:sp>
        <p:nvSpPr>
          <p:cNvPr id="17" name="Shape 13"/>
          <p:cNvSpPr/>
          <p:nvPr/>
        </p:nvSpPr>
        <p:spPr>
          <a:xfrm>
            <a:off x="6903468" y="2514600"/>
            <a:ext cx="4736386" cy="749796"/>
          </a:xfrm>
          <a:prstGeom prst="roundRect">
            <a:avLst>
              <a:gd name="adj" fmla="val 17561"/>
            </a:avLst>
          </a:prstGeom>
          <a:solidFill>
            <a:srgbClr val="0B2A55"/>
          </a:solidFill>
          <a:ln w="12700">
            <a:solidFill>
              <a:srgbClr val="0B2A55"/>
            </a:solidFill>
            <a:prstDash val="solid"/>
          </a:ln>
        </p:spPr>
        <p:txBody>
          <a:bodyPr/>
          <a:lstStyle/>
          <a:p>
            <a:endParaRPr lang="es-CL"/>
          </a:p>
        </p:txBody>
      </p:sp>
      <p:sp>
        <p:nvSpPr>
          <p:cNvPr id="18" name="Text 14"/>
          <p:cNvSpPr/>
          <p:nvPr/>
        </p:nvSpPr>
        <p:spPr>
          <a:xfrm>
            <a:off x="7132062" y="2768798"/>
            <a:ext cx="4907137" cy="266700"/>
          </a:xfrm>
          <a:prstGeom prst="rect">
            <a:avLst/>
          </a:prstGeom>
          <a:noFill/>
          <a:ln/>
        </p:spPr>
        <p:txBody>
          <a:bodyPr wrap="none" lIns="0" tIns="0" rIns="0" bIns="0" rtlCol="0" anchor="t"/>
          <a:lstStyle/>
          <a:p>
            <a:pPr marL="0" indent="0" algn="l">
              <a:lnSpc>
                <a:spcPct val="125000"/>
              </a:lnSpc>
              <a:buNone/>
            </a:pPr>
            <a:r>
              <a:rPr lang="en-US" sz="1400" b="1" dirty="0">
                <a:solidFill>
                  <a:srgbClr val="FFFFFF"/>
                </a:solidFill>
                <a:latin typeface="Carlito Bold" pitchFamily="34" charset="0"/>
                <a:ea typeface="Carlito Bold" pitchFamily="34" charset="-122"/>
                <a:cs typeface="Carlito Bold" pitchFamily="34" charset="-120"/>
              </a:rPr>
              <a:t>Solo Transbank Webpay Mall (Split Payment)</a:t>
            </a:r>
            <a:endParaRPr lang="en-US" sz="1400" dirty="0"/>
          </a:p>
        </p:txBody>
      </p:sp>
      <p:sp>
        <p:nvSpPr>
          <p:cNvPr id="19" name="Text 15"/>
          <p:cNvSpPr/>
          <p:nvPr/>
        </p:nvSpPr>
        <p:spPr>
          <a:xfrm>
            <a:off x="548567" y="3640534"/>
            <a:ext cx="2346862"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Entrega</a:t>
            </a:r>
            <a:endParaRPr lang="en-US" sz="1600" dirty="0"/>
          </a:p>
        </p:txBody>
      </p:sp>
      <p:sp>
        <p:nvSpPr>
          <p:cNvPr id="20" name="Shape 16"/>
          <p:cNvSpPr/>
          <p:nvPr/>
        </p:nvSpPr>
        <p:spPr>
          <a:xfrm>
            <a:off x="2377321" y="3401516"/>
            <a:ext cx="3748887" cy="749796"/>
          </a:xfrm>
          <a:prstGeom prst="roundRect">
            <a:avLst>
              <a:gd name="adj" fmla="val 17561"/>
            </a:avLst>
          </a:prstGeom>
          <a:solidFill>
            <a:srgbClr val="EEF2F7"/>
          </a:solidFill>
          <a:ln w="12700">
            <a:solidFill>
              <a:srgbClr val="EEF2F7"/>
            </a:solidFill>
            <a:prstDash val="solid"/>
          </a:ln>
        </p:spPr>
        <p:txBody>
          <a:bodyPr/>
          <a:lstStyle/>
          <a:p>
            <a:endParaRPr lang="es-CL"/>
          </a:p>
        </p:txBody>
      </p:sp>
      <p:sp>
        <p:nvSpPr>
          <p:cNvPr id="21" name="Text 17"/>
          <p:cNvSpPr/>
          <p:nvPr/>
        </p:nvSpPr>
        <p:spPr>
          <a:xfrm>
            <a:off x="2605915" y="3655814"/>
            <a:ext cx="3947022"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GPS, mapa y dos fotos obligatorias</a:t>
            </a:r>
            <a:endParaRPr lang="en-US" sz="1400" dirty="0"/>
          </a:p>
        </p:txBody>
      </p:sp>
      <p:sp>
        <p:nvSpPr>
          <p:cNvPr id="22" name="Shape 18"/>
          <p:cNvSpPr/>
          <p:nvPr/>
        </p:nvSpPr>
        <p:spPr>
          <a:xfrm>
            <a:off x="6263424" y="3547864"/>
            <a:ext cx="457189" cy="457200"/>
          </a:xfrm>
          <a:prstGeom prst="ellipse">
            <a:avLst/>
          </a:prstGeom>
          <a:solidFill>
            <a:srgbClr val="2F6DB5"/>
          </a:solidFill>
          <a:ln w="12700">
            <a:solidFill>
              <a:srgbClr val="2F6DB5"/>
            </a:solidFill>
            <a:prstDash val="solid"/>
          </a:ln>
        </p:spPr>
        <p:txBody>
          <a:bodyPr/>
          <a:lstStyle/>
          <a:p>
            <a:endParaRPr lang="es-CL"/>
          </a:p>
        </p:txBody>
      </p:sp>
      <p:pic>
        <p:nvPicPr>
          <p:cNvPr id="23" name="Image 2" descr="preencoded.png"/>
          <p:cNvPicPr>
            <a:picLocks noChangeAspect="1"/>
          </p:cNvPicPr>
          <p:nvPr/>
        </p:nvPicPr>
        <p:blipFill>
          <a:blip r:embed="rId3"/>
          <a:stretch>
            <a:fillRect/>
          </a:stretch>
        </p:blipFill>
        <p:spPr>
          <a:xfrm>
            <a:off x="6377721" y="3662164"/>
            <a:ext cx="228594" cy="228600"/>
          </a:xfrm>
          <a:prstGeom prst="rect">
            <a:avLst/>
          </a:prstGeom>
        </p:spPr>
      </p:pic>
      <p:sp>
        <p:nvSpPr>
          <p:cNvPr id="24" name="Shape 19"/>
          <p:cNvSpPr/>
          <p:nvPr/>
        </p:nvSpPr>
        <p:spPr>
          <a:xfrm>
            <a:off x="6903468" y="3401516"/>
            <a:ext cx="4736386" cy="749796"/>
          </a:xfrm>
          <a:prstGeom prst="roundRect">
            <a:avLst>
              <a:gd name="adj" fmla="val 17561"/>
            </a:avLst>
          </a:prstGeom>
          <a:solidFill>
            <a:srgbClr val="0B2A55"/>
          </a:solidFill>
          <a:ln w="12700">
            <a:solidFill>
              <a:srgbClr val="0B2A55"/>
            </a:solidFill>
            <a:prstDash val="solid"/>
          </a:ln>
        </p:spPr>
        <p:txBody>
          <a:bodyPr/>
          <a:lstStyle/>
          <a:p>
            <a:endParaRPr lang="es-CL"/>
          </a:p>
        </p:txBody>
      </p:sp>
      <p:sp>
        <p:nvSpPr>
          <p:cNvPr id="25" name="Text 20"/>
          <p:cNvSpPr/>
          <p:nvPr/>
        </p:nvSpPr>
        <p:spPr>
          <a:xfrm>
            <a:off x="7132062" y="3655814"/>
            <a:ext cx="4907137" cy="266700"/>
          </a:xfrm>
          <a:prstGeom prst="rect">
            <a:avLst/>
          </a:prstGeom>
          <a:noFill/>
          <a:ln/>
        </p:spPr>
        <p:txBody>
          <a:bodyPr wrap="none" lIns="0" tIns="0" rIns="0" bIns="0" rtlCol="0" anchor="t"/>
          <a:lstStyle/>
          <a:p>
            <a:pPr marL="0" indent="0" algn="l">
              <a:lnSpc>
                <a:spcPct val="125000"/>
              </a:lnSpc>
              <a:buNone/>
            </a:pPr>
            <a:r>
              <a:rPr lang="en-US" sz="1400" b="1" dirty="0">
                <a:solidFill>
                  <a:srgbClr val="FFFFFF"/>
                </a:solidFill>
                <a:latin typeface="Carlito Bold" pitchFamily="34" charset="0"/>
                <a:ea typeface="Carlito Bold" pitchFamily="34" charset="-122"/>
                <a:cs typeface="Carlito Bold" pitchFamily="34" charset="-120"/>
              </a:rPr>
              <a:t>Tres estados con código de verificación</a:t>
            </a:r>
            <a:endParaRPr lang="en-US" sz="1400" dirty="0"/>
          </a:p>
        </p:txBody>
      </p:sp>
      <p:sp>
        <p:nvSpPr>
          <p:cNvPr id="26" name="Text 21"/>
          <p:cNvSpPr/>
          <p:nvPr/>
        </p:nvSpPr>
        <p:spPr>
          <a:xfrm>
            <a:off x="548567" y="4527550"/>
            <a:ext cx="2346862"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Moderación</a:t>
            </a:r>
            <a:endParaRPr lang="en-US" sz="1600" dirty="0"/>
          </a:p>
        </p:txBody>
      </p:sp>
      <p:sp>
        <p:nvSpPr>
          <p:cNvPr id="27" name="Shape 22"/>
          <p:cNvSpPr/>
          <p:nvPr/>
        </p:nvSpPr>
        <p:spPr>
          <a:xfrm>
            <a:off x="2377321" y="4288532"/>
            <a:ext cx="3748887" cy="749796"/>
          </a:xfrm>
          <a:prstGeom prst="roundRect">
            <a:avLst>
              <a:gd name="adj" fmla="val 17561"/>
            </a:avLst>
          </a:prstGeom>
          <a:solidFill>
            <a:srgbClr val="EEF2F7"/>
          </a:solidFill>
          <a:ln w="12700">
            <a:solidFill>
              <a:srgbClr val="EEF2F7"/>
            </a:solidFill>
            <a:prstDash val="solid"/>
          </a:ln>
        </p:spPr>
        <p:txBody>
          <a:bodyPr/>
          <a:lstStyle/>
          <a:p>
            <a:endParaRPr lang="es-CL"/>
          </a:p>
        </p:txBody>
      </p:sp>
      <p:sp>
        <p:nvSpPr>
          <p:cNvPr id="28" name="Text 23"/>
          <p:cNvSpPr/>
          <p:nvPr/>
        </p:nvSpPr>
        <p:spPr>
          <a:xfrm>
            <a:off x="2605915" y="4542730"/>
            <a:ext cx="3947022"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Reputación y sanciones automáticas</a:t>
            </a:r>
            <a:endParaRPr lang="en-US" sz="1400" dirty="0"/>
          </a:p>
        </p:txBody>
      </p:sp>
      <p:sp>
        <p:nvSpPr>
          <p:cNvPr id="29" name="Shape 24"/>
          <p:cNvSpPr/>
          <p:nvPr/>
        </p:nvSpPr>
        <p:spPr>
          <a:xfrm>
            <a:off x="6263424" y="4434780"/>
            <a:ext cx="457189" cy="457200"/>
          </a:xfrm>
          <a:prstGeom prst="ellipse">
            <a:avLst/>
          </a:prstGeom>
          <a:solidFill>
            <a:srgbClr val="2F6DB5"/>
          </a:solidFill>
          <a:ln w="12700">
            <a:solidFill>
              <a:srgbClr val="2F6DB5"/>
            </a:solidFill>
            <a:prstDash val="solid"/>
          </a:ln>
        </p:spPr>
        <p:txBody>
          <a:bodyPr/>
          <a:lstStyle/>
          <a:p>
            <a:endParaRPr lang="es-CL"/>
          </a:p>
        </p:txBody>
      </p:sp>
      <p:pic>
        <p:nvPicPr>
          <p:cNvPr id="30" name="Image 3" descr="preencoded.png"/>
          <p:cNvPicPr>
            <a:picLocks noChangeAspect="1"/>
          </p:cNvPicPr>
          <p:nvPr/>
        </p:nvPicPr>
        <p:blipFill>
          <a:blip r:embed="rId3"/>
          <a:stretch>
            <a:fillRect/>
          </a:stretch>
        </p:blipFill>
        <p:spPr>
          <a:xfrm>
            <a:off x="6377721" y="4549080"/>
            <a:ext cx="228594" cy="228600"/>
          </a:xfrm>
          <a:prstGeom prst="rect">
            <a:avLst/>
          </a:prstGeom>
        </p:spPr>
      </p:pic>
      <p:sp>
        <p:nvSpPr>
          <p:cNvPr id="31" name="Shape 25"/>
          <p:cNvSpPr/>
          <p:nvPr/>
        </p:nvSpPr>
        <p:spPr>
          <a:xfrm>
            <a:off x="6903468" y="4288532"/>
            <a:ext cx="4736386" cy="749796"/>
          </a:xfrm>
          <a:prstGeom prst="roundRect">
            <a:avLst>
              <a:gd name="adj" fmla="val 17561"/>
            </a:avLst>
          </a:prstGeom>
          <a:solidFill>
            <a:srgbClr val="0B2A55"/>
          </a:solidFill>
          <a:ln w="12700">
            <a:solidFill>
              <a:srgbClr val="0B2A55"/>
            </a:solidFill>
            <a:prstDash val="solid"/>
          </a:ln>
        </p:spPr>
        <p:txBody>
          <a:bodyPr/>
          <a:lstStyle/>
          <a:p>
            <a:endParaRPr lang="es-CL"/>
          </a:p>
        </p:txBody>
      </p:sp>
      <p:sp>
        <p:nvSpPr>
          <p:cNvPr id="32" name="Text 26"/>
          <p:cNvSpPr/>
          <p:nvPr/>
        </p:nvSpPr>
        <p:spPr>
          <a:xfrm>
            <a:off x="7132062" y="4542730"/>
            <a:ext cx="4907137" cy="266700"/>
          </a:xfrm>
          <a:prstGeom prst="rect">
            <a:avLst/>
          </a:prstGeom>
          <a:noFill/>
          <a:ln/>
        </p:spPr>
        <p:txBody>
          <a:bodyPr wrap="none" lIns="0" tIns="0" rIns="0" bIns="0" rtlCol="0" anchor="t"/>
          <a:lstStyle/>
          <a:p>
            <a:pPr marL="0" indent="0" algn="l">
              <a:lnSpc>
                <a:spcPct val="125000"/>
              </a:lnSpc>
              <a:buNone/>
            </a:pPr>
            <a:r>
              <a:rPr lang="en-US" sz="1400" b="1" dirty="0">
                <a:solidFill>
                  <a:srgbClr val="FFFFFF"/>
                </a:solidFill>
                <a:latin typeface="Carlito Bold" pitchFamily="34" charset="0"/>
                <a:ea typeface="Carlito Bold" pitchFamily="34" charset="-122"/>
                <a:cs typeface="Carlito Bold" pitchFamily="34" charset="-120"/>
              </a:rPr>
              <a:t>Moderación automática y sanciones manuales</a:t>
            </a:r>
            <a:endParaRPr lang="en-US" sz="1400" dirty="0"/>
          </a:p>
        </p:txBody>
      </p:sp>
      <p:sp>
        <p:nvSpPr>
          <p:cNvPr id="33" name="Text 27"/>
          <p:cNvSpPr/>
          <p:nvPr/>
        </p:nvSpPr>
        <p:spPr>
          <a:xfrm>
            <a:off x="548567" y="5414466"/>
            <a:ext cx="2346862" cy="304800"/>
          </a:xfrm>
          <a:prstGeom prst="rect">
            <a:avLst/>
          </a:prstGeom>
          <a:noFill/>
          <a:ln/>
        </p:spPr>
        <p:txBody>
          <a:bodyPr wrap="none" lIns="0" tIns="0" rIns="0" bIns="0" rtlCol="0" anchor="t"/>
          <a:lstStyle/>
          <a:p>
            <a:pPr marL="0" indent="0" algn="l">
              <a:lnSpc>
                <a:spcPct val="125000"/>
              </a:lnSpc>
              <a:buNone/>
            </a:pPr>
            <a:r>
              <a:rPr lang="en-US" sz="1600" b="1" dirty="0">
                <a:solidFill>
                  <a:srgbClr val="0B2A55"/>
                </a:solidFill>
                <a:latin typeface="Carlito Bold" pitchFamily="34" charset="0"/>
                <a:ea typeface="Carlito Bold" pitchFamily="34" charset="-122"/>
                <a:cs typeface="Carlito Bold" pitchFamily="34" charset="-120"/>
              </a:rPr>
              <a:t>Persistencia</a:t>
            </a:r>
            <a:endParaRPr lang="en-US" sz="1600" dirty="0"/>
          </a:p>
        </p:txBody>
      </p:sp>
      <p:sp>
        <p:nvSpPr>
          <p:cNvPr id="34" name="Shape 28"/>
          <p:cNvSpPr/>
          <p:nvPr/>
        </p:nvSpPr>
        <p:spPr>
          <a:xfrm>
            <a:off x="2377321" y="5175448"/>
            <a:ext cx="3748887" cy="749796"/>
          </a:xfrm>
          <a:prstGeom prst="roundRect">
            <a:avLst>
              <a:gd name="adj" fmla="val 17561"/>
            </a:avLst>
          </a:prstGeom>
          <a:solidFill>
            <a:srgbClr val="EEF2F7"/>
          </a:solidFill>
          <a:ln w="12700">
            <a:solidFill>
              <a:srgbClr val="EEF2F7"/>
            </a:solidFill>
            <a:prstDash val="solid"/>
          </a:ln>
        </p:spPr>
        <p:txBody>
          <a:bodyPr/>
          <a:lstStyle/>
          <a:p>
            <a:endParaRPr lang="es-CL"/>
          </a:p>
        </p:txBody>
      </p:sp>
      <p:sp>
        <p:nvSpPr>
          <p:cNvPr id="35" name="Text 29"/>
          <p:cNvSpPr/>
          <p:nvPr/>
        </p:nvSpPr>
        <p:spPr>
          <a:xfrm>
            <a:off x="2605915" y="5429746"/>
            <a:ext cx="3947022" cy="266700"/>
          </a:xfrm>
          <a:prstGeom prst="rect">
            <a:avLst/>
          </a:prstGeom>
          <a:noFill/>
          <a:ln/>
        </p:spPr>
        <p:txBody>
          <a:bodyPr wrap="none" lIns="0" tIns="0" rIns="0" bIns="0" rtlCol="0" anchor="t"/>
          <a:lstStyle/>
          <a:p>
            <a:pPr marL="0" indent="0" algn="l">
              <a:lnSpc>
                <a:spcPct val="125000"/>
              </a:lnSpc>
              <a:buNone/>
            </a:pPr>
            <a:r>
              <a:rPr lang="en-US" sz="1400" dirty="0">
                <a:solidFill>
                  <a:srgbClr val="1B1F2A"/>
                </a:solidFill>
                <a:latin typeface="Carlito" pitchFamily="34" charset="0"/>
                <a:ea typeface="Carlito" pitchFamily="34" charset="-122"/>
                <a:cs typeface="Carlito" pitchFamily="34" charset="-120"/>
              </a:rPr>
              <a:t>SQLite local en el dispositivo</a:t>
            </a:r>
            <a:endParaRPr lang="en-US" sz="1400" dirty="0"/>
          </a:p>
        </p:txBody>
      </p:sp>
      <p:sp>
        <p:nvSpPr>
          <p:cNvPr id="36" name="Shape 30"/>
          <p:cNvSpPr/>
          <p:nvPr/>
        </p:nvSpPr>
        <p:spPr>
          <a:xfrm>
            <a:off x="6263424" y="5321796"/>
            <a:ext cx="457189" cy="457200"/>
          </a:xfrm>
          <a:prstGeom prst="ellipse">
            <a:avLst/>
          </a:prstGeom>
          <a:solidFill>
            <a:srgbClr val="2F6DB5"/>
          </a:solidFill>
          <a:ln w="12700">
            <a:solidFill>
              <a:srgbClr val="2F6DB5"/>
            </a:solidFill>
            <a:prstDash val="solid"/>
          </a:ln>
        </p:spPr>
        <p:txBody>
          <a:bodyPr/>
          <a:lstStyle/>
          <a:p>
            <a:endParaRPr lang="es-CL"/>
          </a:p>
        </p:txBody>
      </p:sp>
      <p:pic>
        <p:nvPicPr>
          <p:cNvPr id="37" name="Image 4" descr="preencoded.png"/>
          <p:cNvPicPr>
            <a:picLocks noChangeAspect="1"/>
          </p:cNvPicPr>
          <p:nvPr/>
        </p:nvPicPr>
        <p:blipFill>
          <a:blip r:embed="rId3"/>
          <a:stretch>
            <a:fillRect/>
          </a:stretch>
        </p:blipFill>
        <p:spPr>
          <a:xfrm>
            <a:off x="6377721" y="5436096"/>
            <a:ext cx="228594" cy="228600"/>
          </a:xfrm>
          <a:prstGeom prst="rect">
            <a:avLst/>
          </a:prstGeom>
        </p:spPr>
      </p:pic>
      <p:sp>
        <p:nvSpPr>
          <p:cNvPr id="38" name="Shape 31"/>
          <p:cNvSpPr/>
          <p:nvPr/>
        </p:nvSpPr>
        <p:spPr>
          <a:xfrm>
            <a:off x="6903468" y="5175448"/>
            <a:ext cx="4736386" cy="749796"/>
          </a:xfrm>
          <a:prstGeom prst="roundRect">
            <a:avLst>
              <a:gd name="adj" fmla="val 17561"/>
            </a:avLst>
          </a:prstGeom>
          <a:solidFill>
            <a:srgbClr val="0B2A55"/>
          </a:solidFill>
          <a:ln w="12700">
            <a:solidFill>
              <a:srgbClr val="0B2A55"/>
            </a:solidFill>
            <a:prstDash val="solid"/>
          </a:ln>
        </p:spPr>
        <p:txBody>
          <a:bodyPr/>
          <a:lstStyle/>
          <a:p>
            <a:endParaRPr lang="es-CL"/>
          </a:p>
        </p:txBody>
      </p:sp>
      <p:sp>
        <p:nvSpPr>
          <p:cNvPr id="39" name="Text 32"/>
          <p:cNvSpPr/>
          <p:nvPr/>
        </p:nvSpPr>
        <p:spPr>
          <a:xfrm>
            <a:off x="7132062" y="5429746"/>
            <a:ext cx="4907137" cy="266700"/>
          </a:xfrm>
          <a:prstGeom prst="rect">
            <a:avLst/>
          </a:prstGeom>
          <a:noFill/>
          <a:ln/>
        </p:spPr>
        <p:txBody>
          <a:bodyPr wrap="none" lIns="0" tIns="0" rIns="0" bIns="0" rtlCol="0" anchor="t"/>
          <a:lstStyle/>
          <a:p>
            <a:pPr marL="0" indent="0" algn="l">
              <a:lnSpc>
                <a:spcPct val="125000"/>
              </a:lnSpc>
              <a:buNone/>
            </a:pPr>
            <a:r>
              <a:rPr lang="en-US" sz="1400" b="1" dirty="0">
                <a:solidFill>
                  <a:srgbClr val="FFFFFF"/>
                </a:solidFill>
                <a:latin typeface="Carlito Bold" pitchFamily="34" charset="0"/>
                <a:ea typeface="Carlito Bold" pitchFamily="34" charset="-122"/>
                <a:cs typeface="Carlito Bold" pitchFamily="34" charset="-120"/>
              </a:rPr>
              <a:t>PostgreSQL en Supabase</a:t>
            </a:r>
            <a:endParaRPr lang="en-US" sz="1400" dirty="0"/>
          </a:p>
        </p:txBody>
      </p:sp>
      <p:sp>
        <p:nvSpPr>
          <p:cNvPr id="40" name="Text 33"/>
          <p:cNvSpPr/>
          <p:nvPr/>
        </p:nvSpPr>
        <p:spPr>
          <a:xfrm>
            <a:off x="548567" y="6461026"/>
            <a:ext cx="307282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CuTuCo  ·  Fase 2 Capstone  ·  Duoc UC Plaza Norte</a:t>
            </a:r>
            <a:endParaRPr lang="en-US" sz="1000" dirty="0"/>
          </a:p>
        </p:txBody>
      </p:sp>
      <p:sp>
        <p:nvSpPr>
          <p:cNvPr id="41" name="Text 34"/>
          <p:cNvSpPr/>
          <p:nvPr/>
        </p:nvSpPr>
        <p:spPr>
          <a:xfrm>
            <a:off x="11419892" y="6445845"/>
            <a:ext cx="738367" cy="190500"/>
          </a:xfrm>
          <a:prstGeom prst="rect">
            <a:avLst/>
          </a:prstGeom>
          <a:noFill/>
          <a:ln/>
        </p:spPr>
        <p:txBody>
          <a:bodyPr wrap="none" lIns="0" tIns="0" rIns="0" bIns="0" rtlCol="0" anchor="ctr"/>
          <a:lstStyle/>
          <a:p>
            <a:pPr marL="0" indent="0" algn="l">
              <a:lnSpc>
                <a:spcPct val="125000"/>
              </a:lnSpc>
              <a:buNone/>
            </a:pPr>
            <a:r>
              <a:rPr lang="en-US" sz="1000" dirty="0">
                <a:solidFill>
                  <a:srgbClr val="5B6577"/>
                </a:solidFill>
                <a:latin typeface="Carlito" pitchFamily="34" charset="0"/>
                <a:ea typeface="Carlito" pitchFamily="34" charset="-122"/>
                <a:cs typeface="Carlito"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567" y="453668"/>
            <a:ext cx="11091387" cy="518120"/>
          </a:xfrm>
          <a:prstGeom prst="rect">
            <a:avLst/>
          </a:prstGeom>
          <a:noFill/>
          <a:ln/>
        </p:spPr>
        <p:txBody>
          <a:bodyPr wrap="none" lIns="0" tIns="0" rIns="0" bIns="0" rtlCol="0" anchor="t"/>
          <a:lstStyle/>
          <a:p>
            <a:pPr marL="0" indent="0" algn="l">
              <a:lnSpc>
                <a:spcPct val="100000"/>
              </a:lnSpc>
              <a:buNone/>
            </a:pPr>
            <a:r>
              <a:rPr lang="en-US" sz="3400" b="1" dirty="0">
                <a:solidFill>
                  <a:srgbClr val="FFFFFF"/>
                </a:solidFill>
                <a:latin typeface="Carlito Bold" pitchFamily="34" charset="0"/>
                <a:ea typeface="Carlito Bold" pitchFamily="34" charset="-122"/>
                <a:cs typeface="Carlito Bold" pitchFamily="34" charset="-120"/>
              </a:rPr>
              <a:t>Próximos pasos</a:t>
            </a:r>
            <a:endParaRPr lang="en-US" sz="3400" dirty="0"/>
          </a:p>
        </p:txBody>
      </p:sp>
      <p:sp>
        <p:nvSpPr>
          <p:cNvPr id="3" name="Shape 1"/>
          <p:cNvSpPr/>
          <p:nvPr/>
        </p:nvSpPr>
        <p:spPr>
          <a:xfrm>
            <a:off x="548567" y="1462980"/>
            <a:ext cx="2567022" cy="2834580"/>
          </a:xfrm>
          <a:prstGeom prst="roundRect">
            <a:avLst>
              <a:gd name="adj" fmla="val 5129"/>
            </a:avLst>
          </a:prstGeom>
          <a:solidFill>
            <a:srgbClr val="FFFFFF">
              <a:alpha val="10000"/>
            </a:srgbClr>
          </a:solidFill>
          <a:ln/>
        </p:spPr>
        <p:txBody>
          <a:bodyPr/>
          <a:lstStyle/>
          <a:p>
            <a:endParaRPr lang="es-CL"/>
          </a:p>
        </p:txBody>
      </p:sp>
      <p:sp>
        <p:nvSpPr>
          <p:cNvPr id="4" name="Text 2"/>
          <p:cNvSpPr/>
          <p:nvPr/>
        </p:nvSpPr>
        <p:spPr>
          <a:xfrm>
            <a:off x="822900" y="1739945"/>
            <a:ext cx="2018456" cy="457200"/>
          </a:xfrm>
          <a:prstGeom prst="rect">
            <a:avLst/>
          </a:prstGeom>
          <a:noFill/>
          <a:ln/>
        </p:spPr>
        <p:txBody>
          <a:bodyPr wrap="none" lIns="0" tIns="0" rIns="0" bIns="0" rtlCol="0" anchor="t"/>
          <a:lstStyle/>
          <a:p>
            <a:pPr marL="0" indent="0" algn="l">
              <a:lnSpc>
                <a:spcPct val="100000"/>
              </a:lnSpc>
              <a:buNone/>
            </a:pPr>
            <a:r>
              <a:rPr lang="en-US" sz="3000" b="1" dirty="0">
                <a:solidFill>
                  <a:srgbClr val="FFC72C"/>
                </a:solidFill>
                <a:latin typeface="Carlito Bold" pitchFamily="34" charset="0"/>
                <a:ea typeface="Carlito Bold" pitchFamily="34" charset="-122"/>
                <a:cs typeface="Carlito Bold" pitchFamily="34" charset="-120"/>
              </a:rPr>
              <a:t>S5–S8</a:t>
            </a:r>
            <a:endParaRPr lang="en-US" sz="3000" dirty="0"/>
          </a:p>
        </p:txBody>
      </p:sp>
      <p:sp>
        <p:nvSpPr>
          <p:cNvPr id="5" name="Text 3"/>
          <p:cNvSpPr/>
          <p:nvPr/>
        </p:nvSpPr>
        <p:spPr>
          <a:xfrm>
            <a:off x="822900" y="2421513"/>
            <a:ext cx="2018456" cy="274241"/>
          </a:xfrm>
          <a:prstGeom prst="rect">
            <a:avLst/>
          </a:prstGeom>
          <a:noFill/>
          <a:ln/>
        </p:spPr>
        <p:txBody>
          <a:bodyPr wrap="none" lIns="0" tIns="0" rIns="0" bIns="0" rtlCol="0" anchor="t"/>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Frontend y módulos</a:t>
            </a:r>
            <a:endParaRPr lang="en-US" sz="1800" dirty="0"/>
          </a:p>
        </p:txBody>
      </p:sp>
      <p:sp>
        <p:nvSpPr>
          <p:cNvPr id="6" name="Text 4"/>
          <p:cNvSpPr/>
          <p:nvPr/>
        </p:nvSpPr>
        <p:spPr>
          <a:xfrm>
            <a:off x="822900" y="3096546"/>
            <a:ext cx="1961307" cy="63996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FFFFFF"/>
                </a:solidFill>
                <a:latin typeface="Carlito" pitchFamily="34" charset="0"/>
                <a:ea typeface="Carlito" pitchFamily="34" charset="-122"/>
                <a:cs typeface="Carlito" pitchFamily="34" charset="-120"/>
              </a:rPr>
              <a:t>Vue.js: catálogo, carrito, panel del vendedor y administración</a:t>
            </a:r>
            <a:endParaRPr lang="en-US" sz="1400" dirty="0"/>
          </a:p>
        </p:txBody>
      </p:sp>
      <p:sp>
        <p:nvSpPr>
          <p:cNvPr id="7" name="Shape 5"/>
          <p:cNvSpPr/>
          <p:nvPr/>
        </p:nvSpPr>
        <p:spPr>
          <a:xfrm>
            <a:off x="3390021" y="1462980"/>
            <a:ext cx="2567022" cy="2834580"/>
          </a:xfrm>
          <a:prstGeom prst="roundRect">
            <a:avLst>
              <a:gd name="adj" fmla="val 5129"/>
            </a:avLst>
          </a:prstGeom>
          <a:solidFill>
            <a:srgbClr val="FFFFFF">
              <a:alpha val="10000"/>
            </a:srgbClr>
          </a:solidFill>
          <a:ln/>
        </p:spPr>
        <p:txBody>
          <a:bodyPr/>
          <a:lstStyle/>
          <a:p>
            <a:endParaRPr lang="es-CL"/>
          </a:p>
        </p:txBody>
      </p:sp>
      <p:sp>
        <p:nvSpPr>
          <p:cNvPr id="8" name="Text 6"/>
          <p:cNvSpPr/>
          <p:nvPr/>
        </p:nvSpPr>
        <p:spPr>
          <a:xfrm>
            <a:off x="3664354" y="1739945"/>
            <a:ext cx="2018456" cy="457200"/>
          </a:xfrm>
          <a:prstGeom prst="rect">
            <a:avLst/>
          </a:prstGeom>
          <a:noFill/>
          <a:ln/>
        </p:spPr>
        <p:txBody>
          <a:bodyPr wrap="none" lIns="0" tIns="0" rIns="0" bIns="0" rtlCol="0" anchor="t"/>
          <a:lstStyle/>
          <a:p>
            <a:pPr marL="0" indent="0" algn="l">
              <a:lnSpc>
                <a:spcPct val="100000"/>
              </a:lnSpc>
              <a:buNone/>
            </a:pPr>
            <a:r>
              <a:rPr lang="en-US" sz="3000" b="1" dirty="0">
                <a:solidFill>
                  <a:srgbClr val="FFC72C"/>
                </a:solidFill>
                <a:latin typeface="Carlito Bold" pitchFamily="34" charset="0"/>
                <a:ea typeface="Carlito Bold" pitchFamily="34" charset="-122"/>
                <a:cs typeface="Carlito Bold" pitchFamily="34" charset="-120"/>
              </a:rPr>
              <a:t>S7–S10</a:t>
            </a:r>
            <a:endParaRPr lang="en-US" sz="3000" dirty="0"/>
          </a:p>
        </p:txBody>
      </p:sp>
      <p:sp>
        <p:nvSpPr>
          <p:cNvPr id="9" name="Text 7"/>
          <p:cNvSpPr/>
          <p:nvPr/>
        </p:nvSpPr>
        <p:spPr>
          <a:xfrm>
            <a:off x="3664354" y="2421513"/>
            <a:ext cx="2018456" cy="274241"/>
          </a:xfrm>
          <a:prstGeom prst="rect">
            <a:avLst/>
          </a:prstGeom>
          <a:noFill/>
          <a:ln/>
        </p:spPr>
        <p:txBody>
          <a:bodyPr wrap="none" lIns="0" tIns="0" rIns="0" bIns="0" rtlCol="0" anchor="t"/>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Pago y entrega</a:t>
            </a:r>
            <a:endParaRPr lang="en-US" sz="1800" dirty="0"/>
          </a:p>
        </p:txBody>
      </p:sp>
      <p:sp>
        <p:nvSpPr>
          <p:cNvPr id="10" name="Text 8"/>
          <p:cNvSpPr/>
          <p:nvPr/>
        </p:nvSpPr>
        <p:spPr>
          <a:xfrm>
            <a:off x="3664354" y="3096546"/>
            <a:ext cx="1961307" cy="63996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FFFFFF"/>
                </a:solidFill>
                <a:latin typeface="Carlito" pitchFamily="34" charset="0"/>
                <a:ea typeface="Carlito" pitchFamily="34" charset="-122"/>
                <a:cs typeface="Carlito" pitchFamily="34" charset="-120"/>
              </a:rPr>
              <a:t>Webpay Mall (Split Payment), código de entrega y calificaciones</a:t>
            </a:r>
            <a:endParaRPr lang="en-US" sz="1400" dirty="0"/>
          </a:p>
        </p:txBody>
      </p:sp>
      <p:sp>
        <p:nvSpPr>
          <p:cNvPr id="11" name="Shape 9"/>
          <p:cNvSpPr/>
          <p:nvPr/>
        </p:nvSpPr>
        <p:spPr>
          <a:xfrm>
            <a:off x="6231476" y="1462980"/>
            <a:ext cx="2567022" cy="2834580"/>
          </a:xfrm>
          <a:prstGeom prst="roundRect">
            <a:avLst>
              <a:gd name="adj" fmla="val 5129"/>
            </a:avLst>
          </a:prstGeom>
          <a:solidFill>
            <a:srgbClr val="FFFFFF">
              <a:alpha val="10000"/>
            </a:srgbClr>
          </a:solidFill>
          <a:ln/>
        </p:spPr>
        <p:txBody>
          <a:bodyPr/>
          <a:lstStyle/>
          <a:p>
            <a:endParaRPr lang="es-CL"/>
          </a:p>
        </p:txBody>
      </p:sp>
      <p:sp>
        <p:nvSpPr>
          <p:cNvPr id="12" name="Text 10"/>
          <p:cNvSpPr/>
          <p:nvPr/>
        </p:nvSpPr>
        <p:spPr>
          <a:xfrm>
            <a:off x="6505710" y="1739945"/>
            <a:ext cx="2018456" cy="457200"/>
          </a:xfrm>
          <a:prstGeom prst="rect">
            <a:avLst/>
          </a:prstGeom>
          <a:noFill/>
          <a:ln/>
        </p:spPr>
        <p:txBody>
          <a:bodyPr wrap="none" lIns="0" tIns="0" rIns="0" bIns="0" rtlCol="0" anchor="t"/>
          <a:lstStyle/>
          <a:p>
            <a:pPr marL="0" indent="0" algn="l">
              <a:lnSpc>
                <a:spcPct val="100000"/>
              </a:lnSpc>
              <a:buNone/>
            </a:pPr>
            <a:r>
              <a:rPr lang="en-US" sz="3000" b="1" dirty="0">
                <a:solidFill>
                  <a:srgbClr val="FFC72C"/>
                </a:solidFill>
                <a:latin typeface="Carlito Bold" pitchFamily="34" charset="0"/>
                <a:ea typeface="Carlito Bold" pitchFamily="34" charset="-122"/>
                <a:cs typeface="Carlito Bold" pitchFamily="34" charset="-120"/>
              </a:rPr>
              <a:t>S9–S11</a:t>
            </a:r>
            <a:endParaRPr lang="en-US" sz="3000" dirty="0"/>
          </a:p>
        </p:txBody>
      </p:sp>
      <p:sp>
        <p:nvSpPr>
          <p:cNvPr id="13" name="Text 11"/>
          <p:cNvSpPr/>
          <p:nvPr/>
        </p:nvSpPr>
        <p:spPr>
          <a:xfrm>
            <a:off x="6505710" y="2421513"/>
            <a:ext cx="2018456" cy="548481"/>
          </a:xfrm>
          <a:prstGeom prst="rect">
            <a:avLst/>
          </a:prstGeom>
          <a:noFill/>
          <a:ln/>
        </p:spPr>
        <p:txBody>
          <a:bodyPr wrap="square" lIns="0" tIns="0" rIns="0" bIns="0" rtlCol="0" anchor="t">
            <a:normAutofit lnSpcReduction="10000"/>
          </a:bodyPr>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Integración y pruebas</a:t>
            </a:r>
            <a:endParaRPr lang="en-US" sz="1800" dirty="0"/>
          </a:p>
        </p:txBody>
      </p:sp>
      <p:sp>
        <p:nvSpPr>
          <p:cNvPr id="14" name="Text 12"/>
          <p:cNvSpPr/>
          <p:nvPr/>
        </p:nvSpPr>
        <p:spPr>
          <a:xfrm>
            <a:off x="6505710" y="3096546"/>
            <a:ext cx="1961307" cy="639961"/>
          </a:xfrm>
          <a:prstGeom prst="rect">
            <a:avLst/>
          </a:prstGeom>
          <a:noFill/>
          <a:ln/>
        </p:spPr>
        <p:txBody>
          <a:bodyPr wrap="square" lIns="0" tIns="0" rIns="0" bIns="0" rtlCol="0" anchor="t">
            <a:normAutofit lnSpcReduction="10000"/>
          </a:bodyPr>
          <a:lstStyle/>
          <a:p>
            <a:pPr marL="0" indent="0" algn="l">
              <a:lnSpc>
                <a:spcPct val="100000"/>
              </a:lnSpc>
              <a:buNone/>
            </a:pPr>
            <a:r>
              <a:rPr lang="en-US" sz="1400" dirty="0">
                <a:solidFill>
                  <a:srgbClr val="FFFFFF"/>
                </a:solidFill>
                <a:latin typeface="Carlito" pitchFamily="34" charset="0"/>
                <a:ea typeface="Carlito" pitchFamily="34" charset="-122"/>
                <a:cs typeface="Carlito" pitchFamily="34" charset="-120"/>
              </a:rPr>
              <a:t>Pruebas de API y E2E, correcciones y verificación del alcance</a:t>
            </a:r>
            <a:endParaRPr lang="en-US" sz="1400" dirty="0"/>
          </a:p>
        </p:txBody>
      </p:sp>
      <p:sp>
        <p:nvSpPr>
          <p:cNvPr id="15" name="Shape 13"/>
          <p:cNvSpPr/>
          <p:nvPr/>
        </p:nvSpPr>
        <p:spPr>
          <a:xfrm>
            <a:off x="9072832" y="1462980"/>
            <a:ext cx="2567022" cy="2834580"/>
          </a:xfrm>
          <a:prstGeom prst="roundRect">
            <a:avLst>
              <a:gd name="adj" fmla="val 5129"/>
            </a:avLst>
          </a:prstGeom>
          <a:solidFill>
            <a:srgbClr val="FFFFFF">
              <a:alpha val="10000"/>
            </a:srgbClr>
          </a:solidFill>
          <a:ln/>
        </p:spPr>
        <p:txBody>
          <a:bodyPr/>
          <a:lstStyle/>
          <a:p>
            <a:endParaRPr lang="es-CL"/>
          </a:p>
        </p:txBody>
      </p:sp>
      <p:sp>
        <p:nvSpPr>
          <p:cNvPr id="16" name="Text 14"/>
          <p:cNvSpPr/>
          <p:nvPr/>
        </p:nvSpPr>
        <p:spPr>
          <a:xfrm>
            <a:off x="9347165" y="1739945"/>
            <a:ext cx="2018456" cy="457200"/>
          </a:xfrm>
          <a:prstGeom prst="rect">
            <a:avLst/>
          </a:prstGeom>
          <a:noFill/>
          <a:ln/>
        </p:spPr>
        <p:txBody>
          <a:bodyPr wrap="none" lIns="0" tIns="0" rIns="0" bIns="0" rtlCol="0" anchor="t"/>
          <a:lstStyle/>
          <a:p>
            <a:pPr marL="0" indent="0" algn="l">
              <a:lnSpc>
                <a:spcPct val="100000"/>
              </a:lnSpc>
              <a:buNone/>
            </a:pPr>
            <a:r>
              <a:rPr lang="en-US" sz="3000" b="1" dirty="0">
                <a:solidFill>
                  <a:srgbClr val="FFC72C"/>
                </a:solidFill>
                <a:latin typeface="Carlito Bold" pitchFamily="34" charset="0"/>
                <a:ea typeface="Carlito Bold" pitchFamily="34" charset="-122"/>
                <a:cs typeface="Carlito Bold" pitchFamily="34" charset="-120"/>
              </a:rPr>
              <a:t>S12–S13</a:t>
            </a:r>
            <a:endParaRPr lang="en-US" sz="3000" dirty="0"/>
          </a:p>
        </p:txBody>
      </p:sp>
      <p:sp>
        <p:nvSpPr>
          <p:cNvPr id="17" name="Text 15"/>
          <p:cNvSpPr/>
          <p:nvPr/>
        </p:nvSpPr>
        <p:spPr>
          <a:xfrm>
            <a:off x="9347165" y="2421513"/>
            <a:ext cx="2018456" cy="274241"/>
          </a:xfrm>
          <a:prstGeom prst="rect">
            <a:avLst/>
          </a:prstGeom>
          <a:noFill/>
          <a:ln/>
        </p:spPr>
        <p:txBody>
          <a:bodyPr wrap="none" lIns="0" tIns="0" rIns="0" bIns="0" rtlCol="0" anchor="t"/>
          <a:lstStyle/>
          <a:p>
            <a:pPr marL="0" indent="0" algn="l">
              <a:lnSpc>
                <a:spcPct val="100000"/>
              </a:lnSpc>
              <a:buNone/>
            </a:pPr>
            <a:r>
              <a:rPr lang="en-US" sz="1800" b="1" dirty="0">
                <a:solidFill>
                  <a:srgbClr val="FFFFFF"/>
                </a:solidFill>
                <a:latin typeface="Carlito Bold" pitchFamily="34" charset="0"/>
                <a:ea typeface="Carlito Bold" pitchFamily="34" charset="-122"/>
                <a:cs typeface="Carlito Bold" pitchFamily="34" charset="-120"/>
              </a:rPr>
              <a:t>Cierre</a:t>
            </a:r>
            <a:endParaRPr lang="en-US" sz="1800" dirty="0"/>
          </a:p>
        </p:txBody>
      </p:sp>
      <p:sp>
        <p:nvSpPr>
          <p:cNvPr id="18" name="Text 16"/>
          <p:cNvSpPr/>
          <p:nvPr/>
        </p:nvSpPr>
        <p:spPr>
          <a:xfrm>
            <a:off x="9347165" y="3094930"/>
            <a:ext cx="1961307" cy="8001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FFFFFF"/>
                </a:solidFill>
                <a:latin typeface="Carlito" pitchFamily="34" charset="0"/>
                <a:ea typeface="Carlito" pitchFamily="34" charset="-122"/>
                <a:cs typeface="Carlito" pitchFamily="34" charset="-120"/>
              </a:rPr>
              <a:t>Manuales, plan de implantación y entrega final el 10/12</a:t>
            </a:r>
            <a:endParaRPr lang="en-US" sz="1400" dirty="0"/>
          </a:p>
        </p:txBody>
      </p:sp>
      <p:sp>
        <p:nvSpPr>
          <p:cNvPr id="19" name="Shape 17"/>
          <p:cNvSpPr/>
          <p:nvPr/>
        </p:nvSpPr>
        <p:spPr>
          <a:xfrm>
            <a:off x="548567" y="5257800"/>
            <a:ext cx="1508683" cy="411460"/>
          </a:xfrm>
          <a:prstGeom prst="roundRect">
            <a:avLst>
              <a:gd name="adj" fmla="val 49999"/>
            </a:avLst>
          </a:prstGeom>
          <a:solidFill>
            <a:srgbClr val="FFFFFF">
              <a:alpha val="10000"/>
            </a:srgbClr>
          </a:solidFill>
          <a:ln w="12700">
            <a:solidFill>
              <a:srgbClr val="FFC72C"/>
            </a:solidFill>
            <a:prstDash val="solid"/>
          </a:ln>
        </p:spPr>
        <p:txBody>
          <a:bodyPr/>
          <a:lstStyle/>
          <a:p>
            <a:endParaRPr lang="es-CL"/>
          </a:p>
        </p:txBody>
      </p:sp>
      <p:sp>
        <p:nvSpPr>
          <p:cNvPr id="20" name="Text 18"/>
          <p:cNvSpPr/>
          <p:nvPr/>
        </p:nvSpPr>
        <p:spPr>
          <a:xfrm>
            <a:off x="243774" y="5350470"/>
            <a:ext cx="2118267" cy="247650"/>
          </a:xfrm>
          <a:prstGeom prst="rect">
            <a:avLst/>
          </a:prstGeom>
          <a:noFill/>
          <a:ln/>
        </p:spPr>
        <p:txBody>
          <a:bodyPr wrap="none" lIns="0" tIns="0" rIns="0" bIns="0" rtlCol="0" anchor="t"/>
          <a:lstStyle/>
          <a:p>
            <a:pPr marL="0" indent="0" algn="ctr">
              <a:lnSpc>
                <a:spcPct val="125000"/>
              </a:lnSpc>
              <a:buNone/>
            </a:pPr>
            <a:r>
              <a:rPr lang="en-US" sz="1300" b="1" kern="100" spc="200" dirty="0">
                <a:solidFill>
                  <a:srgbClr val="FFFFFF"/>
                </a:solidFill>
                <a:latin typeface="Carlito Bold" pitchFamily="34" charset="0"/>
                <a:ea typeface="Carlito Bold" pitchFamily="34" charset="-122"/>
                <a:cs typeface="Carlito Bold" pitchFamily="34" charset="-120"/>
              </a:rPr>
              <a:t>SIMPLE</a:t>
            </a:r>
            <a:endParaRPr lang="en-US" sz="1300" dirty="0"/>
          </a:p>
        </p:txBody>
      </p:sp>
      <p:sp>
        <p:nvSpPr>
          <p:cNvPr id="21" name="Shape 19"/>
          <p:cNvSpPr/>
          <p:nvPr/>
        </p:nvSpPr>
        <p:spPr>
          <a:xfrm>
            <a:off x="2240204" y="5257800"/>
            <a:ext cx="1508683" cy="411460"/>
          </a:xfrm>
          <a:prstGeom prst="roundRect">
            <a:avLst>
              <a:gd name="adj" fmla="val 49999"/>
            </a:avLst>
          </a:prstGeom>
          <a:solidFill>
            <a:srgbClr val="FFFFFF">
              <a:alpha val="10000"/>
            </a:srgbClr>
          </a:solidFill>
          <a:ln w="12700">
            <a:solidFill>
              <a:srgbClr val="FFC72C"/>
            </a:solidFill>
            <a:prstDash val="solid"/>
          </a:ln>
        </p:spPr>
        <p:txBody>
          <a:bodyPr/>
          <a:lstStyle/>
          <a:p>
            <a:endParaRPr lang="es-CL"/>
          </a:p>
        </p:txBody>
      </p:sp>
      <p:sp>
        <p:nvSpPr>
          <p:cNvPr id="22" name="Text 20"/>
          <p:cNvSpPr/>
          <p:nvPr/>
        </p:nvSpPr>
        <p:spPr>
          <a:xfrm>
            <a:off x="1935412" y="5350470"/>
            <a:ext cx="2118267" cy="247650"/>
          </a:xfrm>
          <a:prstGeom prst="rect">
            <a:avLst/>
          </a:prstGeom>
          <a:noFill/>
          <a:ln/>
        </p:spPr>
        <p:txBody>
          <a:bodyPr wrap="none" lIns="0" tIns="0" rIns="0" bIns="0" rtlCol="0" anchor="t"/>
          <a:lstStyle/>
          <a:p>
            <a:pPr marL="0" indent="0" algn="ctr">
              <a:lnSpc>
                <a:spcPct val="125000"/>
              </a:lnSpc>
              <a:buNone/>
            </a:pPr>
            <a:r>
              <a:rPr lang="en-US" sz="1300" b="1" kern="100" spc="200" dirty="0">
                <a:solidFill>
                  <a:srgbClr val="FFFFFF"/>
                </a:solidFill>
                <a:latin typeface="Carlito Bold" pitchFamily="34" charset="0"/>
                <a:ea typeface="Carlito Bold" pitchFamily="34" charset="-122"/>
                <a:cs typeface="Carlito Bold" pitchFamily="34" charset="-120"/>
              </a:rPr>
              <a:t>EFICAZ</a:t>
            </a:r>
            <a:endParaRPr lang="en-US" sz="1300" dirty="0"/>
          </a:p>
        </p:txBody>
      </p:sp>
      <p:sp>
        <p:nvSpPr>
          <p:cNvPr id="23" name="Shape 21"/>
          <p:cNvSpPr/>
          <p:nvPr/>
        </p:nvSpPr>
        <p:spPr>
          <a:xfrm>
            <a:off x="3931742" y="5257800"/>
            <a:ext cx="1508683" cy="411460"/>
          </a:xfrm>
          <a:prstGeom prst="roundRect">
            <a:avLst>
              <a:gd name="adj" fmla="val 49999"/>
            </a:avLst>
          </a:prstGeom>
          <a:solidFill>
            <a:srgbClr val="FFFFFF">
              <a:alpha val="10000"/>
            </a:srgbClr>
          </a:solidFill>
          <a:ln w="12700">
            <a:solidFill>
              <a:srgbClr val="FFC72C"/>
            </a:solidFill>
            <a:prstDash val="solid"/>
          </a:ln>
        </p:spPr>
        <p:txBody>
          <a:bodyPr/>
          <a:lstStyle/>
          <a:p>
            <a:endParaRPr lang="es-CL"/>
          </a:p>
        </p:txBody>
      </p:sp>
      <p:sp>
        <p:nvSpPr>
          <p:cNvPr id="24" name="Text 22"/>
          <p:cNvSpPr/>
          <p:nvPr/>
        </p:nvSpPr>
        <p:spPr>
          <a:xfrm>
            <a:off x="3626950" y="5350470"/>
            <a:ext cx="2118267" cy="247650"/>
          </a:xfrm>
          <a:prstGeom prst="rect">
            <a:avLst/>
          </a:prstGeom>
          <a:noFill/>
          <a:ln/>
        </p:spPr>
        <p:txBody>
          <a:bodyPr wrap="none" lIns="0" tIns="0" rIns="0" bIns="0" rtlCol="0" anchor="t"/>
          <a:lstStyle/>
          <a:p>
            <a:pPr marL="0" indent="0" algn="ctr">
              <a:lnSpc>
                <a:spcPct val="125000"/>
              </a:lnSpc>
              <a:buNone/>
            </a:pPr>
            <a:r>
              <a:rPr lang="en-US" sz="1300" b="1" kern="100" spc="200" dirty="0">
                <a:solidFill>
                  <a:srgbClr val="FFFFFF"/>
                </a:solidFill>
                <a:latin typeface="Carlito Bold" pitchFamily="34" charset="0"/>
                <a:ea typeface="Carlito Bold" pitchFamily="34" charset="-122"/>
                <a:cs typeface="Carlito Bold" pitchFamily="34" charset="-120"/>
              </a:rPr>
              <a:t>EFICIENTE</a:t>
            </a:r>
            <a:endParaRPr lang="en-US" sz="1300" dirty="0"/>
          </a:p>
        </p:txBody>
      </p:sp>
      <p:sp>
        <p:nvSpPr>
          <p:cNvPr id="25" name="Text 23"/>
          <p:cNvSpPr/>
          <p:nvPr/>
        </p:nvSpPr>
        <p:spPr>
          <a:xfrm>
            <a:off x="6583495" y="5207908"/>
            <a:ext cx="5056458" cy="487660"/>
          </a:xfrm>
          <a:prstGeom prst="rect">
            <a:avLst/>
          </a:prstGeom>
          <a:noFill/>
          <a:ln/>
        </p:spPr>
        <p:txBody>
          <a:bodyPr wrap="none" lIns="0" tIns="0" rIns="0" bIns="0" rtlCol="0" anchor="t"/>
          <a:lstStyle/>
          <a:p>
            <a:pPr marL="0" indent="0" algn="r">
              <a:lnSpc>
                <a:spcPct val="100000"/>
              </a:lnSpc>
              <a:buNone/>
            </a:pPr>
            <a:r>
              <a:rPr lang="en-US" sz="3200" b="1" dirty="0">
                <a:solidFill>
                  <a:srgbClr val="FFFFFF"/>
                </a:solidFill>
                <a:latin typeface="Carlito Bold" pitchFamily="34" charset="0"/>
                <a:ea typeface="Carlito Bold" pitchFamily="34" charset="-122"/>
                <a:cs typeface="Carlito Bold" pitchFamily="34" charset="-120"/>
              </a:rPr>
              <a:t>Gracias. ¿Preguntas?</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3509</Words>
  <Application>Microsoft Office PowerPoint</Application>
  <PresentationFormat>Panorámica</PresentationFormat>
  <Paragraphs>426</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Carlito Bold</vt:lpstr>
      <vt:lpstr>Arial</vt:lpstr>
      <vt:lpstr>Aptos</vt:lpstr>
      <vt:lpstr>Carlito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IGNACIO JAVIER FUENZALIDA CHANDIA</cp:lastModifiedBy>
  <cp:revision>5</cp:revision>
  <dcterms:created xsi:type="dcterms:W3CDTF">2026-10-08T00:42:00Z</dcterms:created>
  <dcterms:modified xsi:type="dcterms:W3CDTF">2026-10-16T02:45:27Z</dcterms:modified>
</cp:coreProperties>
</file>