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arlito" panose="020B0604020202020204" charset="0"/>
      <p:regular r:id="rId22"/>
    </p:embeddedFont>
    <p:embeddedFont>
      <p:font typeface="Carlito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427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Actividades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5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99-4A19-998E-AEE9EEF3C19F}"/>
              </c:ext>
            </c:extLst>
          </c:dPt>
          <c:dPt>
            <c:idx val="1"/>
            <c:bubble3D val="0"/>
            <c:spPr>
              <a:solidFill>
                <a:srgbClr val="C27C0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99-4A19-998E-AEE9EEF3C19F}"/>
              </c:ext>
            </c:extLst>
          </c:dPt>
          <c:dPt>
            <c:idx val="2"/>
            <c:bubble3D val="0"/>
            <c:spPr>
              <a:solidFill>
                <a:srgbClr val="5B657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99-4A19-998E-AEE9EEF3C19F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8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99-4A19-998E-AEE9EEF3C19F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8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99-4A19-998E-AEE9EEF3C19F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8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99-4A19-998E-AEE9EEF3C19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Completado</c:v>
                </c:pt>
                <c:pt idx="1">
                  <c:v>En curso</c:v>
                </c:pt>
                <c:pt idx="2">
                  <c:v>No iniciado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99-4A19-998E-AEE9EEF3C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55"/>
                </a:solidFill>
                <a:latin typeface="+mn-lt"/>
              </a:defRPr>
            </a:pPr>
            <a:r>
              <a:rPr lang="es-ES" sz="1600" b="0" i="0" u="none" strike="noStrike">
                <a:solidFill>
                  <a:srgbClr val="0B2A55"/>
                </a:solidFill>
                <a:latin typeface="+mn-lt"/>
              </a:rPr>
              <a:t>Total estimado por escenario (millones de CLP)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estimado (millones de CLP)</c:v>
                </c:pt>
              </c:strCache>
            </c:strRef>
          </c:tx>
          <c:spPr>
            <a:solidFill>
              <a:srgbClr val="0B2A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6F1-4AD9-A4FC-BC0B3BA4981D}"/>
              </c:ext>
            </c:extLst>
          </c:dPt>
          <c:dPt>
            <c:idx val="1"/>
            <c:invertIfNegative val="0"/>
            <c:bubble3D val="0"/>
            <c:spPr>
              <a:solidFill>
                <a:srgbClr val="5B6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16F1-4AD9-A4FC-BC0B3BA4981D}"/>
              </c:ext>
            </c:extLst>
          </c:dPt>
          <c:dPt>
            <c:idx val="2"/>
            <c:invertIfNegative val="0"/>
            <c:bubble3D val="0"/>
            <c:spPr>
              <a:solidFill>
                <a:srgbClr val="5B6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16F1-4AD9-A4FC-BC0B3BA4981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Opción A (base)</c:v>
                </c:pt>
                <c:pt idx="1">
                  <c:v>A con planes pagados</c:v>
                </c:pt>
                <c:pt idx="2">
                  <c:v>Opción B producción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7.3</c:v>
                </c:pt>
                <c:pt idx="2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6F1-4AD9-A4FC-BC0B3BA498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6989E83-A684-A44B-7B8A-4B1D00A4B8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42B401-9FDA-8D19-61F2-4955916227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92F09-5C33-4A61-9DDE-17FA27B31F65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35EF3D-2DBB-0D92-6B8B-7602A7B2AA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6D8BF3-56EF-B260-D26E-E77EAE49D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F7E96-7B90-40C7-8BD2-859262FB3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034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43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avance de la Fase 2 del Proyecto APT. CuTuCo evoluciona desde un prototipo móvil hacia un marketplace web desacoplado. Estado al 4 de octubre de 2026 (semana 4 de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responde a dos problemas relacionados: la brecha tecnológica de los pequeños productores y la intermediación que reduce su margen. Una tienda propia no resuelve la logística de proximidad, la confianza ni la trazabilidad. CuTuCo integra todo en una plataforma con tres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general y cuatro objetivos específicos: migración de persistencia, construcción de la plataforma, integración de pago y entrega, y aseguramiento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eligió un enfoque tradicional porque la pauta académica exige entregables formales, trazabilidad y control de alcance, y porque el equipo es de dos personas. Las fases se solapan parcialmente. Al 4 de octubre estamos cerrando la fase 2 e iniciando la construcción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hitos de control. H01 está cerrado. H02 (análisis y diseño base) está en cierre: ERS, arquitectura y plan de calidad listos; modelo de datos y mockups en curso. El desarrollo termina en la semana 11 y las semanas 12 y 13 se reservan para documentación y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Planificación, ERS, arquitectura y plan de pruebas están completados. Modelo de datos, UX/UI, backend y Supabase están en curso. Frontend, pagos, integración y documentación están programados para semanas posteriores y por eso se informan como pendientes, no como atrasados.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del plan de trabajo con responsables y ventanas de tiempo. Las actividades no iniciadas están dentro de su ventana planificada: no hay retrasos. Solo informaremos un retraso cuando una tarea supere su ventana y afecte un hito.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separa presentación, API, persistencia y servicios externos. Las consultas simples y la autenticación van directo a Supabase; la lógica de negocio, los pagos y el bloqueo por intentos fallidos van en FastAPI. Para el MVP académico usamos la Opción A; la Opción B queda como proyección productiva.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se rediseña para el alcance final e incorpora la tabla payouts para liquidar a los vendedores. Las reglas de integridad protegen pagos, stock y datos sensibles. Está en curso; queda por decidir si se migra con ALTER TABLE o con rediseño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alcance final queda en 21 de los 26 requerimientos originales. Se descartaron cinco y se simplificaron otros para que el proyecto sea viable para un equipo de dos personas en 13 semanas. Cualquier función descartada solo vuelve con una decisión formal de cambio.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recorrido que valida el producto: invitado, compra con validación de región, pago con Webpay Plus Test, retención, entrega con código, payout manual y calificación. El fee base es de 5% más una tarifa fija de delivery de 3.500 CLP.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quince riesgos están clasificados por probabilidad e impacto: seis críticos, cinco altos y cuatro medios. Los más urgentes son control de alcance y cierre con errores críticos. Todos tienen respuesta de mitigación y se revisan semanalmente.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estrategia prueba primero unidades pequeñas, luego las conexiones y al final los flujos completos. Se priorizan los flujos que afectan dinero, seguridad y confianza. Las metas de calidad son medibles y se revisan cada semana desde la semana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presupuesto base es la Opción A, con niveles gratuitos y créditos de GCP: total estimado de 5.626.158 pesos, de los cuales el desembolso real con contingencia es de 338.870. El trabajo del equipo está valorizado a precio de mercado, pero no se paga. La Opción B es una proyección de producción y no está incluida.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evidencias que respaldan el avance. Los documentos de planificación y buena parte del diseño están entregados. Modelo de datos, mockups y la base técnica están en curso. Resultados de pruebas y capturas de interfaz se agregarán a medida que se completen los flujos.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principal facilitador es contar con un MVP funcional y una planificación ya documentada. La principal dificultad es que la evolución técnica es mayor que la de un CRUD tradicional y que somos solo dos personas con dependencias externas. Cada una tiene una respuesta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ajustes mantienen el proyecto viable para dos personas en 13 semanas. No se eliminó ninguna funcionalidad oficial validada: se simplificó la forma de implementarla. Cualquier función descartada solo vuelve con una decisión 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próximas etapas siguen el cronograma: construir frontend, integrar pago y entrega, ejecutar pruebas críticas y reservar las semanas 12 y 13 para documentación y entrega. Cierre con los tres principios del proyecto: simple, eficaz y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8">
    <p:bg>
      <p:bgPr>
        <a:solidFill>
          <a:srgbClr val="0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22" y="1311870"/>
            <a:ext cx="75587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kern="100" spc="300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CAPSTONE  ·  FASE 2  ·  AVANCE DEL PROYECTO APT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422" y="1895793"/>
            <a:ext cx="6949207" cy="109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CuTuCo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422" y="3106360"/>
            <a:ext cx="6709202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Cultiva Tu Compra: marketplace SaaS B2B2C de comercio de proximidad para la Agricultura Familiar Campesina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422" y="4570393"/>
            <a:ext cx="676635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Vicente Rivera  ·  Ignacio Fuenzalida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422" y="4969470"/>
            <a:ext cx="73759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Duoc UC Plaza Norte  ·  Ingeniería en Informática  ·  Octubre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061" y="1371600"/>
            <a:ext cx="3657509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8777961" y="2194520"/>
            <a:ext cx="2011610" cy="20116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144" y="2715716"/>
            <a:ext cx="969145" cy="9691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422" y="5760641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26630" y="585341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SIMPLE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23060" y="5760641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2118267" y="585341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EFICAZ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697" y="5760641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809905" y="585341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EFICIENTE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El proyecto: CuTuCo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62980"/>
            <a:ext cx="3502037" cy="429766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00" y="173732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36" y="1897360"/>
            <a:ext cx="319972" cy="319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799" y="1862089"/>
            <a:ext cx="219446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00" y="2683470"/>
            <a:ext cx="2914577" cy="3098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Brecha tecnológica: el pequeño productor no puede costear su propia tienda digital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intermediación comercial reduce su margen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Falta confianza y trazabilidad en la compra local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43291" y="1462980"/>
            <a:ext cx="3502037" cy="429766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4617525" y="173732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561" y="1897360"/>
            <a:ext cx="319972" cy="3199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524" y="1862089"/>
            <a:ext cx="219446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Propuesta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17525" y="2683470"/>
            <a:ext cx="2914577" cy="2549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web que reúne la oferta de productores y la compra en un solo lugar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Pago con Webpay Plus, retenido hasta la entrega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Venta de proximidad, restringida por región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37917" y="1462980"/>
            <a:ext cx="3502037" cy="429766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8412250" y="173732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286" y="1897360"/>
            <a:ext cx="319972" cy="3199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149" y="1862089"/>
            <a:ext cx="219446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Usuarios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12250" y="2683470"/>
            <a:ext cx="2914577" cy="2275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1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Cliente: </a:t>
            </a: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compra y sigue su pedido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1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Vendedor: </a:t>
            </a: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productor AFC que gestiona tienda, stock y entregas</a:t>
            </a:r>
            <a:endParaRPr lang="en-US" sz="18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1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Administrador: </a:t>
            </a:r>
            <a:r>
              <a:rPr lang="en-US" sz="18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aprueba, modera y gestiona pagos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48567" y="5929610"/>
            <a:ext cx="116431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Contexto: Chile  ·  Agricultura Familiar Campesina y pequeños productores locales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Objetivos del proyecto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11091387" cy="1280120"/>
          </a:xfrm>
          <a:prstGeom prst="roundRect">
            <a:avLst>
              <a:gd name="adj" fmla="val 10286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14377" y="1613595"/>
            <a:ext cx="42670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200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377" y="1921470"/>
            <a:ext cx="103027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Evolucionar CuTuCo de un prototipo móvil con datos locales a un marketplace web desacoplado, en 13 semanas.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567" y="3017441"/>
            <a:ext cx="2567022" cy="3063180"/>
          </a:xfrm>
          <a:prstGeom prst="roundRect">
            <a:avLst>
              <a:gd name="adj" fmla="val 51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22900" y="329178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36" y="3451820"/>
            <a:ext cx="319972" cy="3199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00" y="4100810"/>
            <a:ext cx="20184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Migrar los datos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00" y="4792325"/>
            <a:ext cx="1961307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 SQLite a PostgreSQL en Supabase, con un modelo rediseñado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90021" y="3017441"/>
            <a:ext cx="2567022" cy="3063180"/>
          </a:xfrm>
          <a:prstGeom prst="roundRect">
            <a:avLst>
              <a:gd name="adj" fmla="val 51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3664354" y="329178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291" y="3451820"/>
            <a:ext cx="319972" cy="3199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4354" y="4100810"/>
            <a:ext cx="19613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Construir la plataforma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64354" y="4792325"/>
            <a:ext cx="1961307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 Vue.js y API FastAPI para Cliente, Vendedor y Administrador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31476" y="3017441"/>
            <a:ext cx="2567022" cy="3063180"/>
          </a:xfrm>
          <a:prstGeom prst="roundRect">
            <a:avLst>
              <a:gd name="adj" fmla="val 51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6505710" y="329178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46" y="3451820"/>
            <a:ext cx="319972" cy="3199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5710" y="4100810"/>
            <a:ext cx="19613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Integrar pago y entrega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505710" y="4792325"/>
            <a:ext cx="1961307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Webpay Plus Test, pago retenido y entrega con código de verificación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072832" y="3017441"/>
            <a:ext cx="2567022" cy="3063180"/>
          </a:xfrm>
          <a:prstGeom prst="roundRect">
            <a:avLst>
              <a:gd name="adj" fmla="val 51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9347165" y="3291780"/>
            <a:ext cx="640044" cy="64006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7200" y="3451820"/>
            <a:ext cx="319972" cy="3199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7165" y="4100810"/>
            <a:ext cx="20184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Asegurar la calidad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9347165" y="4792325"/>
            <a:ext cx="1961307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Validaciones, pruebas por capas y documentación trazable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Metodología tradicional en 4 fases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691580"/>
            <a:ext cx="2880248" cy="914400"/>
          </a:xfrm>
          <a:custGeom>
            <a:avLst/>
            <a:gdLst/>
            <a:ahLst/>
            <a:cxnLst/>
            <a:rect l="l" t="t" r="r" b="b"/>
            <a:pathLst>
              <a:path w="2880248" h="914400">
                <a:moveTo>
                  <a:pt x="0" y="0"/>
                </a:moveTo>
                <a:lnTo>
                  <a:pt x="2423153" y="0"/>
                </a:lnTo>
                <a:lnTo>
                  <a:pt x="2880248" y="457200"/>
                </a:lnTo>
                <a:lnTo>
                  <a:pt x="2423153" y="914400"/>
                </a:lnTo>
                <a:lnTo>
                  <a:pt x="0" y="914400"/>
                </a:lnTo>
                <a:lnTo>
                  <a:pt x="457095" y="457200"/>
                </a:lnTo>
                <a:close/>
              </a:path>
            </a:pathLst>
          </a:custGeom>
          <a:solidFill>
            <a:srgbClr val="0B2A5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17" y="1672530"/>
            <a:ext cx="2918347" cy="95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494" y="2012950"/>
            <a:ext cx="26211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  Planificación inicial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783" y="2820591"/>
            <a:ext cx="30783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Semana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783" y="3186410"/>
            <a:ext cx="23201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Acta, EDT, hitos, Gantt, RACI, riesgos y plan de pruebas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698" y="1691580"/>
            <a:ext cx="2880248" cy="914400"/>
          </a:xfrm>
          <a:custGeom>
            <a:avLst/>
            <a:gdLst/>
            <a:ahLst/>
            <a:cxnLst/>
            <a:rect l="l" t="t" r="r" b="b"/>
            <a:pathLst>
              <a:path w="2880248" h="914400">
                <a:moveTo>
                  <a:pt x="0" y="0"/>
                </a:moveTo>
                <a:lnTo>
                  <a:pt x="2423153" y="0"/>
                </a:lnTo>
                <a:lnTo>
                  <a:pt x="2880248" y="457200"/>
                </a:lnTo>
                <a:lnTo>
                  <a:pt x="2423153" y="914400"/>
                </a:lnTo>
                <a:lnTo>
                  <a:pt x="0" y="914400"/>
                </a:lnTo>
                <a:lnTo>
                  <a:pt x="457095" y="457200"/>
                </a:lnTo>
                <a:close/>
              </a:path>
            </a:pathLst>
          </a:custGeom>
          <a:solidFill>
            <a:srgbClr val="FFC72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649" y="1672530"/>
            <a:ext cx="2918347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625" y="2012950"/>
            <a:ext cx="26211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  Análisis y diseño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28914" y="2820591"/>
            <a:ext cx="30783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Semanas 2–4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28914" y="3186410"/>
            <a:ext cx="232017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ERS, modelo de datos, arquitectura, mockups, calidad y costos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4829" y="1691580"/>
            <a:ext cx="2880248" cy="914400"/>
          </a:xfrm>
          <a:custGeom>
            <a:avLst/>
            <a:gdLst/>
            <a:ahLst/>
            <a:cxnLst/>
            <a:rect l="l" t="t" r="r" b="b"/>
            <a:pathLst>
              <a:path w="2880248" h="914400">
                <a:moveTo>
                  <a:pt x="0" y="0"/>
                </a:moveTo>
                <a:lnTo>
                  <a:pt x="2423153" y="0"/>
                </a:lnTo>
                <a:lnTo>
                  <a:pt x="2880248" y="457200"/>
                </a:lnTo>
                <a:lnTo>
                  <a:pt x="2423153" y="914400"/>
                </a:lnTo>
                <a:lnTo>
                  <a:pt x="0" y="914400"/>
                </a:lnTo>
                <a:lnTo>
                  <a:pt x="457095" y="457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780" y="1672530"/>
            <a:ext cx="2918347" cy="952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757" y="2012950"/>
            <a:ext cx="26211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  Construcción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172046" y="2820591"/>
            <a:ext cx="30783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Semanas 4–10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172046" y="3188025"/>
            <a:ext cx="23201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Backend, frontend, pagos, entrega, panel admin y pruebas unitarias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777961" y="1691580"/>
            <a:ext cx="2880248" cy="914400"/>
          </a:xfrm>
          <a:custGeom>
            <a:avLst/>
            <a:gdLst/>
            <a:ahLst/>
            <a:cxnLst/>
            <a:rect l="l" t="t" r="r" b="b"/>
            <a:pathLst>
              <a:path w="2880248" h="914400">
                <a:moveTo>
                  <a:pt x="0" y="0"/>
                </a:moveTo>
                <a:lnTo>
                  <a:pt x="2423153" y="0"/>
                </a:lnTo>
                <a:lnTo>
                  <a:pt x="2880248" y="457200"/>
                </a:lnTo>
                <a:lnTo>
                  <a:pt x="2423153" y="914400"/>
                </a:lnTo>
                <a:lnTo>
                  <a:pt x="0" y="914400"/>
                </a:lnTo>
                <a:lnTo>
                  <a:pt x="457095" y="457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911" y="1672530"/>
            <a:ext cx="2918347" cy="952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80888" y="1891010"/>
            <a:ext cx="195446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  Implementación y cierre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915177" y="2820591"/>
            <a:ext cx="30783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Semanas 9–13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915177" y="3186410"/>
            <a:ext cx="23201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Pruebas de integración y E2E, despliegue, manuales y entrega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931742" y="1280120"/>
            <a:ext cx="1737277" cy="310852"/>
          </a:xfrm>
          <a:prstGeom prst="roundRect">
            <a:avLst>
              <a:gd name="adj" fmla="val 49999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18"/>
          <p:cNvSpPr/>
          <p:nvPr/>
        </p:nvSpPr>
        <p:spPr>
          <a:xfrm>
            <a:off x="3626950" y="1330127"/>
            <a:ext cx="23468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Hoy: semana 4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567" y="4480520"/>
            <a:ext cx="11091387" cy="1600200"/>
          </a:xfrm>
          <a:prstGeom prst="roundRect">
            <a:avLst>
              <a:gd name="adj" fmla="val 822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0"/>
          <p:cNvSpPr/>
          <p:nvPr/>
        </p:nvSpPr>
        <p:spPr>
          <a:xfrm>
            <a:off x="868638" y="48462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755" y="4983460"/>
            <a:ext cx="274234" cy="27424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160" y="4740870"/>
            <a:ext cx="32612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Revisión semanal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600160" y="5088334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Alcance, avances, bloqueos y riesgos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480408" y="48462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525" y="4983460"/>
            <a:ext cx="274234" cy="27424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1930" y="4740870"/>
            <a:ext cx="32612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Control de cambios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5211930" y="5088334"/>
            <a:ext cx="25945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Todo requerimiento nuevo se evalúa antes de entrar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92178" y="48462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394" y="4983460"/>
            <a:ext cx="274234" cy="27424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23700" y="4740870"/>
            <a:ext cx="32612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Trazabilidad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8823700" y="5088334"/>
            <a:ext cx="25945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Requisito → tarea → prueba, con control de versiones Git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Cronograma e hitos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088" y="3729930"/>
            <a:ext cx="9364428" cy="381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907730" y="3246041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228297" y="2101532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3505" y="2365006"/>
            <a:ext cx="19811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Planificación inicial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3505" y="2584331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17/09 · S1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67736" y="3602732"/>
            <a:ext cx="292589" cy="292596"/>
          </a:xfrm>
          <a:prstGeom prst="ellipse">
            <a:avLst/>
          </a:prstGeom>
          <a:solidFill>
            <a:srgbClr val="2E7D5B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386946" y="3895130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707513" y="4250313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07513" y="4513786"/>
            <a:ext cx="13715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Análisis y diseño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02720" y="4946432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01/10 · S3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7051" y="3602732"/>
            <a:ext cx="292589" cy="292596"/>
          </a:xfrm>
          <a:prstGeom prst="ellipse">
            <a:avLst/>
          </a:prstGeom>
          <a:solidFill>
            <a:srgbClr val="C27C0E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085133" y="3246041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5700" y="2101532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5700" y="2365006"/>
            <a:ext cx="13715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Construcción funcional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0908" y="2797651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05/11 · S8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5139" y="3602732"/>
            <a:ext cx="292589" cy="292596"/>
          </a:xfrm>
          <a:prstGeom prst="ellipse">
            <a:avLst/>
          </a:prstGeom>
          <a:solidFill>
            <a:srgbClr val="5B6577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564348" y="3895130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884915" y="4250313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84915" y="4513786"/>
            <a:ext cx="13715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Integración y pruebas críticas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0123" y="4946432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19/11 · S10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24453" y="3602732"/>
            <a:ext cx="292589" cy="292596"/>
          </a:xfrm>
          <a:prstGeom prst="ellipse">
            <a:avLst/>
          </a:prstGeom>
          <a:solidFill>
            <a:srgbClr val="5B6577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9304006" y="3246041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8624573" y="2101532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24573" y="2365006"/>
            <a:ext cx="13715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Cierre del desarrollo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19780" y="2797651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26/11 · S11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64011" y="3602732"/>
            <a:ext cx="292589" cy="292596"/>
          </a:xfrm>
          <a:prstGeom prst="ellipse">
            <a:avLst/>
          </a:prstGeom>
          <a:solidFill>
            <a:srgbClr val="5B6577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10043663" y="3895130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364230" y="4250313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64230" y="4513786"/>
            <a:ext cx="13715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Documentación técnica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59437" y="4946432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03/12 · S12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03669" y="3602732"/>
            <a:ext cx="292589" cy="292596"/>
          </a:xfrm>
          <a:prstGeom prst="ellipse">
            <a:avLst/>
          </a:prstGeom>
          <a:solidFill>
            <a:srgbClr val="5B6577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10783221" y="3246041"/>
            <a:ext cx="12700" cy="356691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10103788" y="2375773"/>
            <a:ext cx="137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98995" y="2639246"/>
            <a:ext cx="19811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Entrega final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98995" y="2858572"/>
            <a:ext cx="19811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10/12 · S13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643326" y="3602732"/>
            <a:ext cx="292589" cy="292596"/>
          </a:xfrm>
          <a:prstGeom prst="ellipse">
            <a:avLst/>
          </a:prstGeom>
          <a:solidFill>
            <a:srgbClr val="5B6577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3697592" y="3154660"/>
            <a:ext cx="25399" cy="594320"/>
          </a:xfrm>
          <a:prstGeom prst="rect">
            <a:avLst/>
          </a:prstGeom>
          <a:solidFill>
            <a:srgbClr val="FFC72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3070247" y="2816324"/>
            <a:ext cx="1280088" cy="338237"/>
          </a:xfrm>
          <a:prstGeom prst="roundRect">
            <a:avLst>
              <a:gd name="adj" fmla="val 49999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2765455" y="2872482"/>
            <a:ext cx="188967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Hoy · 4 oct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567" y="5577780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822900" y="5556250"/>
            <a:ext cx="19811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Completado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85943" y="5577780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2560177" y="5556250"/>
            <a:ext cx="19811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cierre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023220" y="5577780"/>
            <a:ext cx="182856" cy="182860"/>
          </a:xfrm>
          <a:prstGeom prst="ellipse">
            <a:avLst/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4297553" y="5556250"/>
            <a:ext cx="19811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59534" y="5556250"/>
            <a:ext cx="65804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 1 = 11/09/2026  ·  Desarrollo hasta S11  ·  Entrega en S13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Resumen de avance al 4 de octubre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00923" y="1403350"/>
            <a:ext cx="54328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Estado de las 13 actividades del plan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851974" y="1462980"/>
            <a:ext cx="5787979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126307" y="1848404"/>
            <a:ext cx="2102988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 de 13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75034" y="1814810"/>
            <a:ext cx="305169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actividades completadas: alcance, planificación, ERS, arquitectura y plan de pruebas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1974" y="3017441"/>
            <a:ext cx="5787979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126307" y="3402865"/>
            <a:ext cx="2102988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136 h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75034" y="3475930"/>
            <a:ext cx="30516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registradas de 520 h planificadas para el equipo de dos personas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1974" y="4572000"/>
            <a:ext cx="5787979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126307" y="4957325"/>
            <a:ext cx="2102988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0 %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275034" y="5030391"/>
            <a:ext cx="30516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 desviación de costo al corte: semáforo verde y sin hitos críticos retrasados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17" name="Chart 0">
            <a:extLst>
              <a:ext uri="{FF2B5EF4-FFF2-40B4-BE49-F238E27FC236}">
                <a16:creationId xmlns:a16="http://schemas.microsoft.com/office/drawing/2014/main" id="{CAE29A60-E428-8C97-E7DD-D970D6BE28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874855"/>
              </p:ext>
            </p:extLst>
          </p:nvPr>
        </p:nvGraphicFramePr>
        <p:xfrm>
          <a:off x="548640" y="1371600"/>
          <a:ext cx="49377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Plan de trabajo: estado por actividad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3514240" cy="457200"/>
          </a:xfrm>
          <a:prstGeom prst="roundRect">
            <a:avLst>
              <a:gd name="adj" fmla="val 28799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77161" y="1510010"/>
            <a:ext cx="36666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Completado ·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567" y="2011660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161" y="2131814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Inicio y alcance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161" y="2398514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S1 · VR + IF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567" y="2816324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161" y="2936478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Planificación formal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161" y="3203178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S1–2 · VR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567" y="3620988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77161" y="3741142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ERS y criterios de aceptación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161" y="4007842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S2–3 · VR + IF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567" y="4425652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77161" y="4545806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Arquitectura y despliegue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161" y="4812506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S2–4 · VR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567" y="5230316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777161" y="5350470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Plan de pruebas y calidad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161" y="5617170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S4 · VR + IF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7140" y="1417241"/>
            <a:ext cx="3514240" cy="457200"/>
          </a:xfrm>
          <a:prstGeom prst="roundRect">
            <a:avLst>
              <a:gd name="adj" fmla="val 28799"/>
            </a:avLst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565734" y="1510010"/>
            <a:ext cx="36666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 curso · 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7140" y="2011660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565734" y="2131814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Modelo de datos y migración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5734" y="2398514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S2–6 · VR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7140" y="2816324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65734" y="2936478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UX/UI y mockups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5734" y="3203178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S3–4 · IF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7140" y="3620988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565734" y="3741142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Backend, API y autenticación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65734" y="4007842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S4–6 · VR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37140" y="4425652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565734" y="4545806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Supabase, Storage e infraestructura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65734" y="4812506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S4–6 · VR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5713" y="1417241"/>
            <a:ext cx="3514240" cy="457200"/>
          </a:xfrm>
          <a:prstGeom prst="roundRect">
            <a:avLst>
              <a:gd name="adj" fmla="val 28799"/>
            </a:avLst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8354307" y="1510010"/>
            <a:ext cx="36666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No iniciado · 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5713" y="2011660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8354307" y="2131814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Frontend Vue.js y módulos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54307" y="2398514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S5–8 · IF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25713" y="2816324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8354307" y="2936478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Pagos y reglas de negocio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54307" y="3203178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S7–9 · VR + IF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25713" y="3620988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8354307" y="3741142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Integración y pruebas críticas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54307" y="4007842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S9–11 · VR + IF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25713" y="4425652"/>
            <a:ext cx="3514240" cy="694928"/>
          </a:xfrm>
          <a:prstGeom prst="roundRect">
            <a:avLst>
              <a:gd name="adj" fmla="val 1894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8354307" y="4545806"/>
            <a:ext cx="36666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Documentación y cierre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54307" y="4812506"/>
            <a:ext cx="36666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S12–13 · VR + IF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567" y="6039346"/>
            <a:ext cx="116431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VR: Vicente Rivera  ·  IF: Ignacio Fuenzalida  ·  S: semana del proyecto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Arquitectura objetivo desacoplada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62980"/>
            <a:ext cx="1737277" cy="3840460"/>
          </a:xfrm>
          <a:prstGeom prst="roundRect">
            <a:avLst>
              <a:gd name="adj" fmla="val 757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77161" y="2558733"/>
            <a:ext cx="12229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Usuarios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161" y="2822206"/>
            <a:ext cx="1222940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Visitante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Cliente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Vendedor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510" y="1462980"/>
            <a:ext cx="2102988" cy="3840460"/>
          </a:xfrm>
          <a:prstGeom prst="roundRect">
            <a:avLst>
              <a:gd name="adj" fmla="val 62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063104" y="2832973"/>
            <a:ext cx="158865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63104" y="3096446"/>
            <a:ext cx="158865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Vue.js + Vite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Desplegado en Vercel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567" y="5486400"/>
            <a:ext cx="5394785" cy="731441"/>
          </a:xfrm>
          <a:prstGeom prst="roundRect">
            <a:avLst>
              <a:gd name="adj" fmla="val 1800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77161" y="5731470"/>
            <a:ext cx="554718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Antes: </a:t>
            </a: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Ionic 8 + Angular 18 con SQLite local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118" y="1462980"/>
            <a:ext cx="3108843" cy="1828800"/>
          </a:xfrm>
          <a:prstGeom prst="roundRect">
            <a:avLst>
              <a:gd name="adj" fmla="val 72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897713" y="1964313"/>
            <a:ext cx="259450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97713" y="2227786"/>
            <a:ext cx="259450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(GoTrue), PostgREST + RLS, PostgreSQL y Storage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10840" y="3367980"/>
            <a:ext cx="25399" cy="3046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 rot="16200000">
            <a:off x="7185441" y="329178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 rot="5400000">
            <a:off x="7185441" y="3398441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669118" y="3474641"/>
            <a:ext cx="3108843" cy="1828800"/>
          </a:xfrm>
          <a:prstGeom prst="roundRect">
            <a:avLst>
              <a:gd name="adj" fmla="val 72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897713" y="3838853"/>
            <a:ext cx="259450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FastAPI + Docker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97713" y="4102326"/>
            <a:ext cx="259450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Run: reglas de negocio, pagos y bloqueo tras 5 intentos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627" y="1462980"/>
            <a:ext cx="2313327" cy="1828800"/>
          </a:xfrm>
          <a:prstGeom prst="roundRect">
            <a:avLst>
              <a:gd name="adj" fmla="val 7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555221" y="1964313"/>
            <a:ext cx="17989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Resend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55221" y="2227786"/>
            <a:ext cx="1798989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Correos de Auth y de negocio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6627" y="3474641"/>
            <a:ext cx="2313327" cy="1828800"/>
          </a:xfrm>
          <a:prstGeom prst="roundRect">
            <a:avLst>
              <a:gd name="adj" fmla="val 7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9555221" y="3838853"/>
            <a:ext cx="17989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Webpay Plus Test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5221" y="4102326"/>
            <a:ext cx="1798989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Transbank, ambiente de pruebas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62141" y="3370560"/>
            <a:ext cx="396171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 rot="10800000">
            <a:off x="2285943" y="334516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758311" y="334516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013795" y="2364680"/>
            <a:ext cx="579026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rot="10800000">
            <a:off x="4937597" y="233928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5592920" y="233928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5013795" y="4376341"/>
            <a:ext cx="579026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 rot="10800000">
            <a:off x="4937597" y="4350941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5592920" y="4350941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777961" y="2364680"/>
            <a:ext cx="472369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9250429" y="2339280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8854159" y="4376341"/>
            <a:ext cx="396171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 rot="10800000">
            <a:off x="8777961" y="4350941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9250429" y="4350941"/>
            <a:ext cx="76198" cy="76200"/>
          </a:xfrm>
          <a:custGeom>
            <a:avLst/>
            <a:gdLst/>
            <a:ahLst/>
            <a:cxnLst/>
            <a:rect l="l" t="t" r="r" b="b"/>
            <a:pathLst>
              <a:path w="76198" h="76200">
                <a:moveTo>
                  <a:pt x="76198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6217685" y="5486400"/>
            <a:ext cx="5422169" cy="731441"/>
          </a:xfrm>
          <a:prstGeom prst="roundRect">
            <a:avLst>
              <a:gd name="adj" fmla="val 1800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6446279" y="5624810"/>
            <a:ext cx="49261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Opción A (MVP): </a:t>
            </a: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Run sin redundancia. </a:t>
            </a:r>
            <a:r>
              <a:rPr lang="en-US" sz="1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Opción B: </a:t>
            </a: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alta disponibilidad (proyección)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Modelo de datos en PostgreSQL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7040684" cy="1005780"/>
          </a:xfrm>
          <a:prstGeom prst="roundRect">
            <a:avLst>
              <a:gd name="adj" fmla="val 13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00" y="1784350"/>
            <a:ext cx="2164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Actores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8798" y="1664196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164006" y="1807170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697" y="1664196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09905" y="1807170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567" y="2605980"/>
            <a:ext cx="7040684" cy="1005780"/>
          </a:xfrm>
          <a:prstGeom prst="roundRect">
            <a:avLst>
              <a:gd name="adj" fmla="val 13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00" y="2972991"/>
            <a:ext cx="2164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Catálogo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798" y="2852837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164006" y="2995910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567" y="3794720"/>
            <a:ext cx="7040684" cy="1005780"/>
          </a:xfrm>
          <a:prstGeom prst="roundRect">
            <a:avLst>
              <a:gd name="adj" fmla="val 13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22900" y="4161730"/>
            <a:ext cx="2164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Compra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798" y="4041577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2164006" y="4184650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orders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697" y="4041577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809905" y="4184650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567" y="4983460"/>
            <a:ext cx="7040684" cy="1005780"/>
          </a:xfrm>
          <a:prstGeom prst="roundRect">
            <a:avLst>
              <a:gd name="adj" fmla="val 13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22900" y="5350470"/>
            <a:ext cx="2164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Pago y entrega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68798" y="5230316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164006" y="5373291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697" y="5230316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809905" y="5373291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payouts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497" y="5230316"/>
            <a:ext cx="1536066" cy="511969"/>
          </a:xfrm>
          <a:prstGeom prst="roundRect">
            <a:avLst>
              <a:gd name="adj" fmla="val 25718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455704" y="5373291"/>
            <a:ext cx="214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delivery_tracking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584" y="1403350"/>
            <a:ext cx="37763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Reglas de integridad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863584" y="1906191"/>
            <a:ext cx="3725571" cy="197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buy_order y token_ws únicos: sin pagos duplicados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Eliminación lógica, sin DELETE físico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RLS: cada rol ve solo lo suyo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 validado con SELECT FOR UPDATE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Datos bancarios cifrados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63584" y="4937720"/>
            <a:ext cx="3776370" cy="1143000"/>
          </a:xfrm>
          <a:prstGeom prst="roundRect">
            <a:avLst>
              <a:gd name="adj" fmla="val 1152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092178" y="5138837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412250" y="5022830"/>
            <a:ext cx="3005955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 curso · semanas 2–6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Pendiente decidir: ALTER TABLE o rediseño completo antes de migrar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84283" y="6445845"/>
            <a:ext cx="673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Alcance: 21 requerimientos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00" y="162401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00" y="227201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Acceso y cuentas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00" y="2645350"/>
            <a:ext cx="1771606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multirrol, registro de Cliente y Vendedor, recuperar y cambiar contraseña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581" y="1417241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428914" y="162401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8914" y="227201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Catálogo y compra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8914" y="2645350"/>
            <a:ext cx="177160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Navegación sin cuenta, carrito, checkout y venta por región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497" y="1417241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034829" y="162401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34829" y="227201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Tienda del Vendedor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4829" y="2637730"/>
            <a:ext cx="17716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Productos, stock y pedidos recibidos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567" y="3840460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22900" y="404713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00" y="469513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Pago en custodia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00" y="5068570"/>
            <a:ext cx="177160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Webpay Plus Test, retención de la venta, payout manual y tarifas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54581" y="3840460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428914" y="404713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28914" y="469513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Entrega y confianza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8914" y="5068570"/>
            <a:ext cx="177160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Estados con código, calificación 1 a 5 y sanciones manuales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497" y="3840460"/>
            <a:ext cx="2377321" cy="219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034829" y="4047133"/>
            <a:ext cx="109723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034829" y="469513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Administración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4829" y="5068570"/>
            <a:ext cx="177160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Usuarios, moderación, dashboard, correos y validaciones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250" y="1417241"/>
            <a:ext cx="3227704" cy="4617641"/>
          </a:xfrm>
          <a:prstGeom prst="roundRect">
            <a:avLst>
              <a:gd name="adj" fmla="val 4079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8686583" y="1631950"/>
            <a:ext cx="33527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200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FUERA DEL MVP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583" y="1951931"/>
            <a:ext cx="26859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 requerimientos descartados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583" y="2820591"/>
            <a:ext cx="2698682" cy="137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Historial de precios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Alertas de stock bajo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Múltiples administradores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Retención de carnet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 propio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583" y="4923730"/>
            <a:ext cx="2685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También simplificados: GPS, fotos obligatorias y reputación algorítmica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Flujo crítico de negocio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751961" y="2136080"/>
            <a:ext cx="8684400" cy="25400"/>
          </a:xfrm>
          <a:prstGeom prst="rect">
            <a:avLst/>
          </a:prstGeom>
          <a:solidFill>
            <a:srgbClr val="5B657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29359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34" y="1943100"/>
            <a:ext cx="411450" cy="41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9513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1. Explorar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6897" y="3140670"/>
            <a:ext cx="204782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Catálogo sin cuenta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13843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617" y="1943100"/>
            <a:ext cx="411450" cy="41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3997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2. Comprar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206272" y="3140670"/>
            <a:ext cx="143823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Login, carrito y región validada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098227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002" y="1943100"/>
            <a:ext cx="411450" cy="41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8481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3. Pagar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90657" y="3140670"/>
            <a:ext cx="143823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Webpay Plus Test, sin duplicados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682810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585" y="1943100"/>
            <a:ext cx="411450" cy="41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42964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4. Retener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375240" y="3140670"/>
            <a:ext cx="143823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retiene la venta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267393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3069" y="1943100"/>
            <a:ext cx="411450" cy="41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7448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5. Entregar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959624" y="3148290"/>
            <a:ext cx="143823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Preparación, En tránsito, Entregado con código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851778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7453" y="1943100"/>
            <a:ext cx="411450" cy="4114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11932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6. Liquidar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544207" y="3140670"/>
            <a:ext cx="143823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Payout manual: venta menos 5% y $3.500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0436262" y="1737320"/>
            <a:ext cx="822900" cy="82292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2036" y="1943100"/>
            <a:ext cx="411450" cy="4114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796317" y="2729210"/>
            <a:ext cx="21025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7. Calificar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0128592" y="3140670"/>
            <a:ext cx="143823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Nota de 1 a 5 y sanciones manuales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48567" y="4846241"/>
            <a:ext cx="11091387" cy="1188641"/>
          </a:xfrm>
          <a:prstGeom prst="roundRect">
            <a:avLst>
              <a:gd name="adj" fmla="val 11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24"/>
          <p:cNvSpPr/>
          <p:nvPr/>
        </p:nvSpPr>
        <p:spPr>
          <a:xfrm>
            <a:off x="868638" y="5120580"/>
            <a:ext cx="640044" cy="6400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674" y="5280620"/>
            <a:ext cx="319972" cy="3199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737277" y="5027593"/>
            <a:ext cx="957119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 verificará de punta a punta con pruebas E2E</a:t>
            </a:r>
            <a:endParaRPr lang="en-US" sz="1800" dirty="0"/>
          </a:p>
        </p:txBody>
      </p:sp>
      <p:sp>
        <p:nvSpPr>
          <p:cNvPr id="36" name="Text 26"/>
          <p:cNvSpPr/>
          <p:nvPr/>
        </p:nvSpPr>
        <p:spPr>
          <a:xfrm>
            <a:off x="1737277" y="5289451"/>
            <a:ext cx="101807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Cypress, semanas 9 a 11. Si un servicio externo bloquea una prueba, se usan mocks y la validación real queda pendiente.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Gestión de riesgos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2468798" cy="1325860"/>
          </a:xfrm>
          <a:prstGeom prst="roundRect">
            <a:avLst>
              <a:gd name="adj" fmla="val 993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00" y="1512954"/>
            <a:ext cx="192013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00" y="2272010"/>
            <a:ext cx="26211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Críticos (15 a 25)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567" y="2880320"/>
            <a:ext cx="2468798" cy="1325860"/>
          </a:xfrm>
          <a:prstGeom prst="roundRect">
            <a:avLst>
              <a:gd name="adj" fmla="val 9931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22900" y="2976033"/>
            <a:ext cx="192013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00" y="3734991"/>
            <a:ext cx="26211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Altos (10 a 14)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567" y="4343400"/>
            <a:ext cx="2468798" cy="1325860"/>
          </a:xfrm>
          <a:prstGeom prst="roundRect">
            <a:avLst>
              <a:gd name="adj" fmla="val 993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00" y="4439014"/>
            <a:ext cx="192013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00" y="5198070"/>
            <a:ext cx="26211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Medios (5 a 9)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698" y="1417241"/>
          <a:ext cx="8348255" cy="4297477"/>
        </p:xfrm>
        <a:graphic>
          <a:graphicData uri="http://schemas.openxmlformats.org/drawingml/2006/table">
            <a:tbl>
              <a:tblPr/>
              <a:tblGrid>
                <a:gridCol w="2834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Riesgo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Nivel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Mitigación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Ampliación del alcance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Alcance congelado; cambios solo por decisión formal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Errores críticos al cierre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Semanas 9 a 11 reservadas para integrar y corregir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Equipo de solo dos personas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16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Roles por especialidad (RACI) y revisión semanal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Migración SQLite a PostgreSQL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Scripts DDL y validación con datos de prueba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Integración con Webpay Plus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Identificadores únicos y mocks si hay bloqueo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6148" marB="21614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Accesos y políticas RLS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20974" marB="220974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20974" marB="220974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Prueba de cada policy por rol y bloqueo tras 5 intentos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20974" marB="220974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3291698" y="5929610"/>
            <a:ext cx="88999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Matriz de 15 riesgos (probabilidad × impacto). Se muestran los 6 de mayor nivel; todos con respuesta de mitigación.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Calidad y estrategia de pruebas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2331582" cy="2286000"/>
          </a:xfrm>
          <a:prstGeom prst="roundRect">
            <a:avLst>
              <a:gd name="adj" fmla="val 5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77161" y="1651952"/>
            <a:ext cx="192013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21/21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161" y="2506325"/>
            <a:ext cx="186298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requerimientos verificados contra su criterio de aceptación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104" y="1417241"/>
            <a:ext cx="2331582" cy="2286000"/>
          </a:xfrm>
          <a:prstGeom prst="roundRect">
            <a:avLst>
              <a:gd name="adj" fmla="val 5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291698" y="1651952"/>
            <a:ext cx="192013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100 %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698" y="2500610"/>
            <a:ext cx="1862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 los casos de prueba críticos aprobados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567" y="3886200"/>
            <a:ext cx="2331582" cy="2286000"/>
          </a:xfrm>
          <a:prstGeom prst="roundRect">
            <a:avLst>
              <a:gd name="adj" fmla="val 5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77161" y="4120813"/>
            <a:ext cx="192013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≥ 80 %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77161" y="4975185"/>
            <a:ext cx="186298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 cobertura de pruebas unitarias del 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104" y="3886200"/>
            <a:ext cx="2331582" cy="2286000"/>
          </a:xfrm>
          <a:prstGeom prst="roundRect">
            <a:avLst>
              <a:gd name="adj" fmla="val 5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291698" y="4120813"/>
            <a:ext cx="192013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698" y="4969470"/>
            <a:ext cx="18629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defectos críticos o altos abiertos al cierre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1974" y="1417241"/>
          <a:ext cx="5787979" cy="4297479"/>
        </p:xfrm>
        <a:graphic>
          <a:graphicData uri="http://schemas.openxmlformats.org/drawingml/2006/table">
            <a:tbl>
              <a:tblPr/>
              <a:tblGrid>
                <a:gridCol w="2285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Nivel de prueba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Herramienta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Semanas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117218" marB="11721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Unitarias backend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Pytest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6–10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Integración API y BD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Pytest, Postman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8–10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Pasarela de pago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Transbank SDK Test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7–10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Frontend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Vitest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7–10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Extremo a extremo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Cypress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9–11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08528" marB="208528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2A5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Seguridad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3355" marB="213355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OWASP ZAP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0200" marT="213355" marB="213355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9–11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9725" marR="109725" marT="213355" marB="213355" anchor="ctr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851974" y="5838130"/>
            <a:ext cx="63397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Prioridad: login y permisos, checkout, pago, código de entrega, región e idempotencia.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Presupuesto y control de costos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4571886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00" y="1572558"/>
            <a:ext cx="40232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$5.626.158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00" y="2180530"/>
            <a:ext cx="46328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estimado, Opción A (escenario base)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567" y="2971800"/>
            <a:ext cx="4571886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22900" y="3127018"/>
            <a:ext cx="40232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$338.870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00" y="3734991"/>
            <a:ext cx="39660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Desembolso en efectivo con contingencia: lo que realmente se paga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567" y="4526260"/>
            <a:ext cx="4571886" cy="13716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00" y="4681478"/>
            <a:ext cx="40232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520 h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00" y="5289550"/>
            <a:ext cx="39660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Trabajo del equipo, valorizado en $4.806.625 como referencia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94785" y="5486400"/>
            <a:ext cx="6245168" cy="685800"/>
          </a:xfrm>
          <a:prstGeom prst="roundRect">
            <a:avLst>
              <a:gd name="adj" fmla="val 19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623380" y="5617170"/>
            <a:ext cx="57490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 corte (S4): gasto real $81.143, desviación 0 % (verde). Opción B productiva: USD 100 a 120 al mes, fuera del presupuesto.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9" name="Chart 0">
            <a:extLst>
              <a:ext uri="{FF2B5EF4-FFF2-40B4-BE49-F238E27FC236}">
                <a16:creationId xmlns:a16="http://schemas.microsoft.com/office/drawing/2014/main" id="{A5C530FE-A116-267C-57A0-8FC31B7866C2}"/>
              </a:ext>
            </a:extLst>
          </p:cNvPr>
          <p:cNvGraphicFramePr/>
          <p:nvPr/>
        </p:nvGraphicFramePr>
        <p:xfrm>
          <a:off x="5394960" y="1371600"/>
          <a:ext cx="6245352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Evidencias de avance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3502037" cy="397758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00" y="16458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17" y="1783060"/>
            <a:ext cx="274234" cy="2742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21" y="1753791"/>
            <a:ext cx="22859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Planificación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38" y="2624237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234350" y="2599630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Acta de Constitución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38" y="3191173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234350" y="3166566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EDT, hitos y diccionario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38" y="3758109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1234350" y="3733502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Carta Gantt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38" y="4325045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1234350" y="4300438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Matriz RACI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38" y="4891980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1234350" y="4867374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Matriz de riesgos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43291" y="1417241"/>
            <a:ext cx="3502037" cy="397758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4617525" y="16458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741" y="1783060"/>
            <a:ext cx="274234" cy="27424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047" y="1753791"/>
            <a:ext cx="22859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Análisis y diseño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663264" y="2624237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8"/>
          <p:cNvSpPr/>
          <p:nvPr/>
        </p:nvSpPr>
        <p:spPr>
          <a:xfrm>
            <a:off x="5029074" y="2599630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ERS y criterios de aceptación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663264" y="3191173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5029074" y="3166566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Arquitectura de la solución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663264" y="3758109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5029074" y="3733502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de calidad y costos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663264" y="4325045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5029074" y="4300438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 de datos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663264" y="4891980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/>
          <p:nvPr/>
        </p:nvSpPr>
        <p:spPr>
          <a:xfrm>
            <a:off x="5029074" y="4867374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Mockups de interfaz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137917" y="1417241"/>
            <a:ext cx="3502037" cy="3977580"/>
          </a:xfrm>
          <a:prstGeom prst="roundRect">
            <a:avLst>
              <a:gd name="adj" fmla="val 376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8"/>
          <p:cNvSpPr/>
          <p:nvPr/>
        </p:nvSpPr>
        <p:spPr>
          <a:xfrm>
            <a:off x="8412250" y="1645841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367" y="1783060"/>
            <a:ext cx="274234" cy="27424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43771" y="1753791"/>
            <a:ext cx="22859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Pruebas y código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8457988" y="2624237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1"/>
          <p:cNvSpPr/>
          <p:nvPr/>
        </p:nvSpPr>
        <p:spPr>
          <a:xfrm>
            <a:off x="8823700" y="2599630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de pruebas y matriz de casos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8457988" y="3191173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3"/>
          <p:cNvSpPr/>
          <p:nvPr/>
        </p:nvSpPr>
        <p:spPr>
          <a:xfrm>
            <a:off x="8823700" y="3166566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Repositorio Git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8457988" y="3758109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5"/>
          <p:cNvSpPr/>
          <p:nvPr/>
        </p:nvSpPr>
        <p:spPr>
          <a:xfrm>
            <a:off x="8823700" y="3733502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Scripts de base de datos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8457988" y="4325045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7"/>
          <p:cNvSpPr/>
          <p:nvPr/>
        </p:nvSpPr>
        <p:spPr>
          <a:xfrm>
            <a:off x="8823700" y="4300438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Configuración de despliegue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8457988" y="4891980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39"/>
          <p:cNvSpPr/>
          <p:nvPr/>
        </p:nvSpPr>
        <p:spPr>
          <a:xfrm>
            <a:off x="8823700" y="4867374"/>
            <a:ext cx="3261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Minutas de control semanal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548567" y="5577780"/>
            <a:ext cx="182856" cy="1828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1"/>
          <p:cNvSpPr/>
          <p:nvPr/>
        </p:nvSpPr>
        <p:spPr>
          <a:xfrm>
            <a:off x="822900" y="5556250"/>
            <a:ext cx="19811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Entregado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2285943" y="5577780"/>
            <a:ext cx="182856" cy="182860"/>
          </a:xfrm>
          <a:prstGeom prst="ellipse">
            <a:avLst/>
          </a:prstGeom>
          <a:solidFill>
            <a:srgbClr val="C27C0E"/>
          </a:solidFill>
          <a:ln w="12700">
            <a:solidFill>
              <a:srgbClr val="C27C0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3"/>
          <p:cNvSpPr/>
          <p:nvPr/>
        </p:nvSpPr>
        <p:spPr>
          <a:xfrm>
            <a:off x="2560177" y="5556250"/>
            <a:ext cx="19811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curso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4114697" y="5502870"/>
            <a:ext cx="752525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funciones de construcción, integración y pruebas finales siguen planificadas: no se presentan como terminadas.</a:t>
            </a:r>
            <a:endParaRPr lang="en-US" sz="1300" dirty="0"/>
          </a:p>
        </p:txBody>
      </p:sp>
      <p:sp>
        <p:nvSpPr>
          <p:cNvPr id="50" name="Text 45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Facilitadores y dificultades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17241"/>
            <a:ext cx="5394785" cy="457200"/>
          </a:xfrm>
          <a:prstGeom prst="roundRect">
            <a:avLst>
              <a:gd name="adj" fmla="val 28799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77161" y="1510010"/>
            <a:ext cx="55471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Facilitadores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567" y="20116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77161" y="23591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2496245"/>
            <a:ext cx="274234" cy="2742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21" y="2254806"/>
            <a:ext cx="475851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MVP funcional existente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21" y="2494486"/>
            <a:ext cx="414892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partimos de cero: el esfuerzo va a reingeniería, integración y calidad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567" y="33832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777161" y="37307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" y="3867845"/>
            <a:ext cx="274234" cy="27424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21" y="3626406"/>
            <a:ext cx="475851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Planificación documentada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54421" y="3866086"/>
            <a:ext cx="414892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Alcance, EDT, hitos, RACI, riesgos y plan de pruebas ya definidos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567" y="47548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777161" y="51023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5239445"/>
            <a:ext cx="274234" cy="2742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21" y="4998006"/>
            <a:ext cx="475851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División clara del trabajo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21" y="5237686"/>
            <a:ext cx="414892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con Vicente, frontend con Ignacio; arquitectura y pruebas compartidas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45168" y="1417241"/>
            <a:ext cx="5394785" cy="457200"/>
          </a:xfrm>
          <a:prstGeom prst="roundRect">
            <a:avLst>
              <a:gd name="adj" fmla="val 28799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6473762" y="1510010"/>
            <a:ext cx="55471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Dificultades y respuesta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245168" y="20116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6473762" y="23591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879" y="2496245"/>
            <a:ext cx="274234" cy="2742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50923" y="2254806"/>
            <a:ext cx="475851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Más que un CRUD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250923" y="2494486"/>
            <a:ext cx="414892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Migración, pagos y custodia: trabajo por capas, transacciones y restricciones UNIQUE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45168" y="33832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6473762" y="37307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879" y="3867845"/>
            <a:ext cx="274234" cy="27424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0923" y="3620691"/>
            <a:ext cx="47585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Equipo de dos personas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7250923" y="3925491"/>
            <a:ext cx="47585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formal de cambios y revisión semanal del alcance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245168" y="4754860"/>
            <a:ext cx="5394785" cy="123438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26"/>
          <p:cNvSpPr/>
          <p:nvPr/>
        </p:nvSpPr>
        <p:spPr>
          <a:xfrm>
            <a:off x="6473762" y="5102324"/>
            <a:ext cx="548567" cy="548580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879" y="5239445"/>
            <a:ext cx="274234" cy="274241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50923" y="4998006"/>
            <a:ext cx="475851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Servicios externos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7250923" y="5237686"/>
            <a:ext cx="414892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Supabase, Vercel, GCP y Transbank: mocks o stubs y validación real posterior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Ajustes al plan de trabajo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377321" y="1266130"/>
            <a:ext cx="43584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200" dirty="0">
                <a:solidFill>
                  <a:srgbClr val="5B657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03468" y="1266130"/>
            <a:ext cx="52882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200" dirty="0">
                <a:solidFill>
                  <a:srgbClr val="5B657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AHORA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567" y="1866602"/>
            <a:ext cx="2346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Alcance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77321" y="1627584"/>
            <a:ext cx="3748887" cy="749796"/>
          </a:xfrm>
          <a:prstGeom prst="roundRect">
            <a:avLst>
              <a:gd name="adj" fmla="val 175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605915" y="1881882"/>
            <a:ext cx="39470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requerimientos en el ERS inicial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424" y="1773932"/>
            <a:ext cx="457189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21" y="1888232"/>
            <a:ext cx="228594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468" y="1627584"/>
            <a:ext cx="4736386" cy="749796"/>
          </a:xfrm>
          <a:prstGeom prst="roundRect">
            <a:avLst>
              <a:gd name="adj" fmla="val 175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7132062" y="1881882"/>
            <a:ext cx="49071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21 requerimientos validados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567" y="2753519"/>
            <a:ext cx="2346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Pagos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77321" y="2514600"/>
            <a:ext cx="3748887" cy="749796"/>
          </a:xfrm>
          <a:prstGeom prst="roundRect">
            <a:avLst>
              <a:gd name="adj" fmla="val 175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2605915" y="2768798"/>
            <a:ext cx="39470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Múltiples pasarelas, incluida Stripe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424" y="2660848"/>
            <a:ext cx="457189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21" y="2775148"/>
            <a:ext cx="228594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903468" y="2514600"/>
            <a:ext cx="4736386" cy="749796"/>
          </a:xfrm>
          <a:prstGeom prst="roundRect">
            <a:avLst>
              <a:gd name="adj" fmla="val 175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7132062" y="2768798"/>
            <a:ext cx="49071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Solo Transbank Webpay Plus Test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567" y="3640534"/>
            <a:ext cx="2346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Entrega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377321" y="3401516"/>
            <a:ext cx="3748887" cy="749796"/>
          </a:xfrm>
          <a:prstGeom prst="roundRect">
            <a:avLst>
              <a:gd name="adj" fmla="val 175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2605915" y="3655814"/>
            <a:ext cx="39470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GPS, mapa y dos fotos obligatorias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263424" y="3547864"/>
            <a:ext cx="457189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21" y="3662164"/>
            <a:ext cx="228594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903468" y="3401516"/>
            <a:ext cx="4736386" cy="749796"/>
          </a:xfrm>
          <a:prstGeom prst="roundRect">
            <a:avLst>
              <a:gd name="adj" fmla="val 175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7132062" y="3655814"/>
            <a:ext cx="49071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Tres estados con código de verificación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567" y="4527550"/>
            <a:ext cx="2346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Moderación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377321" y="4288532"/>
            <a:ext cx="3748887" cy="749796"/>
          </a:xfrm>
          <a:prstGeom prst="roundRect">
            <a:avLst>
              <a:gd name="adj" fmla="val 175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3"/>
          <p:cNvSpPr/>
          <p:nvPr/>
        </p:nvSpPr>
        <p:spPr>
          <a:xfrm>
            <a:off x="2605915" y="4542730"/>
            <a:ext cx="39470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Reputación y sanciones automáticas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263424" y="4434780"/>
            <a:ext cx="457189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21" y="4549080"/>
            <a:ext cx="228594" cy="2286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03468" y="4288532"/>
            <a:ext cx="4736386" cy="749796"/>
          </a:xfrm>
          <a:prstGeom prst="roundRect">
            <a:avLst>
              <a:gd name="adj" fmla="val 175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6"/>
          <p:cNvSpPr/>
          <p:nvPr/>
        </p:nvSpPr>
        <p:spPr>
          <a:xfrm>
            <a:off x="7132062" y="4542730"/>
            <a:ext cx="49071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Calificación 1 a 5 y sanciones manuales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48567" y="5414466"/>
            <a:ext cx="2346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A5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2377321" y="5175448"/>
            <a:ext cx="3748887" cy="749796"/>
          </a:xfrm>
          <a:prstGeom prst="roundRect">
            <a:avLst>
              <a:gd name="adj" fmla="val 175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29"/>
          <p:cNvSpPr/>
          <p:nvPr/>
        </p:nvSpPr>
        <p:spPr>
          <a:xfrm>
            <a:off x="2605915" y="5429746"/>
            <a:ext cx="39470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local en el dispositivo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263424" y="5321796"/>
            <a:ext cx="457189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21" y="5436096"/>
            <a:ext cx="228594" cy="2286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6903468" y="5175448"/>
            <a:ext cx="4736386" cy="749796"/>
          </a:xfrm>
          <a:prstGeom prst="roundRect">
            <a:avLst>
              <a:gd name="adj" fmla="val 17561"/>
            </a:avLst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2"/>
          <p:cNvSpPr/>
          <p:nvPr/>
        </p:nvSpPr>
        <p:spPr>
          <a:xfrm>
            <a:off x="7132062" y="5429746"/>
            <a:ext cx="49071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PostgreSQL en Supabase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548567" y="6461026"/>
            <a:ext cx="30728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CuTuCo  ·  Fase 2 Capstone  ·  Duoc UC Plaza Norte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419892" y="6445845"/>
            <a:ext cx="73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453668"/>
            <a:ext cx="1109138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567" y="1462980"/>
            <a:ext cx="2567022" cy="2834580"/>
          </a:xfrm>
          <a:prstGeom prst="roundRect">
            <a:avLst>
              <a:gd name="adj" fmla="val 512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00" y="1739945"/>
            <a:ext cx="20184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S5–S8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00" y="2421513"/>
            <a:ext cx="20184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Frontend y módulos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00" y="3096546"/>
            <a:ext cx="19613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Vue.js: catálogo, carrito, panel del vendedor y administración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0021" y="1462980"/>
            <a:ext cx="2567022" cy="2834580"/>
          </a:xfrm>
          <a:prstGeom prst="roundRect">
            <a:avLst>
              <a:gd name="adj" fmla="val 512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64354" y="1739945"/>
            <a:ext cx="20184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S7–S10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64354" y="2421513"/>
            <a:ext cx="20184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Pago y entrega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64354" y="3096546"/>
            <a:ext cx="19613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Webpay Plus Test, custodia, payout, código de entrega y calificaciones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1476" y="1462980"/>
            <a:ext cx="2567022" cy="2834580"/>
          </a:xfrm>
          <a:prstGeom prst="roundRect">
            <a:avLst>
              <a:gd name="adj" fmla="val 512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505710" y="1739945"/>
            <a:ext cx="20184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S9–S11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05710" y="2421513"/>
            <a:ext cx="201845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Integración y pruebas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05710" y="3096546"/>
            <a:ext cx="19613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Pruebas de API y E2E, correcciones y verificación del alcance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72832" y="1462980"/>
            <a:ext cx="2567022" cy="2834580"/>
          </a:xfrm>
          <a:prstGeom prst="roundRect">
            <a:avLst>
              <a:gd name="adj" fmla="val 512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347165" y="1739945"/>
            <a:ext cx="20184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C72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S12–S13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347165" y="2421513"/>
            <a:ext cx="20184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Cierre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47165" y="3094930"/>
            <a:ext cx="19613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Manuales, plan de implantación y entrega final el 10/12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567" y="5257800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43774" y="535047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SIMPLE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40204" y="5257800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935412" y="535047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EFICAZ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31742" y="5257800"/>
            <a:ext cx="1508683" cy="411460"/>
          </a:xfrm>
          <a:prstGeom prst="roundRect">
            <a:avLst>
              <a:gd name="adj" fmla="val 499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626950" y="5350470"/>
            <a:ext cx="21182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2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EFICIENTE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495" y="5207908"/>
            <a:ext cx="5056458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Gracias. ¿Preguntas?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2685</Words>
  <Application>Microsoft Office PowerPoint</Application>
  <PresentationFormat>Panorámica</PresentationFormat>
  <Paragraphs>415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Carlito</vt:lpstr>
      <vt:lpstr>Arial</vt:lpstr>
      <vt:lpstr>Aptos</vt:lpstr>
      <vt:lpstr>Carlito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IGNACIO JAVIER FUENZALIDA CHANDIA</cp:lastModifiedBy>
  <cp:revision>3</cp:revision>
  <dcterms:created xsi:type="dcterms:W3CDTF">2026-10-08T00:42:00Z</dcterms:created>
  <dcterms:modified xsi:type="dcterms:W3CDTF">2026-10-08T00:52:27Z</dcterms:modified>
</cp:coreProperties>
</file>