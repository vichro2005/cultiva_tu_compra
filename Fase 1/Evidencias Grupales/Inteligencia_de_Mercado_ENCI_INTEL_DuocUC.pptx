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Play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+fK9twN+O5NGuWcVeyFhXmeNP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Play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Presentamos el proyecto como un trabajo conjunto de dos personas. Nos enfocamos en la continuidad de ENCI-INTEL y en dejar claro qué problema resolvemos, cómo funciona y cómo organizamos el desarrollo.</a:t>
            </a:r>
            <a:endParaRPr/>
          </a:p>
        </p:txBody>
      </p:sp>
      <p:sp>
        <p:nvSpPr>
          <p:cNvPr id="93" name="Google Shape;9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informe describe una latencia de 1 a 7 días con el proceso manual y propone medir el Tiempo de Respuesta Competitiva, con metas de menos de 4 horas en el MVP y menos de 2 horas a seis meses.</a:t>
            </a:r>
            <a:endParaRPr/>
          </a:p>
        </p:txBody>
      </p:sp>
      <p:sp>
        <p:nvSpPr>
          <p:cNvPr id="121" name="Google Shape;1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documento de alcance reducido prioriza tres pilares: 2 agentes activos, dashboard funcional alineado al wireframe e integración de los endpoints más importantes.</a:t>
            </a:r>
            <a:endParaRPr/>
          </a:p>
        </p:txBody>
      </p:sp>
      <p:sp>
        <p:nvSpPr>
          <p:cNvPr id="167" name="Google Shape;1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documentación describe un flujo con Cloud Scheduler, agentes de vigilancia, inteligencia aduanera, monitoreo competitivo y benchmarking de precios. El motor consolida y prioriza alertas; el dashboard se actualiza cada 60 segundos.</a:t>
            </a:r>
            <a:endParaRPr/>
          </a:p>
        </p:txBody>
      </p:sp>
      <p:sp>
        <p:nvSpPr>
          <p:cNvPr id="207" name="Google Shape;2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roles documentados son Admin, Comercial y Gerencia. El manual además describe el acceso al Dashboard, alertas, Consultor IA, Productos, Usuarios y Agentes.</a:t>
            </a:r>
            <a:endParaRPr/>
          </a:p>
        </p:txBody>
      </p:sp>
      <p:sp>
        <p:nvSpPr>
          <p:cNvPr id="255" name="Google Shape;2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mockup es una recreación visual nuestra, basada en la estructura descrita en el manual: tres KPIs en la parte superior y feed de alertas debajo, además de módulos de administración y Consultor IA.</a:t>
            </a:r>
            <a:endParaRPr/>
          </a:p>
        </p:txBody>
      </p:sp>
      <p:sp>
        <p:nvSpPr>
          <p:cNvPr id="300" name="Google Shape;3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stack documentado indica React, FastAPI, Firestore, Cloud Run, Cloud Scheduler, Cloud Tasks, Keycloak, Vertex AI y GitHub Actions.</a:t>
            </a:r>
            <a:endParaRPr/>
          </a:p>
        </p:txBody>
      </p:sp>
      <p:sp>
        <p:nvSpPr>
          <p:cNvPr id="356" name="Google Shape;3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informe y los manuales describen RBAC, JWT, validación de datos, gestión de agentes y controles operativos. El sistema también contempla defensas específicas ante prompt injection.</a:t>
            </a:r>
            <a:endParaRPr/>
          </a:p>
        </p:txBody>
      </p:sp>
      <p:sp>
        <p:nvSpPr>
          <p:cNvPr id="381" name="Google Shape;3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metodología y los entregables de esta presentación siguen las cuatro fases especificadas por nosotros para el proyecto: planificación inicial; análisis y diseño; construcción; implementación y cierre.</a:t>
            </a:r>
            <a:endParaRPr/>
          </a:p>
        </p:txBody>
      </p:sp>
      <p:sp>
        <p:nvSpPr>
          <p:cNvPr id="422" name="Google Shape;4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Estos entregables responden a la fase de Planificación Inicial solicitada por el usuario.</a:t>
            </a:r>
            <a:endParaRPr/>
          </a:p>
        </p:txBody>
      </p:sp>
      <p:sp>
        <p:nvSpPr>
          <p:cNvPr id="450" name="Google Shape;4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fase utiliza ERS, modelos de datos y arquitectura, mockups y plan de calidad y costos, tal como se pidió.</a:t>
            </a:r>
            <a:endParaRPr/>
          </a:p>
        </p:txBody>
      </p:sp>
      <p:sp>
        <p:nvSpPr>
          <p:cNvPr id="494" name="Google Shape;4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Estos entregables corresponden a la fase de Construcción solicitada por el usuario.</a:t>
            </a:r>
            <a:endParaRPr/>
          </a:p>
        </p:txBody>
      </p:sp>
      <p:sp>
        <p:nvSpPr>
          <p:cNvPr id="528" name="Google Shape;5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Estos entregables corresponden a la fase de Implementación y Cierre solicitada por el usuario.</a:t>
            </a:r>
            <a:endParaRPr/>
          </a:p>
        </p:txBody>
      </p:sp>
      <p:sp>
        <p:nvSpPr>
          <p:cNvPr id="556" name="Google Shape;5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Cronograma solicitado por el usuario: inicio en semana 1 el 10 de agosto; término de desarrollo en semana 15; preparación y entrega final en semanas 16 a 18.</a:t>
            </a:r>
            <a:endParaRPr/>
          </a:p>
        </p:txBody>
      </p:sp>
      <p:sp>
        <p:nvSpPr>
          <p:cNvPr id="591" name="Google Shape;5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Cerramos destacando que el trabajo lo realizaremos entre dos personas, con responsabilidades complementarias y responsabilidad compartida sobre integración, pruebas y documentación.</a:t>
            </a:r>
            <a:endParaRPr/>
          </a:p>
        </p:txBody>
      </p:sp>
      <p:sp>
        <p:nvSpPr>
          <p:cNvPr id="632" name="Google Shape;6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3f8bdd43d39_0_4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5" name="Google Shape;15;g3f8bdd43d39_0_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g3f8bdd43d39_0_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f8bdd43d39_0_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g3f8bdd43d39_0_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g3f8bdd43d39_0_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g3f8bdd43d39_0_4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g3f8bdd43d39_0_4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f8bdd43d39_0_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g3f8bdd43d39_0_14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5" name="Google Shape;25;g3f8bdd43d39_0_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f8bdd43d39_0_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f8bdd43d39_0_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f8bdd43d39_0_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f8bdd43d39_0_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g3f8bdd43d39_0_14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g3f8bdd43d39_0_1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g3f8bdd43d39_0_23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4" name="Google Shape;34;g3f8bdd43d39_0_23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8bdd43d39_0_23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f8bdd43d39_0_23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f8bdd43d39_0_23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f8bdd43d39_0_23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f8bdd43d39_0_2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g3f8bdd43d39_0_23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g3f8bdd43d39_0_2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8bdd43d39_0_3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" name="Google Shape;44;g3f8bdd43d39_0_33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g3f8bdd43d39_0_33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" name="Google Shape;46;g3f8bdd43d39_0_3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bdd43d39_0_3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9" name="Google Shape;49;g3f8bdd43d39_0_3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bdd43d39_0_41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g3f8bdd43d39_0_41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g3f8bdd43d39_0_4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g3f8bdd43d39_0_4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6" name="Google Shape;56;g3f8bdd43d39_0_4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g3f8bdd43d39_0_4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f8bdd43d39_0_4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f8bdd43d39_0_4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g3f8bdd43d39_0_4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g3f8bdd43d39_0_45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f8bdd43d39_0_4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bdd43d39_0_54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g3f8bdd43d39_0_54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f8bdd43d39_0_54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7" name="Google Shape;67;g3f8bdd43d39_0_54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g3f8bdd43d39_0_54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g3f8bdd43d39_0_5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bdd43d39_0_61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72" name="Google Shape;72;g3f8bdd43d39_0_6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f8bdd43d39_0_64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5" name="Google Shape;75;g3f8bdd43d39_0_6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f8bdd43d39_0_6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f8bdd43d39_0_6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f8bdd43d39_0_6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f8bdd43d39_0_6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g3f8bdd43d39_0_64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g3f8bdd43d39_0_64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g3f8bdd43d39_0_6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bdd43d39_0_7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g3f8bdd43d39_0_76"/>
          <p:cNvCxnSpPr/>
          <p:nvPr/>
        </p:nvCxnSpPr>
        <p:spPr>
          <a:xfrm>
            <a:off x="749808" y="6428232"/>
            <a:ext cx="1068930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g3f8bdd43d39_0_76"/>
          <p:cNvSpPr/>
          <p:nvPr/>
        </p:nvSpPr>
        <p:spPr>
          <a:xfrm>
            <a:off x="749808" y="6473952"/>
            <a:ext cx="411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ENCI-INTEL · Inteligencia de Mercado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8bdd43d39_0_76"/>
          <p:cNvSpPr/>
          <p:nvPr/>
        </p:nvSpPr>
        <p:spPr>
          <a:xfrm>
            <a:off x="8046720" y="6473952"/>
            <a:ext cx="338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Duoc UC · Proyecto de continuidad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8bdd43d39_0_76"/>
          <p:cNvSpPr txBox="1"/>
          <p:nvPr>
            <p:ph idx="12" type="sldNum"/>
          </p:nvPr>
        </p:nvSpPr>
        <p:spPr>
          <a:xfrm>
            <a:off x="11521440" y="6455664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8bdd43d39_0_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g3f8bdd43d39_0_0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3f8bdd43d39_0_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 rot="599928">
            <a:off x="6637580" y="859024"/>
            <a:ext cx="1843602" cy="1843602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46675">
            <a:solidFill>
              <a:srgbClr val="1E3A8A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025" lIns="112025" spcFirstLastPara="1" rIns="112025" wrap="square" tIns="11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5"/>
          </a:p>
        </p:txBody>
      </p:sp>
      <p:sp>
        <p:nvSpPr>
          <p:cNvPr id="97" name="Google Shape;97;p1"/>
          <p:cNvSpPr/>
          <p:nvPr/>
        </p:nvSpPr>
        <p:spPr>
          <a:xfrm>
            <a:off x="7530325" y="1101530"/>
            <a:ext cx="731400" cy="7314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4440551" y="1560187"/>
            <a:ext cx="35289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6"/>
              <a:buFont typeface="Play"/>
              <a:buNone/>
            </a:pPr>
            <a:r>
              <a:rPr b="1" i="0" lang="en-US" sz="3676" u="none" cap="none" strike="noStrike">
                <a:latin typeface="Play"/>
                <a:ea typeface="Play"/>
                <a:cs typeface="Play"/>
                <a:sym typeface="Play"/>
              </a:rPr>
              <a:t>INTELIGENCIA</a:t>
            </a:r>
            <a:endParaRPr b="0" i="0" sz="3676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6"/>
              <a:buFont typeface="Play"/>
              <a:buNone/>
            </a:pPr>
            <a:r>
              <a:rPr b="1" i="0" lang="en-US" sz="3676" u="none" cap="none" strike="noStrike">
                <a:latin typeface="Play"/>
                <a:ea typeface="Play"/>
                <a:cs typeface="Play"/>
                <a:sym typeface="Play"/>
              </a:rPr>
              <a:t>DE MERCADO</a:t>
            </a:r>
            <a:endParaRPr b="0" i="0" sz="3676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713225" y="1824130"/>
            <a:ext cx="27432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Presentación del proyecto · APT Duoc UC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ENCI-INTEL · Alloxentric / Encipharm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713232" y="3182112"/>
            <a:ext cx="1225296" cy="310896"/>
          </a:xfrm>
          <a:prstGeom prst="roundRect">
            <a:avLst>
              <a:gd fmla="val 23529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795528" y="3232404"/>
            <a:ext cx="1060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CONTINUIDAD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406975" y="4265600"/>
            <a:ext cx="2880300" cy="13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Integrantes:</a:t>
            </a:r>
            <a:endParaRPr b="1" sz="2100">
              <a:solidFill>
                <a:schemeClr val="lt1"/>
              </a:solidFill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Vicente Rivera </a:t>
            </a:r>
            <a:endParaRPr b="1" sz="2100">
              <a:solidFill>
                <a:schemeClr val="lt1"/>
              </a:solidFill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Ignacio Fuenzalida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588698" y="3171821"/>
            <a:ext cx="32325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22"/>
              <a:buFont typeface="Arial"/>
              <a:buNone/>
            </a:pPr>
            <a:r>
              <a:rPr b="0" i="0" lang="en-US" sz="2022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Ingeniería en Informática, Duoc UC Plaza Norte</a:t>
            </a:r>
            <a:endParaRPr b="0" i="0" sz="20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8961765" y="1275597"/>
            <a:ext cx="3017400" cy="420630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9236085" y="154991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Nuestro foco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236085" y="2189998"/>
            <a:ext cx="100500" cy="100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9437253" y="2080270"/>
            <a:ext cx="2176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Reducir tiempos de reacción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9236085" y="2848366"/>
            <a:ext cx="100500" cy="100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9437253" y="2738638"/>
            <a:ext cx="2176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Centralizar señales competitivas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9236085" y="3506734"/>
            <a:ext cx="100500" cy="100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9437253" y="3397006"/>
            <a:ext cx="2176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Automatizar monitoreo recurrente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9236085" y="4165102"/>
            <a:ext cx="100500" cy="100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9437253" y="4055374"/>
            <a:ext cx="2176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Apoyar decisiones comerciales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9213285" y="4612333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Contrapartes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9213285" y="4895797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Max Kreimerman · Karina Álvarez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339400" y="264100"/>
            <a:ext cx="3284100" cy="88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1" title="960px-Logo_DuocUC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51" y="369700"/>
            <a:ext cx="2743200" cy="67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01 · CONTEXTO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El problema que queremos resolver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Pasamos de información dispersa a señales que podamos revisar y accionar.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868680" y="1481328"/>
            <a:ext cx="274320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868680" y="1481328"/>
            <a:ext cx="54864" cy="9601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1051560" y="16184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1–7 días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051560" y="2048256"/>
            <a:ext cx="24871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latencia de monitoreo manual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3813048" y="1481328"/>
            <a:ext cx="274320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3813048" y="1481328"/>
            <a:ext cx="54864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3995928" y="16184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24/7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3995928" y="2048256"/>
            <a:ext cx="24871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monitoreo automatizado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757416" y="1481328"/>
            <a:ext cx="274320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6757416" y="1481328"/>
            <a:ext cx="54864" cy="9601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6940296" y="16184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&lt; 4 h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940296" y="2048256"/>
            <a:ext cx="24871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meta de respuesta MVP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9701784" y="1481328"/>
            <a:ext cx="1627632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9701784" y="1481328"/>
            <a:ext cx="54864" cy="9601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9884664" y="1618488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&lt; 2 h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9884664" y="2048256"/>
            <a:ext cx="1371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meta a seis meses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68680" y="27889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868680" y="3264408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1069848" y="3154680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Planillas Excel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868680" y="3758184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1069848" y="3648456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Revisión manual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868680" y="4251960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"/>
          <p:cNvSpPr/>
          <p:nvPr/>
        </p:nvSpPr>
        <p:spPr>
          <a:xfrm>
            <a:off x="1069848" y="4142232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Señales dispersas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868680" y="4745736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"/>
          <p:cNvSpPr/>
          <p:nvPr/>
        </p:nvSpPr>
        <p:spPr>
          <a:xfrm>
            <a:off x="1069848" y="4636008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Respuesta tardía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4315968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Con ENCI-INTEL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4315968" y="3264408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4517136" y="3154680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Agentes autónomos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4315968" y="3758184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"/>
          <p:cNvSpPr/>
          <p:nvPr/>
        </p:nvSpPr>
        <p:spPr>
          <a:xfrm>
            <a:off x="4517136" y="3648456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Fuentes monitoreadas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4315968" y="4251960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4517136" y="4142232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Alertas priorizadas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4315968" y="4745736"/>
            <a:ext cx="100584" cy="10058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"/>
          <p:cNvSpPr/>
          <p:nvPr/>
        </p:nvSpPr>
        <p:spPr>
          <a:xfrm>
            <a:off x="4517136" y="4636008"/>
            <a:ext cx="36393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Dashboard central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955280" y="278892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Qué medimos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7955280" y="3200400"/>
            <a:ext cx="3337560" cy="1325880"/>
          </a:xfrm>
          <a:prstGeom prst="roundRect">
            <a:avLst>
              <a:gd fmla="val 5517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"/>
          <p:cNvSpPr/>
          <p:nvPr/>
        </p:nvSpPr>
        <p:spPr>
          <a:xfrm>
            <a:off x="8229600" y="3447288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Tiempo de Respuesta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Competitiva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8229600" y="408736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Detectar → entender → actuar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BEAF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02 · OBJETIVO Y ALCANCE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Nuestro objetivo es entregar un núcleo funcional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Partimos de un proyecto de continuidad y priorizamos el valor inmediato.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868680" y="1508760"/>
            <a:ext cx="32461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868680" y="1508760"/>
            <a:ext cx="54864" cy="1828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1051560" y="169164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1051560" y="17190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1508760" y="168249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1069848" y="2112264"/>
            <a:ext cx="284378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Concentramos señales competitivas en un solo lugar y reducimos la revisión manual.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4370832" y="1508760"/>
            <a:ext cx="32461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4370832" y="1508760"/>
            <a:ext cx="54864" cy="18288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4553712" y="1691640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4553712" y="17190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5010912" y="168249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Alcance priorizado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4572000" y="2112264"/>
            <a:ext cx="284378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Integramos agentes activos, dashboard y endpoints críticos ya definidos.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7872984" y="1508760"/>
            <a:ext cx="3401568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7872984" y="1508760"/>
            <a:ext cx="54864" cy="1828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8055864" y="1691640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055864" y="17190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8513064" y="1682496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Resultado esperado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8074152" y="2112264"/>
            <a:ext cx="299923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Tomamos decisiones con alertas priorizadas y contexto operativo.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868680" y="38221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Nuestro foco de continuidad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868680" y="431596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Plan original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2148840" y="426110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2679192" y="426110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3209544" y="426110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3739896" y="426110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4983480" y="431596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475569"/>
                </a:solidFill>
              </a:rPr>
              <a:t>4</a:t>
            </a:r>
            <a:r>
              <a:rPr b="1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agentes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777180" y="5047563"/>
            <a:ext cx="155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Alcance </a:t>
            </a:r>
            <a:r>
              <a:rPr lang="en-US" sz="1450">
                <a:solidFill>
                  <a:srgbClr val="64748B"/>
                </a:solidFill>
              </a:rPr>
              <a:t>Actual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2148840" y="499262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2679192" y="499262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3209544" y="499262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E5E7E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3739896" y="4992624"/>
            <a:ext cx="438912" cy="384048"/>
          </a:xfrm>
          <a:prstGeom prst="roundRect">
            <a:avLst>
              <a:gd fmla="val 11905" name="adj"/>
            </a:avLst>
          </a:prstGeom>
          <a:solidFill>
            <a:srgbClr val="E5E7E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4983480" y="50474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2 agentes activos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7452360" y="4224528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Además, dejamos preparada la evolución hacia análisis de productos, mapa competitivo y nuevos competidores.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FCE7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03 · FUNCIONAMIENTO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Cómo funciona ENCI-INTEL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Automatizamos el recorrido desde la fuente hasta una alerta que podamos revisar.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841248" y="1920240"/>
            <a:ext cx="1719072" cy="182880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1444752" y="1700784"/>
            <a:ext cx="512064" cy="5120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1444752" y="1856232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987552" y="2359152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Fuentes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987552" y="2807208"/>
            <a:ext cx="1426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569"/>
                </a:solidFill>
              </a:rPr>
              <a:t>SAG (registros Excel) · dragpharma.cl (noticias)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4"/>
          <p:cNvCxnSpPr/>
          <p:nvPr/>
        </p:nvCxnSpPr>
        <p:spPr>
          <a:xfrm>
            <a:off x="2578608" y="2834640"/>
            <a:ext cx="365760" cy="0"/>
          </a:xfrm>
          <a:prstGeom prst="straightConnector1">
            <a:avLst/>
          </a:prstGeom>
          <a:noFill/>
          <a:ln cap="flat" cmpd="sng" w="26650">
            <a:solidFill>
              <a:srgbClr val="E5E7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4"/>
          <p:cNvSpPr/>
          <p:nvPr/>
        </p:nvSpPr>
        <p:spPr>
          <a:xfrm>
            <a:off x="3008376" y="1920240"/>
            <a:ext cx="1719072" cy="182880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3611880" y="1700784"/>
            <a:ext cx="512064" cy="5120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3611880" y="1856232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3154680" y="2359152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3154680" y="2807208"/>
            <a:ext cx="1426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475569"/>
                </a:solidFill>
              </a:rPr>
              <a:t>SAG, Competidores</a:t>
            </a:r>
            <a:endParaRPr sz="1450">
              <a:solidFill>
                <a:srgbClr val="475569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475569"/>
              </a:solidFill>
            </a:endParaRPr>
          </a:p>
        </p:txBody>
      </p:sp>
      <p:cxnSp>
        <p:nvCxnSpPr>
          <p:cNvPr id="223" name="Google Shape;223;p4"/>
          <p:cNvCxnSpPr/>
          <p:nvPr/>
        </p:nvCxnSpPr>
        <p:spPr>
          <a:xfrm>
            <a:off x="4745736" y="2834640"/>
            <a:ext cx="365760" cy="0"/>
          </a:xfrm>
          <a:prstGeom prst="straightConnector1">
            <a:avLst/>
          </a:prstGeom>
          <a:noFill/>
          <a:ln cap="flat" cmpd="sng" w="26650">
            <a:solidFill>
              <a:srgbClr val="E5E7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4"/>
          <p:cNvSpPr/>
          <p:nvPr/>
        </p:nvSpPr>
        <p:spPr>
          <a:xfrm>
            <a:off x="5175504" y="1920240"/>
            <a:ext cx="1719072" cy="182880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5779008" y="1700784"/>
            <a:ext cx="512064" cy="512064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779008" y="1856232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321808" y="2359152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321808" y="2807208"/>
            <a:ext cx="1426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Consolida y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prioriza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4"/>
          <p:cNvCxnSpPr/>
          <p:nvPr/>
        </p:nvCxnSpPr>
        <p:spPr>
          <a:xfrm>
            <a:off x="6912864" y="2834640"/>
            <a:ext cx="365760" cy="0"/>
          </a:xfrm>
          <a:prstGeom prst="straightConnector1">
            <a:avLst/>
          </a:prstGeom>
          <a:noFill/>
          <a:ln cap="flat" cmpd="sng" w="26650">
            <a:solidFill>
              <a:srgbClr val="E5E7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4"/>
          <p:cNvSpPr/>
          <p:nvPr/>
        </p:nvSpPr>
        <p:spPr>
          <a:xfrm>
            <a:off x="7342632" y="1920240"/>
            <a:ext cx="1719072" cy="182880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7946136" y="1700784"/>
            <a:ext cx="512064" cy="5120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7946136" y="1856232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7488936" y="2359152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7488936" y="2807208"/>
            <a:ext cx="1426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Alertas cada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60 segundos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4"/>
          <p:cNvCxnSpPr/>
          <p:nvPr/>
        </p:nvCxnSpPr>
        <p:spPr>
          <a:xfrm>
            <a:off x="9079992" y="2834640"/>
            <a:ext cx="365760" cy="0"/>
          </a:xfrm>
          <a:prstGeom prst="straightConnector1">
            <a:avLst/>
          </a:prstGeom>
          <a:noFill/>
          <a:ln cap="flat" cmpd="sng" w="26650">
            <a:solidFill>
              <a:srgbClr val="E5E7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" name="Google Shape;236;p4"/>
          <p:cNvSpPr/>
          <p:nvPr/>
        </p:nvSpPr>
        <p:spPr>
          <a:xfrm>
            <a:off x="9509760" y="1920240"/>
            <a:ext cx="1719072" cy="182880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"/>
          <p:cNvSpPr/>
          <p:nvPr/>
        </p:nvSpPr>
        <p:spPr>
          <a:xfrm>
            <a:off x="10113264" y="1700784"/>
            <a:ext cx="512064" cy="5120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10113264" y="1856232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9656064" y="2359152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9656064" y="2807208"/>
            <a:ext cx="1426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Comercial +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Gerencia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1051560" y="4498848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"/>
          <p:cNvSpPr/>
          <p:nvPr/>
        </p:nvSpPr>
        <p:spPr>
          <a:xfrm>
            <a:off x="1133856" y="4549140"/>
            <a:ext cx="1252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CRÍTICA ≥ 70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2670048" y="4498848"/>
            <a:ext cx="822960" cy="310896"/>
          </a:xfrm>
          <a:prstGeom prst="roundRect">
            <a:avLst>
              <a:gd fmla="val 23529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2752344" y="4549140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3675888" y="4498848"/>
            <a:ext cx="914400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3758184" y="45491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4773168" y="4498848"/>
            <a:ext cx="822960" cy="310896"/>
          </a:xfrm>
          <a:prstGeom prst="roundRect">
            <a:avLst>
              <a:gd fmla="val 23529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4855464" y="4549140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6098950" y="4419834"/>
            <a:ext cx="475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Nosotros usamos la criticidad para ordenar qué revisar primero.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6098950" y="5023338"/>
            <a:ext cx="2560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Consultor Veterinario IA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6098945" y="5517137"/>
            <a:ext cx="297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Complementamos el monitoreo con un chat sobre papers, fichas técnicas y protocolos.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2FE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04 · PRODUCTO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Los módulos que organizamos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Diseñamos la solución alrededor de cuatro piezas visibles y una base de administración.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868680" y="1508760"/>
            <a:ext cx="4892040" cy="1097280"/>
          </a:xfrm>
          <a:prstGeom prst="roundRect">
            <a:avLst>
              <a:gd fmla="val 6667" name="adj"/>
            </a:avLst>
          </a:prstGeom>
          <a:solidFill>
            <a:srgbClr val="DBEAFE"/>
          </a:solidFill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868680" y="1508760"/>
            <a:ext cx="54864" cy="10972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1051560" y="169164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1051560" y="17190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1508760" y="168249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 + alertas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1069848" y="2112264"/>
            <a:ext cx="44897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Vemos KPIs y señales priorizadas.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6355080" y="1508760"/>
            <a:ext cx="4892040" cy="1097280"/>
          </a:xfrm>
          <a:prstGeom prst="roundRect">
            <a:avLst>
              <a:gd fmla="val 6667" name="adj"/>
            </a:avLst>
          </a:prstGeom>
          <a:solidFill>
            <a:srgbClr val="CCFBF1"/>
          </a:solidFill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6355080" y="1508760"/>
            <a:ext cx="54864" cy="109728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6537960" y="1691640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6537960" y="17190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6995160" y="168249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Agentes de inteligencia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6556248" y="2112264"/>
            <a:ext cx="44897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Supervisamos estado, frecuencia y ejecución.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868680" y="2926080"/>
            <a:ext cx="4892040" cy="1097280"/>
          </a:xfrm>
          <a:prstGeom prst="roundRect">
            <a:avLst>
              <a:gd fmla="val 6667" name="adj"/>
            </a:avLst>
          </a:prstGeom>
          <a:solidFill>
            <a:srgbClr val="EDE9FE"/>
          </a:solidFill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868680" y="2926080"/>
            <a:ext cx="54864" cy="10972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1051560" y="3108960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1051560" y="313639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1508760" y="309981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Consultor Vet IA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1069848" y="3529584"/>
            <a:ext cx="44897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Respondemos consultas técnicas con referencias.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6355080" y="2926080"/>
            <a:ext cx="4892040" cy="1097280"/>
          </a:xfrm>
          <a:prstGeom prst="roundRect">
            <a:avLst>
              <a:gd fmla="val 6667" name="adj"/>
            </a:avLst>
          </a:prstGeom>
          <a:solidFill>
            <a:srgbClr val="E0F2FE"/>
          </a:solidFill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6355080" y="2926080"/>
            <a:ext cx="54864" cy="10972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6537960" y="310896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6537960" y="313639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995160" y="309981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Panel administrador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6556248" y="3529584"/>
            <a:ext cx="44897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Gestionamos usuarios, roles y agentes.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845818" y="4901195"/>
            <a:ext cx="10287000" cy="1079100"/>
          </a:xfrm>
          <a:prstGeom prst="roundRect">
            <a:avLst>
              <a:gd fmla="val 6780" name="adj"/>
            </a:avLst>
          </a:prstGeom>
          <a:solidFill>
            <a:srgbClr val="FEF3C7"/>
          </a:solidFill>
          <a:ln cap="flat" cmpd="sng" w="11425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"/>
          <p:cNvSpPr/>
          <p:nvPr/>
        </p:nvSpPr>
        <p:spPr>
          <a:xfrm>
            <a:off x="845817" y="4901195"/>
            <a:ext cx="54900" cy="10791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1028698" y="5084075"/>
            <a:ext cx="347400" cy="3474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1028698" y="5111507"/>
            <a:ext cx="34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1485897" y="5074931"/>
            <a:ext cx="94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Evolución Fase 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1046985" y="5504699"/>
            <a:ext cx="9884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475569"/>
                </a:solidFill>
              </a:rPr>
              <a:t>-</a:t>
            </a: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Analizamos productos y mapa competitivo</a:t>
            </a:r>
            <a:endParaRPr sz="1550">
              <a:solidFill>
                <a:srgbClr val="47556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475569"/>
                </a:solidFill>
              </a:rPr>
              <a:t>-Integracion Agentes Restantes</a:t>
            </a:r>
            <a:endParaRPr sz="1550">
              <a:solidFill>
                <a:srgbClr val="475569"/>
              </a:solidFill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576080" y="4315963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Roles de uso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2029968" y="4306824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2112264" y="43571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3090672" y="4306824"/>
            <a:ext cx="1133856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3172968" y="4357116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COMERCIAL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4407408" y="4306824"/>
            <a:ext cx="1024128" cy="310896"/>
          </a:xfrm>
          <a:prstGeom prst="roundRect">
            <a:avLst>
              <a:gd fmla="val 23529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4489704" y="4357116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GERENCIA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FBF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05 · MOCKUP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Mockup del dashboard que proponemos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Tomamos como base la estructura documentada: KPIs y feed de alertas.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868680" y="1417320"/>
            <a:ext cx="10287000" cy="4526280"/>
          </a:xfrm>
          <a:prstGeom prst="roundRect">
            <a:avLst>
              <a:gd fmla="val 1212" name="adj"/>
            </a:avLst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868680" y="1417320"/>
            <a:ext cx="1417320" cy="45262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1051560" y="171907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ENCI-INTEL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1024128" y="2331720"/>
            <a:ext cx="1097280" cy="384048"/>
          </a:xfrm>
          <a:prstGeom prst="roundRect">
            <a:avLst>
              <a:gd fmla="val 11905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1115568" y="242316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1024128" y="2926080"/>
            <a:ext cx="1097280" cy="384048"/>
          </a:xfrm>
          <a:prstGeom prst="roundRect">
            <a:avLst>
              <a:gd fmla="val 11905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1115568" y="30175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1024128" y="3520440"/>
            <a:ext cx="1097280" cy="384048"/>
          </a:xfrm>
          <a:prstGeom prst="roundRect">
            <a:avLst>
              <a:gd fmla="val 11905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1115568" y="361188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Consultor IA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1024128" y="4114800"/>
            <a:ext cx="1097280" cy="384048"/>
          </a:xfrm>
          <a:prstGeom prst="roundRect">
            <a:avLst>
              <a:gd fmla="val 11905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1115568" y="420624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1024128" y="4709160"/>
            <a:ext cx="1097280" cy="384048"/>
          </a:xfrm>
          <a:prstGeom prst="roundRect">
            <a:avLst>
              <a:gd fmla="val 11905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1115568" y="480060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2560320" y="17373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Resumen del mercado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2560320" y="2130552"/>
            <a:ext cx="182880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2560320" y="2130552"/>
            <a:ext cx="54864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2743200" y="226771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2743200" y="2697480"/>
            <a:ext cx="15727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Alertas activas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526280" y="2130552"/>
            <a:ext cx="182880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4526280" y="2130552"/>
            <a:ext cx="54864" cy="9601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4709160" y="226771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4709160" y="2697480"/>
            <a:ext cx="15727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Alertas críticas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6492240" y="2130552"/>
            <a:ext cx="182880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6492240" y="2130552"/>
            <a:ext cx="54864" cy="9601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6675120" y="226771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6675120" y="2697480"/>
            <a:ext cx="15727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Lanzamientos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8549640" y="217627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Actividad 7 días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6"/>
          <p:cNvCxnSpPr/>
          <p:nvPr/>
        </p:nvCxnSpPr>
        <p:spPr>
          <a:xfrm flipH="1" rot="10800000">
            <a:off x="8595360" y="2468880"/>
            <a:ext cx="1417320" cy="41148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6"/>
          <p:cNvCxnSpPr/>
          <p:nvPr/>
        </p:nvCxnSpPr>
        <p:spPr>
          <a:xfrm>
            <a:off x="10012680" y="2468880"/>
            <a:ext cx="530352" cy="2286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6"/>
          <p:cNvSpPr/>
          <p:nvPr/>
        </p:nvSpPr>
        <p:spPr>
          <a:xfrm>
            <a:off x="2560320" y="340156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Feed de alertas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2560320" y="3776472"/>
            <a:ext cx="6217920" cy="402336"/>
          </a:xfrm>
          <a:prstGeom prst="roundRect">
            <a:avLst>
              <a:gd fmla="val 9091" name="adj"/>
            </a:avLst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2670048" y="3886200"/>
            <a:ext cx="7132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CRÍTICA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547872" y="3867912"/>
            <a:ext cx="2697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Nuevo registro regulatorio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6400800" y="38679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Zoetis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7900416" y="3867912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10:42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2560320" y="4306824"/>
            <a:ext cx="6217920" cy="402336"/>
          </a:xfrm>
          <a:prstGeom prst="roundRect">
            <a:avLst>
              <a:gd fmla="val 9091" name="adj"/>
            </a:avLst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2670048" y="4416552"/>
            <a:ext cx="7132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3547872" y="4398264"/>
            <a:ext cx="2697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Nuevo lanzamiento detectado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6400800" y="439826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Drag Pharma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7900416" y="439826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09:18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2560320" y="4837176"/>
            <a:ext cx="6217920" cy="402336"/>
          </a:xfrm>
          <a:prstGeom prst="roundRect">
            <a:avLst>
              <a:gd fmla="val 9091" name="adj"/>
            </a:avLst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2670048" y="4946904"/>
            <a:ext cx="7132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3547872" y="4928616"/>
            <a:ext cx="2697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Variación de precio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6400800" y="4928616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Agrovet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7900416" y="4928616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08:55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9006840" y="3401568"/>
            <a:ext cx="1783080" cy="1810512"/>
          </a:xfrm>
          <a:prstGeom prst="roundRect">
            <a:avLst>
              <a:gd fmla="val 3077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9217177" y="4270250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Consultor 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914400" y="608076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Referencia visual creada por nosotros a partir de la documentación del sistema.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06 · ARQUITECTURA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Nuestra arquitectura técnica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566305" y="969251"/>
            <a:ext cx="1024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Separamos interfaz, API, agentes, datos e IA para poder evolucionar el producto sin rehacerlo.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868680" y="1481328"/>
            <a:ext cx="10287000" cy="749808"/>
          </a:xfrm>
          <a:prstGeom prst="roundRect">
            <a:avLst>
              <a:gd fmla="val 7317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1069848" y="1609344"/>
            <a:ext cx="9884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Frontend · React + TypeScript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502775" y="1609350"/>
            <a:ext cx="6304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Dashboard · Alertas · Consultor · Administración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868680" y="2487168"/>
            <a:ext cx="10287000" cy="749808"/>
          </a:xfrm>
          <a:prstGeom prst="roundRect">
            <a:avLst>
              <a:gd fmla="val 7317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1069848" y="2615184"/>
            <a:ext cx="9884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Backend · FastAPI / Python 3.12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4502775" y="2578575"/>
            <a:ext cx="555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API REST · permisos · lógica de negocio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868680" y="3493008"/>
            <a:ext cx="4983480" cy="1078992"/>
          </a:xfrm>
          <a:prstGeom prst="roundRect">
            <a:avLst>
              <a:gd fmla="val 5085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1069848" y="3621024"/>
            <a:ext cx="4581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Agentes · Cloud Run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3657600" y="3621024"/>
            <a:ext cx="19659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569"/>
                </a:solidFill>
              </a:rPr>
              <a:t>Agente SAG (registro productos) · Agente Competidores (noticias Drag Pharma)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6172200" y="3493008"/>
            <a:ext cx="4983480" cy="1078992"/>
          </a:xfrm>
          <a:prstGeom prst="roundRect">
            <a:avLst>
              <a:gd fmla="val 5085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6373368" y="3621024"/>
            <a:ext cx="4581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Datos + IA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8961120" y="3621024"/>
            <a:ext cx="19659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Firestore · </a:t>
            </a:r>
            <a:r>
              <a:rPr lang="en-US" sz="1450">
                <a:solidFill>
                  <a:srgbClr val="475569"/>
                </a:solidFill>
              </a:rPr>
              <a:t>Gemini API + Groq API (LLM) · fastembed (embeddings locales)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868680" y="4828032"/>
            <a:ext cx="10287000" cy="749808"/>
          </a:xfrm>
          <a:prstGeom prst="roundRect">
            <a:avLst>
              <a:gd fmla="val 7317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1069848" y="4956048"/>
            <a:ext cx="9884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Seguridad + CI/CD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3657600" y="4956048"/>
            <a:ext cx="7269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569"/>
                </a:solidFill>
              </a:rPr>
              <a:t>Firebase Authentication + Firestore (role mapping)</a:t>
            </a: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· GitHub Actions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868680" y="590702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 nube documentada es Google Cloud Platform.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5669280" y="5907024"/>
            <a:ext cx="5440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Cloud Run · Cloud Scheduler · Cloud Tasks · Firestore · Vertex AI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BEAFE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07 · CALIDAD Y SEGURIDAD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594355" y="429775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Protegemos el acceso y la calidad de la información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 seguridad es parte de la solución, no un agregado al final.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868680" y="1572768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1719072" y="1783080"/>
            <a:ext cx="512064" cy="512064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>
            <a:off x="1719072" y="1938528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1069848" y="251460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Acceso por roles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1069848" y="29260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Admin · Comercial · Gerencia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1069848" y="3383280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RBAC + JWT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3429000" y="1572768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4279392" y="1783080"/>
            <a:ext cx="512064" cy="512064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"/>
          <p:cNvSpPr/>
          <p:nvPr/>
        </p:nvSpPr>
        <p:spPr>
          <a:xfrm>
            <a:off x="4279392" y="1938528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3630168" y="251460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3630168" y="29260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Identidad centralizada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3630168" y="3383280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Keycloak + OIDC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5989320" y="1572768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6839712" y="1783080"/>
            <a:ext cx="512064" cy="512064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6839712" y="1938528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6190488" y="251460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6190488" y="29260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Persistencia operacional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6190488" y="3383280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Firestore + validación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8549640" y="1572768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9400032" y="1783080"/>
            <a:ext cx="512064" cy="512064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9400032" y="1938528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8750808" y="251460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8750808" y="29260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Respuestas con contexto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8750808" y="3383280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Vertex AI + embeddings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1097280" y="4224528"/>
            <a:ext cx="10012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11827"/>
                </a:solidFill>
              </a:rPr>
              <a:t>V</a:t>
            </a: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alidamos entradas, controlamos permisos y contemplamos defensas frente a abusos y prompt injection.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051560" y="516636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658368" y="547725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Pruebas iniciales y finales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3794760" y="516636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3401568" y="547725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Monitoreo de agentes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6537960" y="516636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6144768" y="547725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Ejecuciones e historial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9281160" y="516636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Mantenimiento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8887968" y="547725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Manual y soporte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FCE7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08 · METODOLOGÍA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Trabajamos con un enfoque tradicional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Ordenamos el proyecto por fases, documentos y puntos de control.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868680" y="1600200"/>
            <a:ext cx="2267712" cy="324612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1737360" y="1783080"/>
            <a:ext cx="530352" cy="5303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1737360" y="1938528"/>
            <a:ext cx="5303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1033272" y="252374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Planificación inicial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1069848" y="3154680"/>
            <a:ext cx="18653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Constitución · EDT · Gantt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RACI · Riesgos · Pruebas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3474720" y="1600200"/>
            <a:ext cx="2267712" cy="324612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4343400" y="1783080"/>
            <a:ext cx="530352" cy="53035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4343400" y="1938528"/>
            <a:ext cx="5303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3639312" y="252374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Análisis y diseño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675888" y="3154680"/>
            <a:ext cx="18653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ERS · Datos · Arquitectura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Mockups · Calidad · Costos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6080760" y="1600200"/>
            <a:ext cx="2267712" cy="324612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6949440" y="1783080"/>
            <a:ext cx="530352" cy="53035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6949440" y="1938528"/>
            <a:ext cx="5303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6245352" y="252374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6281928" y="3154680"/>
            <a:ext cx="18653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Código · Base de datos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Minutas · Alcances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8686800" y="1600200"/>
            <a:ext cx="2267712" cy="324612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"/>
          <p:cNvSpPr/>
          <p:nvPr/>
        </p:nvSpPr>
        <p:spPr>
          <a:xfrm>
            <a:off x="9555480" y="1783080"/>
            <a:ext cx="530352" cy="53035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9555480" y="1938528"/>
            <a:ext cx="5303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8851392" y="252374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Implementación y cierre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8887968" y="3154680"/>
            <a:ext cx="18653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Pruebas finales · Implantación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Manuales · Soporte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09 · ENTREGABLES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Fase 1 · Planificación inicial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Dejamos claro qué vamos a construir, quién lo hará y cómo controlaremos el avance.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868680" y="1554480"/>
            <a:ext cx="30632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868680" y="1554480"/>
            <a:ext cx="54864" cy="14173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1051560" y="173736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1051560" y="176479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1508760" y="172821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Acta de Constitución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1069848" y="2157984"/>
            <a:ext cx="26609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Definimos objetivo y alcance.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4343400" y="1554480"/>
            <a:ext cx="30632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4343400" y="1554480"/>
            <a:ext cx="54864" cy="14173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4526280" y="173736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4526280" y="176479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4983480" y="172821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EDT + Diccionario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4544568" y="2157984"/>
            <a:ext cx="26609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Ordenamos trabajo y hitos.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7818120" y="1554480"/>
            <a:ext cx="30632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7818120" y="1554480"/>
            <a:ext cx="54864" cy="14173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8001000" y="173736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8001000" y="176479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8458200" y="172821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Carta Gantt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8019288" y="2157984"/>
            <a:ext cx="26609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Distribuimos tareas en 18 semanas.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868680" y="3401568"/>
            <a:ext cx="30632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868680" y="3401568"/>
            <a:ext cx="54864" cy="14173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1051560" y="3584448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1051560" y="361188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1508760" y="35753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RACI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1069848" y="4005072"/>
            <a:ext cx="26609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Asignamos responsables entre dos.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4343400" y="3401568"/>
            <a:ext cx="30632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4343400" y="3401568"/>
            <a:ext cx="54864" cy="14173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4526280" y="3584448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4526280" y="361188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4983480" y="35753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Matriz de Riesgos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4544568" y="4005072"/>
            <a:ext cx="26609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Priorizamos probabilidad e impacto.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7818120" y="3401568"/>
            <a:ext cx="30632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7818120" y="3401568"/>
            <a:ext cx="54864" cy="14173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8001000" y="3584448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8001000" y="361188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8458200" y="35753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 de Pruebas Inicial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8019288" y="4005072"/>
            <a:ext cx="26609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Definimos criterios antes de construir.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FCE7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1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10 · ENTREGABLES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Fase 2 · Análisis y diseño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Convertimos el problema de negocio en reglas, datos y una interfaz que podamos construir.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868680" y="1600200"/>
            <a:ext cx="48920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868680" y="1600200"/>
            <a:ext cx="54864" cy="14173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1051560" y="178308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1"/>
          <p:cNvSpPr/>
          <p:nvPr/>
        </p:nvSpPr>
        <p:spPr>
          <a:xfrm>
            <a:off x="1051560" y="181051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1508760" y="177393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ERS · Especificación de requerimientos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1069848" y="2203704"/>
            <a:ext cx="44897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Traducimos necesidades del negocio a funciones verificables.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6400800" y="1600200"/>
            <a:ext cx="47548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6400800" y="1600200"/>
            <a:ext cx="54864" cy="14173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6583680" y="1783080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6583680" y="181051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7040880" y="177393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Modelos de datos y arquitectura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6601968" y="2203704"/>
            <a:ext cx="43525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Definimos entidades, servicios y relaciones del sistema.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868680" y="3337560"/>
            <a:ext cx="48920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868680" y="3337560"/>
            <a:ext cx="54864" cy="14173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1051560" y="3520440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1051560" y="35478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1508760" y="351129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Mockups de interfaz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1069848" y="3941064"/>
            <a:ext cx="448970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Representamos dashboard, alertas y navegación principal.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6400800" y="3337560"/>
            <a:ext cx="47548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6400800" y="3337560"/>
            <a:ext cx="54864" cy="1417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6583680" y="3520440"/>
            <a:ext cx="347472" cy="34747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6583680" y="35478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7040880" y="35112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 de calidad y costos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6601968" y="3941064"/>
            <a:ext cx="43525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Establecemos controles, criterios y recursos necesarios.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868680" y="523951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Resultado de la fase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2743200" y="5202936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Una base común para frontend, backend y toma de decisiones.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2FE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2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11 · ENTREGABLES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Fase 3 · Construcción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868675" y="950975"/>
            <a:ext cx="884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Construimos, probamos por partes y verificamos que lo implementado siga el alcance acordado.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868680" y="1691640"/>
            <a:ext cx="2267712" cy="292608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1033272" y="1901952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1033272" y="2514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Código fuente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1124712" y="3200400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Implementamos frontend y backend.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1124712" y="4050792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React + FastAPI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3474720" y="1691640"/>
            <a:ext cx="2267712" cy="292608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3639312" y="1901952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3639312" y="2514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3730752" y="3200400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Creamos estructuras y scripts.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3730752" y="4050792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6080760" y="1691640"/>
            <a:ext cx="2267712" cy="292608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6245352" y="190195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6245352" y="2514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Minuta de control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6336792" y="3200400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Registramos decisiones y avances.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6336792" y="4050792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8686800" y="1691640"/>
            <a:ext cx="2267712" cy="292608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8851392" y="190195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8851392" y="2514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Verificación de alcance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8942832" y="3200400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Validamos cada entrega contra ERS.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8942832" y="4050792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Criterios de aceptación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3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12 · ENTREGABLES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Fase 4 · Implementación y cierre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Cerramos con pruebas, operación documentada y capacidad de soporte.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868680" y="1627632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868680" y="1627632"/>
            <a:ext cx="54864" cy="2057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1051560" y="1810512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1051560" y="183794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1508760" y="180136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 de Pruebas Final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1069848" y="2231136"/>
            <a:ext cx="186537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Demostramos cumplimiento funcional.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3474720" y="1627632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3474720" y="1627632"/>
            <a:ext cx="54864" cy="20574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3657600" y="1810512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3657600" y="183794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4114800" y="180136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Reporte de Estatus Final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3675888" y="2231136"/>
            <a:ext cx="186537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Dejamos trazabilidad del estado.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6080760" y="1627632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6080760" y="1627632"/>
            <a:ext cx="54864" cy="20574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6263640" y="1810512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6263640" y="183794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6720840" y="180136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 de Implantación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3"/>
          <p:cNvSpPr/>
          <p:nvPr/>
        </p:nvSpPr>
        <p:spPr>
          <a:xfrm>
            <a:off x="6281928" y="2231136"/>
            <a:ext cx="186537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Definimos puesta en marcha y soporte.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8686800" y="1627632"/>
            <a:ext cx="2267712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3"/>
          <p:cNvSpPr/>
          <p:nvPr/>
        </p:nvSpPr>
        <p:spPr>
          <a:xfrm>
            <a:off x="8686800" y="1627632"/>
            <a:ext cx="54864" cy="20574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8869680" y="1810512"/>
            <a:ext cx="347472" cy="34747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8869680" y="183794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9326880" y="180136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Manuales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8887968" y="2231136"/>
            <a:ext cx="186537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Entregamos guía de usuario y administrador.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868680" y="4133088"/>
            <a:ext cx="10287000" cy="1115568"/>
          </a:xfrm>
          <a:prstGeom prst="roundRect">
            <a:avLst>
              <a:gd fmla="val 655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1143000" y="43891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 que queremos dejar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3977640" y="4325112"/>
            <a:ext cx="6812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Sistema funcional · documentación usable · soporte definido · próximos pasos claros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BEA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13 · CRONOGRAMA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Nuestro cronograma de 18 semanas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Mantenemos una separación clara entre desarrollo y preparación de la entrega final.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868680" y="155448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Semana 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8183880" y="1554480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Semana 15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10287000" y="155448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Semana 18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868680" y="2103120"/>
            <a:ext cx="10287000" cy="658368"/>
          </a:xfrm>
          <a:prstGeom prst="roundRect">
            <a:avLst>
              <a:gd fmla="val 5556" name="adj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868680" y="2103120"/>
            <a:ext cx="8613648" cy="658368"/>
          </a:xfrm>
          <a:prstGeom prst="roundRect">
            <a:avLst>
              <a:gd fmla="val 555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9482328" y="2103120"/>
            <a:ext cx="1673352" cy="658368"/>
          </a:xfrm>
          <a:prstGeom prst="roundRect">
            <a:avLst>
              <a:gd fmla="val 5556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>
            <a:off x="1143000" y="232257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· 15 semanas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9646920" y="2322576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 · 3 semanas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14"/>
          <p:cNvCxnSpPr/>
          <p:nvPr/>
        </p:nvCxnSpPr>
        <p:spPr>
          <a:xfrm>
            <a:off x="868680" y="297180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14"/>
          <p:cNvSpPr/>
          <p:nvPr/>
        </p:nvSpPr>
        <p:spPr>
          <a:xfrm>
            <a:off x="667512" y="3429000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411480" y="37033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14"/>
          <p:cNvCxnSpPr/>
          <p:nvPr/>
        </p:nvCxnSpPr>
        <p:spPr>
          <a:xfrm>
            <a:off x="2788920" y="297180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14"/>
          <p:cNvSpPr/>
          <p:nvPr/>
        </p:nvSpPr>
        <p:spPr>
          <a:xfrm>
            <a:off x="2587752" y="3429000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2331720" y="37033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14"/>
          <p:cNvCxnSpPr/>
          <p:nvPr/>
        </p:nvCxnSpPr>
        <p:spPr>
          <a:xfrm>
            <a:off x="4846320" y="297180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1" name="Google Shape;611;p14"/>
          <p:cNvSpPr/>
          <p:nvPr/>
        </p:nvSpPr>
        <p:spPr>
          <a:xfrm>
            <a:off x="4645152" y="3429000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4389120" y="37033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14"/>
          <p:cNvCxnSpPr/>
          <p:nvPr/>
        </p:nvCxnSpPr>
        <p:spPr>
          <a:xfrm>
            <a:off x="6903720" y="297180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p14"/>
          <p:cNvSpPr/>
          <p:nvPr/>
        </p:nvSpPr>
        <p:spPr>
          <a:xfrm>
            <a:off x="6702552" y="3429000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S13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6446520" y="37033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14"/>
          <p:cNvCxnSpPr/>
          <p:nvPr/>
        </p:nvCxnSpPr>
        <p:spPr>
          <a:xfrm>
            <a:off x="8579197" y="2971800"/>
            <a:ext cx="0" cy="3657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p14"/>
          <p:cNvSpPr/>
          <p:nvPr/>
        </p:nvSpPr>
        <p:spPr>
          <a:xfrm>
            <a:off x="8378029" y="3429000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S15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8121997" y="37033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 desarrollo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9" name="Google Shape;619;p14"/>
          <p:cNvCxnSpPr/>
          <p:nvPr/>
        </p:nvCxnSpPr>
        <p:spPr>
          <a:xfrm>
            <a:off x="9555480" y="297180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14"/>
          <p:cNvSpPr/>
          <p:nvPr/>
        </p:nvSpPr>
        <p:spPr>
          <a:xfrm>
            <a:off x="9354312" y="3429000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S16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9098280" y="37033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14"/>
          <p:cNvCxnSpPr/>
          <p:nvPr/>
        </p:nvCxnSpPr>
        <p:spPr>
          <a:xfrm>
            <a:off x="10680192" y="297180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14"/>
          <p:cNvSpPr/>
          <p:nvPr/>
        </p:nvSpPr>
        <p:spPr>
          <a:xfrm>
            <a:off x="10479024" y="3429000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S18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10222992" y="37033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868680" y="45720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Inicio del proyecto: 10 de agosto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4114800" y="457200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Término desarrollo: semana 15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7543800" y="457200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Preparación y entrega: semanas 16–18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4"/>
          <p:cNvSpPr txBox="1"/>
          <p:nvPr>
            <p:ph idx="4294967295" type="sldNum"/>
          </p:nvPr>
        </p:nvSpPr>
        <p:spPr>
          <a:xfrm>
            <a:off x="11521440" y="645566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2FE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5"/>
          <p:cNvSpPr/>
          <p:nvPr/>
        </p:nvSpPr>
        <p:spPr>
          <a:xfrm>
            <a:off x="86868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14 · EQUIPO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868680" y="438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Nosotros somos dos personas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5"/>
          <p:cNvSpPr/>
          <p:nvPr/>
        </p:nvSpPr>
        <p:spPr>
          <a:xfrm>
            <a:off x="868680" y="95097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Dividimos la responsabilidad por especialidad, pero cerramos el proyecto como un solo equipo.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868680" y="1554480"/>
            <a:ext cx="489204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868680" y="1554480"/>
            <a:ext cx="54864" cy="19202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5"/>
          <p:cNvSpPr/>
          <p:nvPr/>
        </p:nvSpPr>
        <p:spPr>
          <a:xfrm>
            <a:off x="1051560" y="173736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1051560" y="176479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1508760" y="172821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Vicente Rivera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5"/>
          <p:cNvSpPr/>
          <p:nvPr/>
        </p:nvSpPr>
        <p:spPr>
          <a:xfrm>
            <a:off x="1069848" y="2157984"/>
            <a:ext cx="4489704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Líder backend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RUT 21.768.183-9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Ingeniería en Informática · Duoc UC Plaza Norte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6400800" y="1554480"/>
            <a:ext cx="475488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14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6400800" y="1554480"/>
            <a:ext cx="54864" cy="192024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6583680" y="1737360"/>
            <a:ext cx="347472" cy="34747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6583680" y="176479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FE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7040880" y="172821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Ignacio Fuenzalida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6601968" y="2157984"/>
            <a:ext cx="4352544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IT frontend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RUT 21.401.354-1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Ingeniería en Informática · Duoc UC Plaza Norte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868680" y="39776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Contrapartes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5"/>
          <p:cNvSpPr/>
          <p:nvPr/>
        </p:nvSpPr>
        <p:spPr>
          <a:xfrm>
            <a:off x="2624875" y="3913632"/>
            <a:ext cx="1463100" cy="310800"/>
          </a:xfrm>
          <a:prstGeom prst="roundRect">
            <a:avLst>
              <a:gd fmla="val 23529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2707171" y="3963924"/>
            <a:ext cx="1298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Max Kreimerman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5"/>
          <p:cNvSpPr/>
          <p:nvPr/>
        </p:nvSpPr>
        <p:spPr>
          <a:xfrm>
            <a:off x="4270795" y="3913632"/>
            <a:ext cx="1326000" cy="310800"/>
          </a:xfrm>
          <a:prstGeom prst="roundRect">
            <a:avLst>
              <a:gd fmla="val 23529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4353091" y="3963924"/>
            <a:ext cx="1161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Karina Álvarez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5"/>
          <p:cNvSpPr/>
          <p:nvPr/>
        </p:nvSpPr>
        <p:spPr>
          <a:xfrm>
            <a:off x="868673" y="466345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Cómo nos repartimos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868680" y="5102352"/>
            <a:ext cx="1371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Backend / API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3703320" y="5102352"/>
            <a:ext cx="1371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Frontend / UX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6537960" y="510235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8458200" y="5102352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Pruebas + documentación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5"/>
          <p:cNvSpPr txBox="1"/>
          <p:nvPr>
            <p:ph idx="4294967295" type="sldNum"/>
          </p:nvPr>
        </p:nvSpPr>
        <p:spPr>
          <a:xfrm>
            <a:off x="11521440" y="645566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2026-09-03T14:50:57Z</dcterms:created>
  <dc:creator>Vicente Rivera / Ignacio Fuenzalida</dc:creator>
</cp:coreProperties>
</file>