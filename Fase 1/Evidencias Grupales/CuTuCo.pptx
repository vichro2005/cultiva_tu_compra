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1675"/>
  <p:notesSz cx="6858000" cy="12191675"/>
  <p:embeddedFontLst>
    <p:embeddedFont>
      <p:font typeface="Inter"/>
      <p:bold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g/dNg/8dukiy3MkinTFhgrQJpW5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E600357-4874-4C85-B6B8-E70CDC60005B}">
  <a:tblStyle styleId="{CE600357-4874-4C85-B6B8-E70CDC60005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Inter-boldItalic.fntdata"/><Relationship Id="rId10" Type="http://schemas.openxmlformats.org/officeDocument/2006/relationships/slide" Target="slides/slide5.xml"/><Relationship Id="rId21" Type="http://schemas.openxmlformats.org/officeDocument/2006/relationships/font" Target="fonts/Inter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fb441f01f2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fb441f01f2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g3fb441f01f2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b441f01f2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fb441f01f2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g3fb441f01f2_0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441f01f2_0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b441f01f2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fb441f01f2_0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fb441f01f2_0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fb441f01f2_0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fb441f01f2_0_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b441f01f2_0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fb441f01f2_0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fb441f01f2_0_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fb441f01f2_0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fb441f01f2_0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fb441f01f2_0_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fb441f01f2_0_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fb441f01f2_0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3fb441f01f2_0_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fb441f01f2_0_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fb441f01f2_0_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3fb441f01f2_0_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fb441f01f2_0_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fb441f01f2_0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g3fb441f01f2_0_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fb441f01f2_0_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fb441f01f2_0_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g3fb441f01f2_0_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fb441f01f2_0_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fb441f01f2_0_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g3fb441f01f2_0_4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fb441f01f2_0_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fb441f01f2_0_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g3fb441f01f2_0_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fb441f01f2_0_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fb441f01f2_0_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g3fb441f01f2_0_5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fb441f01f2_0_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fb441f01f2_0_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g3fb441f01f2_0_5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fb441f01f2_0_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3fb441f01f2_0_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g3fb441f01f2_0_6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bg>
      <p:bgPr>
        <a:solidFill>
          <a:srgbClr val="000000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8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" name="Google Shape;15;p17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76875" y="65589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2">
  <p:cSld name="Slide master 2">
    <p:bg>
      <p:bgPr>
        <a:solidFill>
          <a:srgbClr val="000000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" name="Google Shape;19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8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18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76875" y="65589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3">
  <p:cSld name="Slide master 3">
    <p:bg>
      <p:bgPr>
        <a:solidFill>
          <a:srgbClr val="000000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1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76875" y="65589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4">
  <p:cSld name="Slide master 4">
    <p:bg>
      <p:bgPr>
        <a:solidFill>
          <a:srgbClr val="000000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2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8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" name="Google Shape;31;p20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76875" y="65589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5">
  <p:cSld name="Slide master 5">
    <p:bg>
      <p:bgPr>
        <a:solidFill>
          <a:srgbClr val="000000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" name="Google Shape;35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2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8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21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76875" y="65589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6">
  <p:cSld name="Slide master 6">
    <p:bg>
      <p:bgPr>
        <a:solidFill>
          <a:srgbClr val="000000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2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8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" name="Google Shape;43;p2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76875" y="65589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7">
  <p:cSld name="Slide master 7">
    <p:bg>
      <p:bgPr>
        <a:solidFill>
          <a:srgbClr val="000000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" name="Google Shape;47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2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8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23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76875" y="65589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8">
  <p:cSld name="Slide master 8">
    <p:bg>
      <p:bgPr>
        <a:solidFill>
          <a:srgbClr val="000000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3" name="Google Shape;53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8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5" name="Google Shape;55;p2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76875" y="65589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9">
  <p:cSld name="Slide master 9">
    <p:bg>
      <p:bgPr>
        <a:solidFill>
          <a:srgbClr val="000000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9" name="Google Shape;59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2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8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1" name="Google Shape;61;p25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76875" y="65589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0">
  <p:cSld name="Slide master 10">
    <p:bg>
      <p:bgPr>
        <a:solidFill>
          <a:srgbClr val="000000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5" name="Google Shape;65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2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8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7" name="Google Shape;67;p26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76875" y="65589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1">
  <p:cSld name="Slide master 11">
    <p:bg>
      <p:bgPr>
        <a:solidFill>
          <a:srgbClr val="000000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2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1" name="Google Shape;71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2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8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3" name="Google Shape;73;p27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76875" y="65589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2">
  <p:cSld name="Slide master 12">
    <p:bg>
      <p:bgPr>
        <a:solidFill>
          <a:srgbClr val="000000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2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7" name="Google Shape;77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2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8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9" name="Google Shape;79;p28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76875" y="65589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3">
  <p:cSld name="Slide master 13">
    <p:bg>
      <p:bgPr>
        <a:solidFill>
          <a:srgbClr val="000000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3" name="Google Shape;83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2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8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5" name="Google Shape;85;p29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76875" y="65589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4">
  <p:cSld name="Slide master 14">
    <p:bg>
      <p:bgPr>
        <a:solidFill>
          <a:srgbClr val="000000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3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9" name="Google Shape;89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3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8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1" name="Google Shape;91;p30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76875" y="65589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5">
  <p:cSld name="Slide master 15">
    <p:bg>
      <p:bgPr>
        <a:solidFill>
          <a:srgbClr val="000000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5" name="Google Shape;95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3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8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7" name="Google Shape;97;p31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76875" y="65589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1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21.png"/><Relationship Id="rId5" Type="http://schemas.openxmlformats.org/officeDocument/2006/relationships/image" Target="../media/image2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5.png"/><Relationship Id="rId4" Type="http://schemas.openxmlformats.org/officeDocument/2006/relationships/image" Target="../media/image28.png"/><Relationship Id="rId5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0.png"/><Relationship Id="rId4" Type="http://schemas.openxmlformats.org/officeDocument/2006/relationships/image" Target="../media/image29.png"/><Relationship Id="rId5" Type="http://schemas.openxmlformats.org/officeDocument/2006/relationships/image" Target="../media/image31.png"/><Relationship Id="rId6" Type="http://schemas.openxmlformats.org/officeDocument/2006/relationships/image" Target="../media/image3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4.png"/><Relationship Id="rId4" Type="http://schemas.openxmlformats.org/officeDocument/2006/relationships/image" Target="../media/image3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DAF8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01.png" id="104" name="Google Shape;104;g3fb441f01f2_0_4"/>
          <p:cNvPicPr preferRelativeResize="0"/>
          <p:nvPr/>
        </p:nvPicPr>
        <p:blipFill rotWithShape="1">
          <a:blip r:embed="rId3">
            <a:alphaModFix amt="50000"/>
          </a:blip>
          <a:srcRect b="0" l="0" r="0" t="0"/>
          <a:stretch/>
        </p:blipFill>
        <p:spPr>
          <a:xfrm>
            <a:off x="0" y="0"/>
            <a:ext cx="1219169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g3fb441f01f2_0_4"/>
          <p:cNvSpPr/>
          <p:nvPr/>
        </p:nvSpPr>
        <p:spPr>
          <a:xfrm>
            <a:off x="661475" y="711994"/>
            <a:ext cx="10868700" cy="17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150"/>
              <a:buFont typeface="Inter"/>
              <a:buNone/>
            </a:pPr>
            <a:r>
              <a:rPr b="1" i="0" lang="en-US" sz="111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CuTuCo</a:t>
            </a:r>
            <a:endParaRPr b="0" i="0" sz="1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g3fb441f01f2_0_4"/>
          <p:cNvSpPr/>
          <p:nvPr/>
        </p:nvSpPr>
        <p:spPr>
          <a:xfrm>
            <a:off x="661475" y="2767509"/>
            <a:ext cx="10868700" cy="9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50"/>
              <a:buFont typeface="Inter"/>
              <a:buNone/>
            </a:pPr>
            <a:r>
              <a:rPr b="1" i="0" lang="en-US" sz="29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Cultiva Tu Compra - Marketplace SaaS B2B2C para la Agricultura Familiar Campesina</a:t>
            </a:r>
            <a:endParaRPr b="0" i="0" sz="2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g3fb441f01f2_0_4"/>
          <p:cNvSpPr/>
          <p:nvPr/>
        </p:nvSpPr>
        <p:spPr>
          <a:xfrm>
            <a:off x="661475" y="3995936"/>
            <a:ext cx="10868700" cy="6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None/>
            </a:pPr>
            <a:r>
              <a:rPr b="0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    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g3fb441f01f2_0_4"/>
          <p:cNvSpPr/>
          <p:nvPr/>
        </p:nvSpPr>
        <p:spPr>
          <a:xfrm>
            <a:off x="661475" y="4813399"/>
            <a:ext cx="10868700" cy="13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None/>
            </a:pPr>
            <a:r>
              <a:rPr b="0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Proyecto Capstone - Ingeniería en Informática, Duoc UC Plaza Norte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3000"/>
              </a:lnSpc>
              <a:spcBef>
                <a:spcPts val="165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None/>
            </a:pPr>
            <a:r>
              <a:rPr b="0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Vicente Rivera (</a:t>
            </a:r>
            <a:r>
              <a:rPr b="1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Líder Backend - Jefe de Proyecto</a:t>
            </a:r>
            <a:r>
              <a:rPr b="0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) | Ignacio Fuenzalida (</a:t>
            </a:r>
            <a:r>
              <a:rPr b="1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IT Frontend</a:t>
            </a:r>
            <a:r>
              <a:rPr b="0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3000"/>
              </a:lnSpc>
              <a:spcBef>
                <a:spcPts val="165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None/>
            </a:pPr>
            <a:r>
              <a:rPr b="0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Inicio: 11/09/2026 | Duración: 13 semanas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DAF8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02.png" id="114" name="Google Shape;114;g3fb441f01f2_0_8"/>
          <p:cNvPicPr preferRelativeResize="0"/>
          <p:nvPr/>
        </p:nvPicPr>
        <p:blipFill rotWithShape="1">
          <a:blip r:embed="rId3">
            <a:alphaModFix amt="50000"/>
          </a:blip>
          <a:srcRect b="0" l="0" r="0" t="0"/>
          <a:stretch/>
        </p:blipFill>
        <p:spPr>
          <a:xfrm>
            <a:off x="0" y="0"/>
            <a:ext cx="1219169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g3fb441f01f2_0_8"/>
          <p:cNvSpPr/>
          <p:nvPr/>
        </p:nvSpPr>
        <p:spPr>
          <a:xfrm>
            <a:off x="370475" y="2508475"/>
            <a:ext cx="10902000" cy="26019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3fb441f01f2_0_8"/>
          <p:cNvSpPr/>
          <p:nvPr/>
        </p:nvSpPr>
        <p:spPr>
          <a:xfrm>
            <a:off x="661475" y="1865015"/>
            <a:ext cx="10868700" cy="4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50"/>
              <a:buFont typeface="Inter"/>
              <a:buNone/>
            </a:pPr>
            <a:r>
              <a:rPr b="1" i="0" lang="en-US" sz="29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¿En qué consiste el proyecto?</a:t>
            </a:r>
            <a:endParaRPr b="0" i="0" sz="2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g3fb441f01f2_0_8"/>
          <p:cNvSpPr/>
          <p:nvPr/>
        </p:nvSpPr>
        <p:spPr>
          <a:xfrm>
            <a:off x="661475" y="2620963"/>
            <a:ext cx="10868700" cy="6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None/>
            </a:pPr>
            <a:r>
              <a:rPr b="0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CuTuCo es un Marketplace SaaS B2B2C de comercio de proximidad que conecta directamente a productores AFC (Agricultura Familiar Campesina) con clientes finales y comercios. Elimina la intermediación que reduce el margen del pequeño productor.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g3fb441f01f2_0_8"/>
          <p:cNvSpPr/>
          <p:nvPr/>
        </p:nvSpPr>
        <p:spPr>
          <a:xfrm>
            <a:off x="661475" y="3438426"/>
            <a:ext cx="10868700" cy="10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Char char="•"/>
            </a:pPr>
            <a:r>
              <a:rPr b="0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Marketplace SaaS B2B2C de comercio de proximidad.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Char char="•"/>
            </a:pPr>
            <a:r>
              <a:rPr b="0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Conecta directamente a productores AFC (Agricultura Familiar Campesina) con clientes finales y comercios.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Char char="•"/>
            </a:pPr>
            <a:r>
              <a:rPr b="0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Elimina la intermediación que reduce el margen del pequeño productor.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g3fb441f01f2_0_8"/>
          <p:cNvSpPr/>
          <p:nvPr/>
        </p:nvSpPr>
        <p:spPr>
          <a:xfrm>
            <a:off x="661475" y="4690467"/>
            <a:ext cx="114783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None/>
            </a:pPr>
            <a:r>
              <a:rPr b="0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Parte de un MVP existente (Ionic + Angular + SQLite) que se reingenierará hacia arquitectura web desacoplada.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DAF8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03.png" id="125" name="Google Shape;125;g3fb441f01f2_0_12"/>
          <p:cNvPicPr preferRelativeResize="0"/>
          <p:nvPr/>
        </p:nvPicPr>
        <p:blipFill rotWithShape="1">
          <a:blip r:embed="rId3">
            <a:alphaModFix amt="50000"/>
          </a:blip>
          <a:srcRect b="0" l="0" r="0" t="0"/>
          <a:stretch/>
        </p:blipFill>
        <p:spPr>
          <a:xfrm>
            <a:off x="0" y="0"/>
            <a:ext cx="1219169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g3fb441f01f2_0_12"/>
          <p:cNvSpPr/>
          <p:nvPr/>
        </p:nvSpPr>
        <p:spPr>
          <a:xfrm>
            <a:off x="455325" y="4827475"/>
            <a:ext cx="11241600" cy="15837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fb441f01f2_0_12"/>
          <p:cNvSpPr/>
          <p:nvPr/>
        </p:nvSpPr>
        <p:spPr>
          <a:xfrm>
            <a:off x="6002950" y="3328588"/>
            <a:ext cx="5062200" cy="12162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3fb441f01f2_0_12"/>
          <p:cNvSpPr/>
          <p:nvPr/>
        </p:nvSpPr>
        <p:spPr>
          <a:xfrm>
            <a:off x="370475" y="3328600"/>
            <a:ext cx="5062200" cy="12162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9" name="Google Shape;129;g3fb441f01f2_0_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1697" cy="2215059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g3fb441f01f2_0_12"/>
          <p:cNvSpPr/>
          <p:nvPr/>
        </p:nvSpPr>
        <p:spPr>
          <a:xfrm>
            <a:off x="661475" y="2766616"/>
            <a:ext cx="108687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0"/>
              <a:buFont typeface="Inter"/>
              <a:buNone/>
            </a:pPr>
            <a:r>
              <a:rPr b="1" i="0" lang="en-US" sz="2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Relevancia para el campo laboral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g3fb441f01f2_0_12"/>
          <p:cNvSpPr/>
          <p:nvPr/>
        </p:nvSpPr>
        <p:spPr>
          <a:xfrm>
            <a:off x="661475" y="3624858"/>
            <a:ext cx="5218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Inter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E-commerce: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g3fb441f01f2_0_12"/>
          <p:cNvSpPr/>
          <p:nvPr/>
        </p:nvSpPr>
        <p:spPr>
          <a:xfrm>
            <a:off x="661475" y="4067870"/>
            <a:ext cx="58278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b="0" i="0" lang="en-US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tienda de un solo vendedor con catálogo centralizado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g3fb441f01f2_0_12"/>
          <p:cNvSpPr/>
          <p:nvPr/>
        </p:nvSpPr>
        <p:spPr>
          <a:xfrm>
            <a:off x="6311965" y="3479983"/>
            <a:ext cx="5218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Inter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Marketplace: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g3fb441f01f2_0_12"/>
          <p:cNvSpPr/>
          <p:nvPr/>
        </p:nvSpPr>
        <p:spPr>
          <a:xfrm>
            <a:off x="6311965" y="3922995"/>
            <a:ext cx="5218200" cy="5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b="0" i="0" lang="en-US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orquesta N vendedores y M compradores, gestionando confianza, pagos, logística y reglas distribuidas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g3fb441f01f2_0_12"/>
          <p:cNvSpPr/>
          <p:nvPr/>
        </p:nvSpPr>
        <p:spPr>
          <a:xfrm>
            <a:off x="661475" y="4953397"/>
            <a:ext cx="114783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b="0" i="0" lang="en-US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Este proyecto aborda desafíos clave que lo hacen altamente relevante para el campo laboral actual: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g3fb441f01f2_0_12"/>
          <p:cNvSpPr/>
          <p:nvPr/>
        </p:nvSpPr>
        <p:spPr>
          <a:xfrm>
            <a:off x="661475" y="5414863"/>
            <a:ext cx="398700" cy="398700"/>
          </a:xfrm>
          <a:prstGeom prst="roundRect">
            <a:avLst>
              <a:gd fmla="val 18669" name="adj"/>
            </a:avLst>
          </a:prstGeom>
          <a:solidFill>
            <a:srgbClr val="8E7C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fb441f01f2_0_12"/>
          <p:cNvSpPr/>
          <p:nvPr/>
        </p:nvSpPr>
        <p:spPr>
          <a:xfrm>
            <a:off x="1226214" y="5475684"/>
            <a:ext cx="2919600" cy="5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Inter"/>
              <a:buNone/>
            </a:pPr>
            <a:r>
              <a:rPr b="1" i="0" lang="en-US" sz="17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Arquitectura distribuida y concurrencia de stock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g3fb441f01f2_0_12"/>
          <p:cNvSpPr/>
          <p:nvPr/>
        </p:nvSpPr>
        <p:spPr>
          <a:xfrm>
            <a:off x="4353610" y="5414863"/>
            <a:ext cx="398700" cy="398700"/>
          </a:xfrm>
          <a:prstGeom prst="roundRect">
            <a:avLst>
              <a:gd fmla="val 18669" name="adj"/>
            </a:avLst>
          </a:prstGeom>
          <a:solidFill>
            <a:srgbClr val="8E7C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fb441f01f2_0_12"/>
          <p:cNvSpPr/>
          <p:nvPr/>
        </p:nvSpPr>
        <p:spPr>
          <a:xfrm>
            <a:off x="4918349" y="5475684"/>
            <a:ext cx="2919600" cy="5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Inter"/>
              <a:buNone/>
            </a:pPr>
            <a:r>
              <a:rPr b="1" i="0" lang="en-US" sz="17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Pagos reales con Transbank Webpay Plus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g3fb441f01f2_0_12"/>
          <p:cNvSpPr/>
          <p:nvPr/>
        </p:nvSpPr>
        <p:spPr>
          <a:xfrm>
            <a:off x="8045745" y="5414863"/>
            <a:ext cx="398700" cy="398700"/>
          </a:xfrm>
          <a:prstGeom prst="roundRect">
            <a:avLst>
              <a:gd fmla="val 18669" name="adj"/>
            </a:avLst>
          </a:prstGeom>
          <a:solidFill>
            <a:srgbClr val="8E7C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g3fb441f01f2_0_12"/>
          <p:cNvSpPr/>
          <p:nvPr/>
        </p:nvSpPr>
        <p:spPr>
          <a:xfrm>
            <a:off x="8652259" y="5337234"/>
            <a:ext cx="2919600" cy="8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Inter"/>
              <a:buNone/>
            </a:pPr>
            <a:r>
              <a:rPr b="1" i="0" lang="en-US" sz="17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Geolocalización, custodia de dinero y reputación algorítmica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DAF8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fb441f01f2_0_16"/>
          <p:cNvSpPr/>
          <p:nvPr/>
        </p:nvSpPr>
        <p:spPr>
          <a:xfrm>
            <a:off x="271500" y="2975100"/>
            <a:ext cx="11510100" cy="3153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bg_04.png" id="148" name="Google Shape;148;g3fb441f01f2_0_16"/>
          <p:cNvPicPr preferRelativeResize="0"/>
          <p:nvPr/>
        </p:nvPicPr>
        <p:blipFill rotWithShape="1">
          <a:blip r:embed="rId3">
            <a:alphaModFix amt="50000"/>
          </a:blip>
          <a:srcRect b="0" l="0" r="0" t="0"/>
          <a:stretch/>
        </p:blipFill>
        <p:spPr>
          <a:xfrm>
            <a:off x="0" y="0"/>
            <a:ext cx="1219169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g3fb441f01f2_0_16"/>
          <p:cNvSpPr/>
          <p:nvPr/>
        </p:nvSpPr>
        <p:spPr>
          <a:xfrm>
            <a:off x="661475" y="1132582"/>
            <a:ext cx="10868700" cy="4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50"/>
              <a:buFont typeface="Inter"/>
              <a:buNone/>
            </a:pPr>
            <a:r>
              <a:rPr b="1" i="0" lang="en-US" sz="29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Brecha tecnológica y de intermediación</a:t>
            </a:r>
            <a:endParaRPr b="0" i="0" sz="2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g3fb441f01f2_0_16"/>
          <p:cNvSpPr/>
          <p:nvPr/>
        </p:nvSpPr>
        <p:spPr>
          <a:xfrm>
            <a:off x="661475" y="1888530"/>
            <a:ext cx="10868700" cy="9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None/>
            </a:pPr>
            <a:r>
              <a:rPr b="0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Miles de pequeños productores no pueden costear hosting, desarrollo y mantención de tiendas propias. La intermediación abusiva reduce su margen. Competencia analizada (CampoClick, Fresh &amp; Co, Savia) funciona como directorios o logística rígida, sin carrito multivendedor real.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g3fb441f01f2_0_16"/>
          <p:cNvSpPr/>
          <p:nvPr/>
        </p:nvSpPr>
        <p:spPr>
          <a:xfrm>
            <a:off x="661475" y="3079254"/>
            <a:ext cx="10868700" cy="4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50"/>
              <a:buFont typeface="Inter"/>
              <a:buNone/>
            </a:pPr>
            <a:r>
              <a:rPr b="1" i="0" lang="en-US" sz="29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Por qué CuTuCo es innovador</a:t>
            </a:r>
            <a:endParaRPr b="0" i="0" sz="2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2" name="Google Shape;152;g3fb441f01f2_0_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6075" y="3809802"/>
            <a:ext cx="3490825" cy="958056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g3fb441f01f2_0_16"/>
          <p:cNvSpPr/>
          <p:nvPr/>
        </p:nvSpPr>
        <p:spPr>
          <a:xfrm>
            <a:off x="901281" y="3835202"/>
            <a:ext cx="3225600" cy="9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None/>
            </a:pPr>
            <a:r>
              <a:rPr b="0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Integra compra directa B2C/B2B, algo que ninguna plataforma local ofrece de forma completa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4" name="Google Shape;154;g3fb441f01f2_0_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37735" y="3809802"/>
            <a:ext cx="3490825" cy="958056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g3fb441f01f2_0_16"/>
          <p:cNvSpPr/>
          <p:nvPr/>
        </p:nvSpPr>
        <p:spPr>
          <a:xfrm>
            <a:off x="4602940" y="3835202"/>
            <a:ext cx="3225600" cy="9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None/>
            </a:pPr>
            <a:r>
              <a:rPr b="0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Pago con protección transaccional (escrow): el dinero queda retenido hasta confirmar la entrega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6" name="Google Shape;156;g3fb441f01f2_0_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39395" y="3809802"/>
            <a:ext cx="3490825" cy="958056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g3fb441f01f2_0_16"/>
          <p:cNvSpPr/>
          <p:nvPr/>
        </p:nvSpPr>
        <p:spPr>
          <a:xfrm>
            <a:off x="8304600" y="3835202"/>
            <a:ext cx="3225600" cy="9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None/>
            </a:pPr>
            <a:r>
              <a:rPr b="0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Logística de ruta corta por geolocalización, asegurando comercio de proximidad real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8" name="Google Shape;158;g3fb441f01f2_0_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6075" y="5095081"/>
            <a:ext cx="5341605" cy="655638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g3fb441f01f2_0_16"/>
          <p:cNvSpPr/>
          <p:nvPr/>
        </p:nvSpPr>
        <p:spPr>
          <a:xfrm>
            <a:off x="901281" y="5120481"/>
            <a:ext cx="5076300" cy="6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None/>
            </a:pPr>
            <a:r>
              <a:rPr b="0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Trazabilidad de precios por región/comuna, comparando el marketplace contra el mercado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0" name="Google Shape;160;g3fb441f01f2_0_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88515" y="5095081"/>
            <a:ext cx="5341706" cy="655638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g3fb441f01f2_0_16"/>
          <p:cNvSpPr/>
          <p:nvPr/>
        </p:nvSpPr>
        <p:spPr>
          <a:xfrm>
            <a:off x="6453721" y="5120481"/>
            <a:ext cx="5076600" cy="6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None/>
            </a:pPr>
            <a:r>
              <a:rPr b="0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Mecanismos anti-fraude: evidencia fotográfica obligatoria y reputación algorítmica con sanciones automáticas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DAF8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05.png" id="167" name="Google Shape;167;g3fb441f01f2_0_20"/>
          <p:cNvPicPr preferRelativeResize="0"/>
          <p:nvPr/>
        </p:nvPicPr>
        <p:blipFill rotWithShape="1">
          <a:blip r:embed="rId3">
            <a:alphaModFix amt="50000"/>
          </a:blip>
          <a:srcRect b="0" l="0" r="0" t="0"/>
          <a:stretch/>
        </p:blipFill>
        <p:spPr>
          <a:xfrm>
            <a:off x="0" y="0"/>
            <a:ext cx="1219169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g3fb441f01f2_0_20"/>
          <p:cNvSpPr/>
          <p:nvPr/>
        </p:nvSpPr>
        <p:spPr>
          <a:xfrm>
            <a:off x="497725" y="1405525"/>
            <a:ext cx="11298000" cy="4496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g3fb441f01f2_0_20"/>
          <p:cNvSpPr/>
          <p:nvPr/>
        </p:nvSpPr>
        <p:spPr>
          <a:xfrm>
            <a:off x="661475" y="1938338"/>
            <a:ext cx="10868700" cy="4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50"/>
              <a:buFont typeface="Inter"/>
              <a:buNone/>
            </a:pPr>
            <a:r>
              <a:rPr b="1" i="0" lang="en-US" sz="29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Objetivo General</a:t>
            </a:r>
            <a:endParaRPr b="0" i="0" sz="2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g3fb441f01f2_0_20"/>
          <p:cNvSpPr/>
          <p:nvPr/>
        </p:nvSpPr>
        <p:spPr>
          <a:xfrm>
            <a:off x="661475" y="2694275"/>
            <a:ext cx="9225300" cy="6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None/>
            </a:pPr>
            <a:r>
              <a:rPr b="0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Implementar la evolución de CuTuCo desde un prototipo móvil local (Ionic/SQLite) hacia un Marketplace SaaS B2B2C productivo.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g3fb441f01f2_0_20"/>
          <p:cNvSpPr/>
          <p:nvPr/>
        </p:nvSpPr>
        <p:spPr>
          <a:xfrm>
            <a:off x="661475" y="3511748"/>
            <a:ext cx="10868700" cy="14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Char char="•"/>
            </a:pPr>
            <a:r>
              <a:rPr b="0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Backend desacoplado en FastAPI + PostgreSQL (Supabase)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Char char="•"/>
            </a:pPr>
            <a:r>
              <a:rPr b="0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Frontend web responsive en Vue.js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Char char="•"/>
            </a:pPr>
            <a:r>
              <a:rPr b="0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Integración real con Transbank Webpay Plus en modalidad escrow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Char char="•"/>
            </a:pPr>
            <a:r>
              <a:rPr b="0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Dashboard administrativo con métricas transaccionales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DAF8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fb441f01f2_0_24"/>
          <p:cNvSpPr/>
          <p:nvPr/>
        </p:nvSpPr>
        <p:spPr>
          <a:xfrm>
            <a:off x="398750" y="2890250"/>
            <a:ext cx="10647600" cy="2686800"/>
          </a:xfrm>
          <a:prstGeom prst="wedgeRoundRectCallout">
            <a:avLst>
              <a:gd fmla="val -30876" name="adj1"/>
              <a:gd fmla="val -62105" name="adj2"/>
              <a:gd fmla="val 0" name="adj3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bg_06.png" id="178" name="Google Shape;178;g3fb441f01f2_0_24"/>
          <p:cNvPicPr preferRelativeResize="0"/>
          <p:nvPr/>
        </p:nvPicPr>
        <p:blipFill rotWithShape="1">
          <a:blip r:embed="rId3">
            <a:alphaModFix amt="50000"/>
          </a:blip>
          <a:srcRect b="0" l="0" r="0" t="0"/>
          <a:stretch/>
        </p:blipFill>
        <p:spPr>
          <a:xfrm>
            <a:off x="0" y="0"/>
            <a:ext cx="1219169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g3fb441f01f2_0_24"/>
          <p:cNvSpPr/>
          <p:nvPr/>
        </p:nvSpPr>
        <p:spPr>
          <a:xfrm>
            <a:off x="661475" y="2011561"/>
            <a:ext cx="10868700" cy="4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50"/>
              <a:buFont typeface="Inter"/>
              <a:buNone/>
            </a:pPr>
            <a:r>
              <a:rPr b="1" i="0" lang="en-US" sz="29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Objetivos Específicos</a:t>
            </a:r>
            <a:endParaRPr b="0" i="0" sz="2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g3fb441f01f2_0_24"/>
          <p:cNvSpPr/>
          <p:nvPr/>
        </p:nvSpPr>
        <p:spPr>
          <a:xfrm>
            <a:off x="661500" y="3325100"/>
            <a:ext cx="10384800" cy="18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Char char="•"/>
            </a:pPr>
            <a:r>
              <a:rPr b="0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Migrar persistencia de SQLite a PostgreSQL (Supabase), remodelando el ER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Char char="•"/>
            </a:pPr>
            <a:r>
              <a:rPr b="0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Implementar stack: Vue.js + Vite, FastAPI + Docker en Cloud Run, PostgreSQL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Char char="•"/>
            </a:pPr>
            <a:r>
              <a:rPr b="0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Desarrollar el alcance oficial validado: autenticación multirrol, pago en custodia, reputación, evidencia fotográfica, historial de precios, cobertura geográfica, delivery y dashboard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Char char="•"/>
            </a:pPr>
            <a:r>
              <a:rPr b="0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Asegurar calidad con pruebas unitarias, integración y E2E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Char char="•"/>
            </a:pPr>
            <a:r>
              <a:rPr b="0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Documentar arquitectura (Opción A y B) y dejar manuales de usuario/soporte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DAF8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07.png" id="186" name="Google Shape;186;g3fb441f01f2_0_28"/>
          <p:cNvPicPr preferRelativeResize="0"/>
          <p:nvPr/>
        </p:nvPicPr>
        <p:blipFill rotWithShape="1">
          <a:blip r:embed="rId3">
            <a:alphaModFix amt="50000"/>
          </a:blip>
          <a:srcRect b="0" l="0" r="0" t="0"/>
          <a:stretch/>
        </p:blipFill>
        <p:spPr>
          <a:xfrm>
            <a:off x="0" y="0"/>
            <a:ext cx="1219169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g3fb441f01f2_0_28"/>
          <p:cNvSpPr/>
          <p:nvPr/>
        </p:nvSpPr>
        <p:spPr>
          <a:xfrm>
            <a:off x="5995125" y="2032750"/>
            <a:ext cx="5444100" cy="17766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CE5C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3fb441f01f2_0_28"/>
          <p:cNvSpPr/>
          <p:nvPr/>
        </p:nvSpPr>
        <p:spPr>
          <a:xfrm>
            <a:off x="661475" y="724098"/>
            <a:ext cx="10868700" cy="4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50"/>
              <a:buFont typeface="Inter"/>
              <a:buNone/>
            </a:pPr>
            <a:r>
              <a:rPr b="1" i="0" lang="en-US" sz="29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Alcance del Proyecto</a:t>
            </a:r>
            <a:endParaRPr b="0" i="0" sz="2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g3fb441f01f2_0_28"/>
          <p:cNvSpPr/>
          <p:nvPr/>
        </p:nvSpPr>
        <p:spPr>
          <a:xfrm>
            <a:off x="285625" y="2032750"/>
            <a:ext cx="5444100" cy="38553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g3fb441f01f2_0_28"/>
          <p:cNvSpPr/>
          <p:nvPr/>
        </p:nvSpPr>
        <p:spPr>
          <a:xfrm>
            <a:off x="658300" y="1584233"/>
            <a:ext cx="52038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Funcionalidades incluidas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g3fb441f01f2_0_28"/>
          <p:cNvSpPr/>
          <p:nvPr/>
        </p:nvSpPr>
        <p:spPr>
          <a:xfrm>
            <a:off x="661475" y="2212479"/>
            <a:ext cx="5203800" cy="38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Char char="•"/>
            </a:pPr>
            <a:r>
              <a:rPr b="0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Autenticación y perfiles multirrol (Cliente, Vendedor, Admin)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Char char="•"/>
            </a:pPr>
            <a:r>
              <a:rPr b="0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Pago en Custodia (Escrow) vía Webpay Plus Test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Char char="•"/>
            </a:pPr>
            <a:r>
              <a:rPr b="0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Sistema de Reputación Algorítmico y sanciones automáticas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Char char="•"/>
            </a:pPr>
            <a:r>
              <a:rPr b="0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Evidencia fotográfica obligatoria ante disputas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Char char="•"/>
            </a:pPr>
            <a:r>
              <a:rPr b="0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Historial y trazabilidad de precios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Char char="•"/>
            </a:pPr>
            <a:r>
              <a:rPr b="0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Venta restringida por cobertura geográfica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Char char="•"/>
            </a:pPr>
            <a:r>
              <a:rPr b="0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Avisos de stock bajo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Char char="•"/>
            </a:pPr>
            <a:r>
              <a:rPr b="0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Seguimiento de delivery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Char char="•"/>
            </a:pPr>
            <a:r>
              <a:rPr b="0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Dashboard Admin con KPIs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g3fb441f01f2_0_28"/>
          <p:cNvSpPr/>
          <p:nvPr/>
        </p:nvSpPr>
        <p:spPr>
          <a:xfrm>
            <a:off x="6332776" y="1584233"/>
            <a:ext cx="52038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Fuera de alcance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g3fb441f01f2_0_28"/>
          <p:cNvSpPr/>
          <p:nvPr/>
        </p:nvSpPr>
        <p:spPr>
          <a:xfrm>
            <a:off x="6332776" y="2212479"/>
            <a:ext cx="5203800" cy="14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Char char="•"/>
            </a:pPr>
            <a:r>
              <a:rPr b="0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OAuth social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Char char="•"/>
            </a:pPr>
            <a:r>
              <a:rPr b="0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IA de moderación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Char char="•"/>
            </a:pPr>
            <a:r>
              <a:rPr b="0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Pasarelas múltiples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Char char="•"/>
            </a:pPr>
            <a:r>
              <a:rPr b="0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Tracking GPS en tiempo real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DAF8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08.png" id="199" name="Google Shape;199;g3fb441f01f2_0_32"/>
          <p:cNvPicPr preferRelativeResize="0"/>
          <p:nvPr/>
        </p:nvPicPr>
        <p:blipFill rotWithShape="1">
          <a:blip r:embed="rId3">
            <a:alphaModFix amt="50000"/>
          </a:blip>
          <a:srcRect b="0" l="0" r="0" t="0"/>
          <a:stretch/>
        </p:blipFill>
        <p:spPr>
          <a:xfrm>
            <a:off x="0" y="0"/>
            <a:ext cx="1219169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g3fb441f01f2_0_32"/>
          <p:cNvSpPr/>
          <p:nvPr/>
        </p:nvSpPr>
        <p:spPr>
          <a:xfrm>
            <a:off x="661475" y="1310878"/>
            <a:ext cx="10868700" cy="4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50"/>
              <a:buFont typeface="Inter"/>
              <a:buNone/>
            </a:pPr>
            <a:r>
              <a:rPr b="1" i="0" lang="en-US" sz="29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Relación con el Perfil de Egreso</a:t>
            </a:r>
            <a:endParaRPr b="0" i="0" sz="2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g3fb441f01f2_0_32"/>
          <p:cNvSpPr/>
          <p:nvPr/>
        </p:nvSpPr>
        <p:spPr>
          <a:xfrm>
            <a:off x="661475" y="1858963"/>
            <a:ext cx="108687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Competencias del plan de estudio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2" name="Google Shape;202;g3fb441f01f2_0_32"/>
          <p:cNvGraphicFramePr/>
          <p:nvPr/>
        </p:nvGraphicFramePr>
        <p:xfrm>
          <a:off x="661475" y="24968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{CE600357-4874-4C85-B6B8-E70CDC60005B}</a:tableStyleId>
              </a:tblPr>
              <a:tblGrid>
                <a:gridCol w="5434375"/>
                <a:gridCol w="5434375"/>
              </a:tblGrid>
              <a:tr h="545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2525"/>
                        </a:buClr>
                        <a:buSzPts val="1450"/>
                        <a:buFont typeface="Inter"/>
                        <a:buNone/>
                      </a:pPr>
                      <a:r>
                        <a:rPr lang="en-US" sz="1450" u="none" cap="none" strike="noStrike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Competencia</a:t>
                      </a:r>
                      <a:endParaRPr sz="145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350" marB="6350" marR="189025" marL="1890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2525"/>
                        </a:buClr>
                        <a:buSzPts val="1450"/>
                        <a:buFont typeface="Inter"/>
                        <a:buNone/>
                      </a:pPr>
                      <a:r>
                        <a:rPr lang="en-US" sz="1450" u="none" cap="none" strike="noStrike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Cómo se aplica</a:t>
                      </a:r>
                      <a:endParaRPr sz="145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350" marB="6350" marR="189025" marL="1890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548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2525"/>
                        </a:buClr>
                        <a:buSzPts val="1450"/>
                        <a:buFont typeface="Inter"/>
                        <a:buNone/>
                      </a:pPr>
                      <a:r>
                        <a:rPr lang="en-US" sz="1450" u="none" cap="none" strike="noStrike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C1 Pruebas de certificación</a:t>
                      </a:r>
                      <a:endParaRPr sz="145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350" marB="6350" marR="189025" marL="1890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2525"/>
                        </a:buClr>
                        <a:buSzPts val="1450"/>
                        <a:buFont typeface="Inter"/>
                        <a:buNone/>
                      </a:pPr>
                      <a:r>
                        <a:rPr lang="en-US" sz="1450" u="none" cap="none" strike="noStrike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Casos unitarios, integración API, validación Webpay Plus</a:t>
                      </a:r>
                      <a:endParaRPr sz="145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350" marB="6350" marR="189025" marL="1890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548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2525"/>
                        </a:buClr>
                        <a:buSzPts val="1450"/>
                        <a:buFont typeface="Inter"/>
                        <a:buNone/>
                      </a:pPr>
                      <a:r>
                        <a:rPr lang="en-US" sz="1450" u="none" cap="none" strike="noStrike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C2 Gestión de proyectos</a:t>
                      </a:r>
                      <a:endParaRPr sz="145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350" marB="6350" marR="189025" marL="1890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2525"/>
                        </a:buClr>
                        <a:buSzPts val="1450"/>
                        <a:buFont typeface="Inter"/>
                        <a:buNone/>
                      </a:pPr>
                      <a:r>
                        <a:rPr lang="en-US" sz="1450" u="none" cap="none" strike="noStrike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EDT, Carta Gantt, RACI, matriz de riesgos</a:t>
                      </a:r>
                      <a:endParaRPr sz="145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350" marB="6350" marR="189025" marL="1890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850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2525"/>
                        </a:buClr>
                        <a:buSzPts val="1450"/>
                        <a:buFont typeface="Inter"/>
                        <a:buNone/>
                      </a:pPr>
                      <a:r>
                        <a:rPr lang="en-US" sz="1450" u="none" cap="none" strike="noStrike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C3 Modelos de datos escalables</a:t>
                      </a:r>
                      <a:endParaRPr sz="145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350" marB="6350" marR="189025" marL="1890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2525"/>
                        </a:buClr>
                        <a:buSzPts val="1450"/>
                        <a:buFont typeface="Inter"/>
                        <a:buNone/>
                      </a:pPr>
                      <a:r>
                        <a:rPr lang="en-US" sz="1450" u="none" cap="none" strike="noStrike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Migración SQLite → PostgreSQL, modelado con pgModeler</a:t>
                      </a:r>
                      <a:endParaRPr sz="145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350" marB="6350" marR="189025" marL="1890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545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2525"/>
                        </a:buClr>
                        <a:buSzPts val="1450"/>
                        <a:buFont typeface="Inter"/>
                        <a:buNone/>
                      </a:pPr>
                      <a:r>
                        <a:rPr lang="en-US" sz="1450" u="none" cap="none" strike="noStrike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C4 Desarrollo de software sistematizado</a:t>
                      </a:r>
                      <a:endParaRPr sz="145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350" marB="6350" marR="189025" marL="1890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2525"/>
                        </a:buClr>
                        <a:buSzPts val="1450"/>
                        <a:buFont typeface="Inter"/>
                        <a:buNone/>
                      </a:pPr>
                      <a:r>
                        <a:rPr lang="en-US" sz="1450" u="none" cap="none" strike="noStrike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Vue.js + FastAPI + Docker + CI/CD</a:t>
                      </a:r>
                      <a:endParaRPr sz="145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350" marB="6350" marR="189025" marL="1890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DAF8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09.png" id="208" name="Google Shape;208;g3fb441f01f2_0_36"/>
          <p:cNvPicPr preferRelativeResize="0"/>
          <p:nvPr/>
        </p:nvPicPr>
        <p:blipFill rotWithShape="1">
          <a:blip r:embed="rId3">
            <a:alphaModFix amt="50000"/>
          </a:blip>
          <a:srcRect b="0" l="0" r="0" t="0"/>
          <a:stretch/>
        </p:blipFill>
        <p:spPr>
          <a:xfrm>
            <a:off x="0" y="0"/>
            <a:ext cx="1219169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g3fb441f01f2_0_36"/>
          <p:cNvSpPr/>
          <p:nvPr/>
        </p:nvSpPr>
        <p:spPr>
          <a:xfrm>
            <a:off x="6150675" y="1914575"/>
            <a:ext cx="2799900" cy="3139200"/>
          </a:xfrm>
          <a:prstGeom prst="snip1Rect">
            <a:avLst>
              <a:gd fmla="val 16667" name="adj"/>
            </a:avLst>
          </a:prstGeom>
          <a:solidFill>
            <a:srgbClr val="C9DA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g3fb441f01f2_0_36"/>
          <p:cNvSpPr/>
          <p:nvPr/>
        </p:nvSpPr>
        <p:spPr>
          <a:xfrm>
            <a:off x="497725" y="1914575"/>
            <a:ext cx="2799900" cy="3139200"/>
          </a:xfrm>
          <a:prstGeom prst="snip1Rect">
            <a:avLst>
              <a:gd fmla="val 16667" name="adj"/>
            </a:avLst>
          </a:prstGeom>
          <a:solidFill>
            <a:srgbClr val="C9DA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g3fb441f01f2_0_36"/>
          <p:cNvSpPr/>
          <p:nvPr/>
        </p:nvSpPr>
        <p:spPr>
          <a:xfrm>
            <a:off x="661475" y="739477"/>
            <a:ext cx="10868700" cy="4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50"/>
              <a:buFont typeface="Inter"/>
              <a:buNone/>
            </a:pPr>
            <a:r>
              <a:rPr b="1" i="0" lang="en-US" sz="29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Intereses Profesionales del Equipo</a:t>
            </a:r>
            <a:endParaRPr b="0" i="0" sz="2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g3fb441f01f2_0_36"/>
          <p:cNvSpPr/>
          <p:nvPr/>
        </p:nvSpPr>
        <p:spPr>
          <a:xfrm>
            <a:off x="661475" y="1287562"/>
            <a:ext cx="108687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División de responsabilidades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g3fb441f01f2_0_36"/>
          <p:cNvSpPr/>
          <p:nvPr/>
        </p:nvSpPr>
        <p:spPr>
          <a:xfrm>
            <a:off x="661475" y="2114451"/>
            <a:ext cx="52038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Inter"/>
              <a:buNone/>
            </a:pPr>
            <a:r>
              <a:rPr b="1" i="0" lang="en-US" sz="18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Vicente Rivera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g3fb441f01f2_0_36"/>
          <p:cNvSpPr/>
          <p:nvPr/>
        </p:nvSpPr>
        <p:spPr>
          <a:xfrm>
            <a:off x="661475" y="2598738"/>
            <a:ext cx="5203800" cy="25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Char char="•"/>
            </a:pPr>
            <a:r>
              <a:rPr b="0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FastAPI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Char char="•"/>
            </a:pPr>
            <a:r>
              <a:rPr b="0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Microservicios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Char char="•"/>
            </a:pPr>
            <a:r>
              <a:rPr b="0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Autenticación JWT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Char char="•"/>
            </a:pPr>
            <a:r>
              <a:rPr b="0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Webpay Plus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Char char="•"/>
            </a:pPr>
            <a:r>
              <a:rPr b="0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Persistencia Supabase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Char char="•"/>
            </a:pPr>
            <a:r>
              <a:rPr b="0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Docker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Char char="•"/>
            </a:pPr>
            <a:r>
              <a:rPr b="0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GCP Cloud Run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g3fb441f01f2_0_36"/>
          <p:cNvSpPr/>
          <p:nvPr/>
        </p:nvSpPr>
        <p:spPr>
          <a:xfrm>
            <a:off x="6332776" y="2114451"/>
            <a:ext cx="52038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Inter"/>
              <a:buNone/>
            </a:pPr>
            <a:r>
              <a:rPr b="1" i="0" lang="en-US" sz="18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Ignacio Fuenzalida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g3fb441f01f2_0_36"/>
          <p:cNvSpPr/>
          <p:nvPr/>
        </p:nvSpPr>
        <p:spPr>
          <a:xfrm>
            <a:off x="6332776" y="2598738"/>
            <a:ext cx="5203800" cy="21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Char char="•"/>
            </a:pPr>
            <a:r>
              <a:rPr b="0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Vue.js + Vite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Char char="•"/>
            </a:pPr>
            <a:r>
              <a:rPr b="0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Consumo de APIs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Char char="•"/>
            </a:pPr>
            <a:r>
              <a:rPr b="0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Dashboard administrativo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Char char="•"/>
            </a:pPr>
            <a:r>
              <a:rPr b="0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Catálogo sin login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Char char="•"/>
            </a:pPr>
            <a:r>
              <a:rPr b="0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Evidencias fotográficas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Char char="•"/>
            </a:pPr>
            <a:r>
              <a:rPr b="0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Tracking de delivery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g3fb441f01f2_0_36"/>
          <p:cNvSpPr/>
          <p:nvPr/>
        </p:nvSpPr>
        <p:spPr>
          <a:xfrm>
            <a:off x="944936" y="5603478"/>
            <a:ext cx="111948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None/>
            </a:pPr>
            <a:r>
              <a:rPr b="0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Sistemas reales donde decisiones técnicas impactan directamente el negocio.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g3fb441f01f2_0_36"/>
          <p:cNvSpPr/>
          <p:nvPr/>
        </p:nvSpPr>
        <p:spPr>
          <a:xfrm>
            <a:off x="661475" y="5390852"/>
            <a:ext cx="25500" cy="727800"/>
          </a:xfrm>
          <a:prstGeom prst="roundRect">
            <a:avLst>
              <a:gd fmla="val 50001" name="adj"/>
            </a:avLst>
          </a:prstGeom>
          <a:solidFill>
            <a:srgbClr val="4950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DAF8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10.png" id="224" name="Google Shape;224;g3fb441f01f2_0_40"/>
          <p:cNvPicPr preferRelativeResize="0"/>
          <p:nvPr/>
        </p:nvPicPr>
        <p:blipFill rotWithShape="1">
          <a:blip r:embed="rId3">
            <a:alphaModFix amt="50000"/>
          </a:blip>
          <a:srcRect b="0" l="0" r="0" t="0"/>
          <a:stretch/>
        </p:blipFill>
        <p:spPr>
          <a:xfrm>
            <a:off x="0" y="0"/>
            <a:ext cx="1219169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g3fb441f01f2_0_40"/>
          <p:cNvSpPr/>
          <p:nvPr/>
        </p:nvSpPr>
        <p:spPr>
          <a:xfrm>
            <a:off x="661475" y="1739702"/>
            <a:ext cx="10868700" cy="4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50"/>
              <a:buFont typeface="Inter"/>
              <a:buNone/>
            </a:pPr>
            <a:r>
              <a:rPr b="1" i="0" lang="en-US" sz="29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Factibilidad del Proyecto</a:t>
            </a:r>
            <a:endParaRPr b="0" i="0" sz="2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g3fb441f01f2_0_40"/>
          <p:cNvSpPr/>
          <p:nvPr/>
        </p:nvSpPr>
        <p:spPr>
          <a:xfrm>
            <a:off x="661475" y="2287786"/>
            <a:ext cx="108687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Evaluación por factor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7" name="Google Shape;227;g3fb441f01f2_0_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6075" y="2900263"/>
            <a:ext cx="3490825" cy="1260475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g3fb441f01f2_0_40"/>
          <p:cNvSpPr/>
          <p:nvPr/>
        </p:nvSpPr>
        <p:spPr>
          <a:xfrm>
            <a:off x="901281" y="2925663"/>
            <a:ext cx="3225600" cy="9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None/>
            </a:pPr>
            <a:r>
              <a:rPr b="1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Tiempo:</a:t>
            </a:r>
            <a:r>
              <a:rPr b="0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13 semanas (11 desarrollo + 2 preparación/entrega) — factible con alcance controlado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9" name="Google Shape;229;g3fb441f01f2_0_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37735" y="2900263"/>
            <a:ext cx="3490825" cy="1260475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g3fb441f01f2_0_40"/>
          <p:cNvSpPr/>
          <p:nvPr/>
        </p:nvSpPr>
        <p:spPr>
          <a:xfrm>
            <a:off x="4602940" y="2925663"/>
            <a:ext cx="3225600" cy="12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None/>
            </a:pPr>
            <a:r>
              <a:rPr b="1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Stack y materiales:</a:t>
            </a:r>
            <a:r>
              <a:rPr b="0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repositorio MVP existente, herramientas ya definidas (pgModeler, DBeaver, Supabase, Vercel)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1" name="Google Shape;231;g3fb441f01f2_0_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39395" y="2900263"/>
            <a:ext cx="3490825" cy="1260475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g3fb441f01f2_0_40"/>
          <p:cNvSpPr/>
          <p:nvPr/>
        </p:nvSpPr>
        <p:spPr>
          <a:xfrm>
            <a:off x="8304600" y="2925663"/>
            <a:ext cx="3225600" cy="9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None/>
            </a:pPr>
            <a:r>
              <a:rPr b="1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Equipo:</a:t>
            </a:r>
            <a:r>
              <a:rPr b="0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2 personas, con responsabilidades compartidas en arquitectura y pruebas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3" name="Google Shape;233;g3fb441f01f2_0_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6075" y="4487962"/>
            <a:ext cx="5341605" cy="655638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g3fb441f01f2_0_40"/>
          <p:cNvSpPr/>
          <p:nvPr/>
        </p:nvSpPr>
        <p:spPr>
          <a:xfrm>
            <a:off x="901281" y="4513362"/>
            <a:ext cx="5076300" cy="6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None/>
            </a:pPr>
            <a:r>
              <a:rPr b="1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Dependencias:</a:t>
            </a:r>
            <a:r>
              <a:rPr b="0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Supabase, Vercel, GCP, Transbank Webpay Plus (Test Mode)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5" name="Google Shape;235;g3fb441f01f2_0_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88515" y="4487962"/>
            <a:ext cx="5341706" cy="655638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g3fb441f01f2_0_40"/>
          <p:cNvSpPr/>
          <p:nvPr/>
        </p:nvSpPr>
        <p:spPr>
          <a:xfrm>
            <a:off x="6453721" y="4513362"/>
            <a:ext cx="5076600" cy="6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None/>
            </a:pPr>
            <a:r>
              <a:rPr b="1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Riesgo técnico:</a:t>
            </a:r>
            <a:r>
              <a:rPr b="0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moderado — migración de BD, escrow, concurrencia de stock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DAF8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11.png" id="242" name="Google Shape;242;g3fb441f01f2_0_44"/>
          <p:cNvPicPr preferRelativeResize="0"/>
          <p:nvPr/>
        </p:nvPicPr>
        <p:blipFill rotWithShape="1">
          <a:blip r:embed="rId3">
            <a:alphaModFix amt="50000"/>
          </a:blip>
          <a:srcRect b="0" l="0" r="0" t="0"/>
          <a:stretch/>
        </p:blipFill>
        <p:spPr>
          <a:xfrm>
            <a:off x="0" y="0"/>
            <a:ext cx="1219169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g3fb441f01f2_0_44"/>
          <p:cNvSpPr/>
          <p:nvPr/>
        </p:nvSpPr>
        <p:spPr>
          <a:xfrm>
            <a:off x="661475" y="526951"/>
            <a:ext cx="108687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Inter"/>
              <a:buNone/>
            </a:pPr>
            <a:r>
              <a:rPr b="1" i="0" lang="en-US" sz="29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Metodología de Trabajo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g3fb441f01f2_0_44"/>
          <p:cNvSpPr/>
          <p:nvPr/>
        </p:nvSpPr>
        <p:spPr>
          <a:xfrm>
            <a:off x="661475" y="1065312"/>
            <a:ext cx="108687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50"/>
              <a:buFont typeface="Inter"/>
              <a:buNone/>
            </a:pPr>
            <a:r>
              <a:rPr b="1" i="0" lang="en-US" sz="21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Enfoque tradicional estructurado en 4 fases</a:t>
            </a:r>
            <a:endParaRPr b="0" i="0" sz="2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5" name="Google Shape;245;g3fb441f01f2_0_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1475" y="1688902"/>
            <a:ext cx="3500747" cy="1946771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g3fb441f01f2_0_44"/>
          <p:cNvSpPr/>
          <p:nvPr/>
        </p:nvSpPr>
        <p:spPr>
          <a:xfrm>
            <a:off x="2300230" y="1828403"/>
            <a:ext cx="223200" cy="27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0"/>
              <a:buFont typeface="Inter"/>
              <a:buNone/>
            </a:pPr>
            <a:r>
              <a:rPr b="1" i="0" lang="en-US" sz="17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g3fb441f01f2_0_44"/>
          <p:cNvSpPr/>
          <p:nvPr/>
        </p:nvSpPr>
        <p:spPr>
          <a:xfrm>
            <a:off x="872905" y="2433141"/>
            <a:ext cx="3078000" cy="2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Planificación Inicial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g3fb441f01f2_0_44"/>
          <p:cNvSpPr/>
          <p:nvPr/>
        </p:nvSpPr>
        <p:spPr>
          <a:xfrm>
            <a:off x="872905" y="2833688"/>
            <a:ext cx="30780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None/>
            </a:pPr>
            <a:r>
              <a:rPr b="0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Acta, EDT, Gantt, RACI, riesgos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9" name="Google Shape;249;g3fb441f01f2_0_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5375" y="1688902"/>
            <a:ext cx="3500847" cy="1946771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g3fb441f01f2_0_44"/>
          <p:cNvSpPr/>
          <p:nvPr/>
        </p:nvSpPr>
        <p:spPr>
          <a:xfrm>
            <a:off x="5984130" y="1828403"/>
            <a:ext cx="223200" cy="27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0"/>
              <a:buFont typeface="Inter"/>
              <a:buNone/>
            </a:pPr>
            <a:r>
              <a:rPr b="1" i="0" lang="en-US" sz="17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g3fb441f01f2_0_44"/>
          <p:cNvSpPr/>
          <p:nvPr/>
        </p:nvSpPr>
        <p:spPr>
          <a:xfrm>
            <a:off x="4556805" y="2433141"/>
            <a:ext cx="3078000" cy="2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Análisis y Diseño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g3fb441f01f2_0_44"/>
          <p:cNvSpPr/>
          <p:nvPr/>
        </p:nvSpPr>
        <p:spPr>
          <a:xfrm>
            <a:off x="4556805" y="2833688"/>
            <a:ext cx="30780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None/>
            </a:pPr>
            <a:r>
              <a:rPr b="0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ERS, modelo de datos, arquitectura, mockups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3" name="Google Shape;253;g3fb441f01f2_0_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9374" y="1688902"/>
            <a:ext cx="3500747" cy="1946771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g3fb441f01f2_0_44"/>
          <p:cNvSpPr/>
          <p:nvPr/>
        </p:nvSpPr>
        <p:spPr>
          <a:xfrm>
            <a:off x="9668129" y="1828403"/>
            <a:ext cx="223200" cy="27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0"/>
              <a:buFont typeface="Inter"/>
              <a:buNone/>
            </a:pPr>
            <a:r>
              <a:rPr b="1" i="0" lang="en-US" sz="17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g3fb441f01f2_0_44"/>
          <p:cNvSpPr/>
          <p:nvPr/>
        </p:nvSpPr>
        <p:spPr>
          <a:xfrm>
            <a:off x="8240804" y="2433141"/>
            <a:ext cx="3078000" cy="2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Construcción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g3fb441f01f2_0_44"/>
          <p:cNvSpPr/>
          <p:nvPr/>
        </p:nvSpPr>
        <p:spPr>
          <a:xfrm>
            <a:off x="8240804" y="2833688"/>
            <a:ext cx="30780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None/>
            </a:pPr>
            <a:r>
              <a:rPr b="0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Implementación, migración, integración Webpay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7" name="Google Shape;257;g3fb441f01f2_0_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1475" y="3818830"/>
            <a:ext cx="10868644" cy="1651496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g3fb441f01f2_0_44"/>
          <p:cNvSpPr/>
          <p:nvPr/>
        </p:nvSpPr>
        <p:spPr>
          <a:xfrm>
            <a:off x="5984130" y="3958332"/>
            <a:ext cx="223200" cy="27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0"/>
              <a:buFont typeface="Inter"/>
              <a:buNone/>
            </a:pPr>
            <a:r>
              <a:rPr b="1" i="0" lang="en-US" sz="17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g3fb441f01f2_0_44"/>
          <p:cNvSpPr/>
          <p:nvPr/>
        </p:nvSpPr>
        <p:spPr>
          <a:xfrm>
            <a:off x="872905" y="4563070"/>
            <a:ext cx="10445700" cy="2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Implementación y Cierre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g3fb441f01f2_0_44"/>
          <p:cNvSpPr/>
          <p:nvPr/>
        </p:nvSpPr>
        <p:spPr>
          <a:xfrm>
            <a:off x="872905" y="4963616"/>
            <a:ext cx="104457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None/>
            </a:pPr>
            <a:r>
              <a:rPr b="0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Pruebas finales, documentación, manuales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g3fb441f01f2_0_44"/>
          <p:cNvSpPr/>
          <p:nvPr/>
        </p:nvSpPr>
        <p:spPr>
          <a:xfrm>
            <a:off x="661475" y="5676305"/>
            <a:ext cx="10868700" cy="6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4640" lvl="0" marL="29464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Char char="•"/>
            </a:pPr>
            <a:r>
              <a:rPr b="0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Revisión semanal de alcance, avances, bloqueos y riesgos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Char char="•"/>
            </a:pPr>
            <a:r>
              <a:rPr b="0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Toda decisión relevante se registra en minuta de control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DAF8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12.png" id="267" name="Google Shape;267;g3fb441f01f2_0_48"/>
          <p:cNvPicPr preferRelativeResize="0"/>
          <p:nvPr/>
        </p:nvPicPr>
        <p:blipFill rotWithShape="1">
          <a:blip r:embed="rId3">
            <a:alphaModFix amt="50000"/>
          </a:blip>
          <a:srcRect b="0" l="0" r="0" t="0"/>
          <a:stretch/>
        </p:blipFill>
        <p:spPr>
          <a:xfrm>
            <a:off x="0" y="0"/>
            <a:ext cx="1219169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g3fb441f01f2_0_48"/>
          <p:cNvSpPr/>
          <p:nvPr/>
        </p:nvSpPr>
        <p:spPr>
          <a:xfrm>
            <a:off x="661475" y="672902"/>
            <a:ext cx="10868700" cy="4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50"/>
              <a:buFont typeface="Inter"/>
              <a:buNone/>
            </a:pPr>
            <a:r>
              <a:rPr b="1" i="0" lang="en-US" sz="29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Arquitectura y Stack Tecnológico</a:t>
            </a:r>
            <a:endParaRPr b="0" i="0" sz="2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g3fb441f01f2_0_48"/>
          <p:cNvSpPr/>
          <p:nvPr/>
        </p:nvSpPr>
        <p:spPr>
          <a:xfrm>
            <a:off x="661475" y="1220986"/>
            <a:ext cx="108687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Migración tecnológica (MVP → Capstone)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0" name="Google Shape;270;g3fb441f01f2_0_48"/>
          <p:cNvGraphicFramePr/>
          <p:nvPr/>
        </p:nvGraphicFramePr>
        <p:xfrm>
          <a:off x="661475" y="1858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{CE600357-4874-4C85-B6B8-E70CDC60005B}</a:tableStyleId>
              </a:tblPr>
              <a:tblGrid>
                <a:gridCol w="3586675"/>
                <a:gridCol w="3695375"/>
                <a:gridCol w="3586675"/>
              </a:tblGrid>
              <a:tr h="545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2525"/>
                        </a:buClr>
                        <a:buSzPts val="1450"/>
                        <a:buFont typeface="Inter"/>
                        <a:buNone/>
                      </a:pPr>
                      <a:r>
                        <a:rPr lang="en-US" sz="1450" u="none" cap="none" strike="noStrike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Componente</a:t>
                      </a:r>
                      <a:endParaRPr sz="145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350" marB="6350" marR="189025" marL="1890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2525"/>
                        </a:buClr>
                        <a:buSzPts val="1450"/>
                        <a:buFont typeface="Inter"/>
                        <a:buNone/>
                      </a:pPr>
                      <a:r>
                        <a:rPr lang="en-US" sz="1450" u="none" cap="none" strike="noStrike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MVP anterior</a:t>
                      </a:r>
                      <a:endParaRPr sz="145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350" marB="6350" marR="189025" marL="1890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2525"/>
                        </a:buClr>
                        <a:buSzPts val="1450"/>
                        <a:buFont typeface="Inter"/>
                        <a:buNone/>
                      </a:pPr>
                      <a:r>
                        <a:rPr lang="en-US" sz="1450" u="none" cap="none" strike="noStrike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Arquitectura Capstone</a:t>
                      </a:r>
                      <a:endParaRPr sz="145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350" marB="6350" marR="189025" marL="1890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548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2525"/>
                        </a:buClr>
                        <a:buSzPts val="1450"/>
                        <a:buFont typeface="Inter"/>
                        <a:buNone/>
                      </a:pPr>
                      <a:r>
                        <a:rPr lang="en-US" sz="1450" u="none" cap="none" strike="noStrike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Frontend</a:t>
                      </a:r>
                      <a:endParaRPr sz="145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350" marB="6350" marR="189025" marL="1890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2525"/>
                        </a:buClr>
                        <a:buSzPts val="1450"/>
                        <a:buFont typeface="Inter"/>
                        <a:buNone/>
                      </a:pPr>
                      <a:r>
                        <a:rPr lang="en-US" sz="1450" u="none" cap="none" strike="noStrike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Ionic Angular / TypeScript</a:t>
                      </a:r>
                      <a:endParaRPr sz="145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350" marB="6350" marR="189025" marL="1890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2525"/>
                        </a:buClr>
                        <a:buSzPts val="1450"/>
                        <a:buFont typeface="Inter"/>
                        <a:buNone/>
                      </a:pPr>
                      <a:r>
                        <a:rPr lang="en-US" sz="1450" u="none" cap="none" strike="noStrike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Vue.js / JavaScript</a:t>
                      </a:r>
                      <a:endParaRPr sz="145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350" marB="6350" marR="189025" marL="1890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548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2525"/>
                        </a:buClr>
                        <a:buSzPts val="1450"/>
                        <a:buFont typeface="Inter"/>
                        <a:buNone/>
                      </a:pPr>
                      <a:r>
                        <a:rPr lang="en-US" sz="1450" u="none" cap="none" strike="noStrike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Backend</a:t>
                      </a:r>
                      <a:endParaRPr sz="145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350" marB="6350" marR="189025" marL="1890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2525"/>
                        </a:buClr>
                        <a:buSzPts val="1450"/>
                        <a:buFont typeface="Inter"/>
                        <a:buNone/>
                      </a:pPr>
                      <a:r>
                        <a:rPr lang="en-US" sz="1450" u="none" cap="none" strike="noStrike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Lógica local monolítica</a:t>
                      </a:r>
                      <a:endParaRPr sz="145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350" marB="6350" marR="189025" marL="1890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2525"/>
                        </a:buClr>
                        <a:buSzPts val="1450"/>
                        <a:buFont typeface="Inter"/>
                        <a:buNone/>
                      </a:pPr>
                      <a:r>
                        <a:rPr lang="en-US" sz="1450" u="none" cap="none" strike="noStrike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Microservicios FastAPI</a:t>
                      </a:r>
                      <a:endParaRPr sz="145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350" marB="6350" marR="189025" marL="1890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548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2525"/>
                        </a:buClr>
                        <a:buSzPts val="1450"/>
                        <a:buFont typeface="Inter"/>
                        <a:buNone/>
                      </a:pPr>
                      <a:r>
                        <a:rPr lang="en-US" sz="1450" u="none" cap="none" strike="noStrike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Persistencia</a:t>
                      </a:r>
                      <a:endParaRPr sz="145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350" marB="6350" marR="189025" marL="1890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2525"/>
                        </a:buClr>
                        <a:buSzPts val="1450"/>
                        <a:buFont typeface="Inter"/>
                        <a:buNone/>
                      </a:pPr>
                      <a:r>
                        <a:rPr lang="en-US" sz="1450" u="none" cap="none" strike="noStrike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SQLite local</a:t>
                      </a:r>
                      <a:endParaRPr sz="145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350" marB="6350" marR="189025" marL="1890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2525"/>
                        </a:buClr>
                        <a:buSzPts val="1450"/>
                        <a:buFont typeface="Inter"/>
                        <a:buNone/>
                      </a:pPr>
                      <a:r>
                        <a:rPr lang="en-US" sz="1450" u="none" cap="none" strike="noStrike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PostgreSQL (Supabase)</a:t>
                      </a:r>
                      <a:endParaRPr sz="145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350" marB="6350" marR="189025" marL="1890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548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2525"/>
                        </a:buClr>
                        <a:buSzPts val="1450"/>
                        <a:buFont typeface="Inter"/>
                        <a:buNone/>
                      </a:pPr>
                      <a:r>
                        <a:rPr lang="en-US" sz="1450" u="none" cap="none" strike="noStrike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Autenticación</a:t>
                      </a:r>
                      <a:endParaRPr sz="145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350" marB="6350" marR="189025" marL="1890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2525"/>
                        </a:buClr>
                        <a:buSzPts val="1450"/>
                        <a:buFont typeface="Inter"/>
                        <a:buNone/>
                      </a:pPr>
                      <a:r>
                        <a:rPr lang="en-US" sz="1450" u="none" cap="none" strike="noStrike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Validación local</a:t>
                      </a:r>
                      <a:endParaRPr sz="145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350" marB="6350" marR="189025" marL="1890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2525"/>
                        </a:buClr>
                        <a:buSzPts val="1450"/>
                        <a:buFont typeface="Inter"/>
                        <a:buNone/>
                      </a:pPr>
                      <a:r>
                        <a:rPr lang="en-US" sz="1450" u="none" cap="none" strike="noStrike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JWT + bcrypt/Salt</a:t>
                      </a:r>
                      <a:endParaRPr sz="145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350" marB="6350" marR="189025" marL="1890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545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2525"/>
                        </a:buClr>
                        <a:buSzPts val="1450"/>
                        <a:buFont typeface="Inter"/>
                        <a:buNone/>
                      </a:pPr>
                      <a:r>
                        <a:rPr lang="en-US" sz="1450" u="none" cap="none" strike="noStrike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Pagos</a:t>
                      </a:r>
                      <a:endParaRPr sz="145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350" marB="6350" marR="189025" marL="1890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2525"/>
                        </a:buClr>
                        <a:buSzPts val="1450"/>
                        <a:buFont typeface="Inter"/>
                        <a:buNone/>
                      </a:pPr>
                      <a:r>
                        <a:rPr lang="en-US" sz="1450" u="none" cap="none" strike="noStrike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Simulación de alerta</a:t>
                      </a:r>
                      <a:endParaRPr sz="145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350" marB="6350" marR="189025" marL="1890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2525"/>
                        </a:buClr>
                        <a:buSzPts val="1450"/>
                        <a:buFont typeface="Inter"/>
                        <a:buNone/>
                      </a:pPr>
                      <a:r>
                        <a:rPr lang="en-US" sz="1450" u="none" cap="none" strike="noStrike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Transbank Webpay Plus</a:t>
                      </a:r>
                      <a:endParaRPr sz="145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350" marB="6350" marR="189025" marL="1890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sp>
        <p:nvSpPr>
          <p:cNvPr id="271" name="Google Shape;271;g3fb441f01f2_0_48"/>
          <p:cNvSpPr/>
          <p:nvPr/>
        </p:nvSpPr>
        <p:spPr>
          <a:xfrm>
            <a:off x="661475" y="5367536"/>
            <a:ext cx="10868700" cy="8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None/>
            </a:pPr>
            <a:r>
              <a:rPr b="0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Opción A: MVP académico en GCP us-central1 (créditos gratuitos)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165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None/>
            </a:pPr>
            <a:r>
              <a:rPr b="0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Opción B: proyección productiva con redundancia en Santiago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DAF8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13.png" id="277" name="Google Shape;277;g3fb441f01f2_0_52"/>
          <p:cNvPicPr preferRelativeResize="0"/>
          <p:nvPr/>
        </p:nvPicPr>
        <p:blipFill rotWithShape="1">
          <a:blip r:embed="rId3">
            <a:alphaModFix amt="50000"/>
          </a:blip>
          <a:srcRect b="0" l="0" r="0" t="0"/>
          <a:stretch/>
        </p:blipFill>
        <p:spPr>
          <a:xfrm>
            <a:off x="0" y="0"/>
            <a:ext cx="1219169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g3fb441f01f2_0_52"/>
          <p:cNvSpPr/>
          <p:nvPr/>
        </p:nvSpPr>
        <p:spPr>
          <a:xfrm>
            <a:off x="661475" y="571897"/>
            <a:ext cx="108687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Inter"/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Modelo de Datos y Mecanismos de Confianza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g3fb441f01f2_0_52"/>
          <p:cNvSpPr/>
          <p:nvPr/>
        </p:nvSpPr>
        <p:spPr>
          <a:xfrm>
            <a:off x="661475" y="1346994"/>
            <a:ext cx="46689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Inter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Entidades principales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g3fb441f01f2_0_52"/>
          <p:cNvSpPr/>
          <p:nvPr/>
        </p:nvSpPr>
        <p:spPr>
          <a:xfrm>
            <a:off x="661475" y="1819771"/>
            <a:ext cx="2262000" cy="591300"/>
          </a:xfrm>
          <a:prstGeom prst="roundRect">
            <a:avLst>
              <a:gd fmla="val 11747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g3fb441f01f2_0_52"/>
          <p:cNvSpPr/>
          <p:nvPr/>
        </p:nvSpPr>
        <p:spPr>
          <a:xfrm>
            <a:off x="833119" y="1991420"/>
            <a:ext cx="1918800" cy="2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users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g3fb441f01f2_0_52"/>
          <p:cNvSpPr/>
          <p:nvPr/>
        </p:nvSpPr>
        <p:spPr>
          <a:xfrm>
            <a:off x="3068263" y="1819771"/>
            <a:ext cx="2262300" cy="591300"/>
          </a:xfrm>
          <a:prstGeom prst="roundRect">
            <a:avLst>
              <a:gd fmla="val 11747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g3fb441f01f2_0_52"/>
          <p:cNvSpPr/>
          <p:nvPr/>
        </p:nvSpPr>
        <p:spPr>
          <a:xfrm>
            <a:off x="3239907" y="1991420"/>
            <a:ext cx="1918800" cy="2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producers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g3fb441f01f2_0_52"/>
          <p:cNvSpPr/>
          <p:nvPr/>
        </p:nvSpPr>
        <p:spPr>
          <a:xfrm>
            <a:off x="661475" y="2555776"/>
            <a:ext cx="2262000" cy="591300"/>
          </a:xfrm>
          <a:prstGeom prst="roundRect">
            <a:avLst>
              <a:gd fmla="val 11747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g3fb441f01f2_0_52"/>
          <p:cNvSpPr/>
          <p:nvPr/>
        </p:nvSpPr>
        <p:spPr>
          <a:xfrm>
            <a:off x="833119" y="2727424"/>
            <a:ext cx="1918800" cy="2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products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g3fb441f01f2_0_52"/>
          <p:cNvSpPr/>
          <p:nvPr/>
        </p:nvSpPr>
        <p:spPr>
          <a:xfrm>
            <a:off x="3068263" y="2555776"/>
            <a:ext cx="2262300" cy="591300"/>
          </a:xfrm>
          <a:prstGeom prst="roundRect">
            <a:avLst>
              <a:gd fmla="val 11747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g3fb441f01f2_0_52"/>
          <p:cNvSpPr/>
          <p:nvPr/>
        </p:nvSpPr>
        <p:spPr>
          <a:xfrm>
            <a:off x="3239907" y="2727424"/>
            <a:ext cx="1918800" cy="2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orders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g3fb441f01f2_0_52"/>
          <p:cNvSpPr/>
          <p:nvPr/>
        </p:nvSpPr>
        <p:spPr>
          <a:xfrm>
            <a:off x="661475" y="3291780"/>
            <a:ext cx="2262000" cy="591300"/>
          </a:xfrm>
          <a:prstGeom prst="roundRect">
            <a:avLst>
              <a:gd fmla="val 11747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g3fb441f01f2_0_52"/>
          <p:cNvSpPr/>
          <p:nvPr/>
        </p:nvSpPr>
        <p:spPr>
          <a:xfrm>
            <a:off x="833119" y="3463429"/>
            <a:ext cx="1918800" cy="2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payments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g3fb441f01f2_0_52"/>
          <p:cNvSpPr/>
          <p:nvPr/>
        </p:nvSpPr>
        <p:spPr>
          <a:xfrm>
            <a:off x="3068263" y="3291780"/>
            <a:ext cx="2262300" cy="591300"/>
          </a:xfrm>
          <a:prstGeom prst="roundRect">
            <a:avLst>
              <a:gd fmla="val 11747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g3fb441f01f2_0_52"/>
          <p:cNvSpPr/>
          <p:nvPr/>
        </p:nvSpPr>
        <p:spPr>
          <a:xfrm>
            <a:off x="3239907" y="3463429"/>
            <a:ext cx="1918800" cy="2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order_evidences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g3fb441f01f2_0_52"/>
          <p:cNvSpPr/>
          <p:nvPr/>
        </p:nvSpPr>
        <p:spPr>
          <a:xfrm>
            <a:off x="661475" y="4027785"/>
            <a:ext cx="2262000" cy="591300"/>
          </a:xfrm>
          <a:prstGeom prst="roundRect">
            <a:avLst>
              <a:gd fmla="val 11747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g3fb441f01f2_0_52"/>
          <p:cNvSpPr/>
          <p:nvPr/>
        </p:nvSpPr>
        <p:spPr>
          <a:xfrm>
            <a:off x="833119" y="4199434"/>
            <a:ext cx="1918800" cy="2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reputations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g3fb441f01f2_0_52"/>
          <p:cNvSpPr/>
          <p:nvPr/>
        </p:nvSpPr>
        <p:spPr>
          <a:xfrm>
            <a:off x="3068263" y="4027785"/>
            <a:ext cx="2262300" cy="591300"/>
          </a:xfrm>
          <a:prstGeom prst="roundRect">
            <a:avLst>
              <a:gd fmla="val 11747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g3fb441f01f2_0_52"/>
          <p:cNvSpPr/>
          <p:nvPr/>
        </p:nvSpPr>
        <p:spPr>
          <a:xfrm>
            <a:off x="3239907" y="4199434"/>
            <a:ext cx="1918800" cy="2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price_history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g3fb441f01f2_0_52"/>
          <p:cNvSpPr/>
          <p:nvPr/>
        </p:nvSpPr>
        <p:spPr>
          <a:xfrm>
            <a:off x="661475" y="4763790"/>
            <a:ext cx="2262000" cy="591300"/>
          </a:xfrm>
          <a:prstGeom prst="roundRect">
            <a:avLst>
              <a:gd fmla="val 11747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g3fb441f01f2_0_52"/>
          <p:cNvSpPr/>
          <p:nvPr/>
        </p:nvSpPr>
        <p:spPr>
          <a:xfrm>
            <a:off x="833119" y="4935438"/>
            <a:ext cx="1918800" cy="2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stock_alerts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g3fb441f01f2_0_52"/>
          <p:cNvSpPr/>
          <p:nvPr/>
        </p:nvSpPr>
        <p:spPr>
          <a:xfrm>
            <a:off x="3068263" y="4763790"/>
            <a:ext cx="2262300" cy="591300"/>
          </a:xfrm>
          <a:prstGeom prst="roundRect">
            <a:avLst>
              <a:gd fmla="val 11747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g3fb441f01f2_0_52"/>
          <p:cNvSpPr/>
          <p:nvPr/>
        </p:nvSpPr>
        <p:spPr>
          <a:xfrm>
            <a:off x="3239907" y="4935438"/>
            <a:ext cx="1918800" cy="2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delivery_tracking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g3fb441f01f2_0_52"/>
          <p:cNvSpPr/>
          <p:nvPr/>
        </p:nvSpPr>
        <p:spPr>
          <a:xfrm>
            <a:off x="5740256" y="1346994"/>
            <a:ext cx="57963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Inter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Garantías anti-fraude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1" name="Google Shape;301;g3fb441f01f2_0_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40256" y="1819771"/>
            <a:ext cx="5796212" cy="864791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g3fb441f01f2_0_52"/>
          <p:cNvSpPr/>
          <p:nvPr/>
        </p:nvSpPr>
        <p:spPr>
          <a:xfrm>
            <a:off x="6000798" y="2004120"/>
            <a:ext cx="5351400" cy="4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Pago en Custodia:</a:t>
            </a: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dinero retenido hasta confirmación o 48h sin reclamo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3" name="Google Shape;303;g3fb441f01f2_0_5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40256" y="2829223"/>
            <a:ext cx="5796212" cy="616744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g3fb441f01f2_0_52"/>
          <p:cNvSpPr/>
          <p:nvPr/>
        </p:nvSpPr>
        <p:spPr>
          <a:xfrm>
            <a:off x="6000798" y="3013571"/>
            <a:ext cx="5351400" cy="2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Evidencia fotográfica obligatoria</a:t>
            </a: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antes del despacho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5" name="Google Shape;305;g3fb441f01f2_0_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40256" y="3590627"/>
            <a:ext cx="5796212" cy="864791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g3fb441f01f2_0_52"/>
          <p:cNvSpPr/>
          <p:nvPr/>
        </p:nvSpPr>
        <p:spPr>
          <a:xfrm>
            <a:off x="6000798" y="3774976"/>
            <a:ext cx="5351400" cy="4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Reputación algorítmica:</a:t>
            </a: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score = entregas a tiempo (40%) + calidad (40%) + respuesta a reclamos (20%)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g3fb441f01f2_0_52"/>
          <p:cNvSpPr/>
          <p:nvPr/>
        </p:nvSpPr>
        <p:spPr>
          <a:xfrm>
            <a:off x="661475" y="5680571"/>
            <a:ext cx="10868700" cy="605400"/>
          </a:xfrm>
          <a:prstGeom prst="roundRect">
            <a:avLst>
              <a:gd fmla="val 11473" name="adj"/>
            </a:avLst>
          </a:prstGeom>
          <a:solidFill>
            <a:srgbClr val="FCF2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8" name="Google Shape;308;g3fb441f01f2_0_5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6769" y="5893296"/>
            <a:ext cx="206667" cy="165298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g3fb441f01f2_0_52"/>
          <p:cNvSpPr/>
          <p:nvPr/>
        </p:nvSpPr>
        <p:spPr>
          <a:xfrm>
            <a:off x="1198731" y="5866507"/>
            <a:ext cx="10775700" cy="2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Cuenta se pausa automáticamente si el puntaje cae bajo 3.5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DAF8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14.png" id="315" name="Google Shape;315;g3fb441f01f2_0_56"/>
          <p:cNvPicPr preferRelativeResize="0"/>
          <p:nvPr/>
        </p:nvPicPr>
        <p:blipFill rotWithShape="1">
          <a:blip r:embed="rId3">
            <a:alphaModFix amt="50000"/>
          </a:blip>
          <a:srcRect b="0" l="0" r="0" t="0"/>
          <a:stretch/>
        </p:blipFill>
        <p:spPr>
          <a:xfrm>
            <a:off x="0" y="0"/>
            <a:ext cx="1219169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g3fb441f01f2_0_56"/>
          <p:cNvSpPr/>
          <p:nvPr/>
        </p:nvSpPr>
        <p:spPr>
          <a:xfrm>
            <a:off x="661475" y="575270"/>
            <a:ext cx="10868700" cy="3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50"/>
              <a:buFont typeface="Inter"/>
              <a:buNone/>
            </a:pPr>
            <a:r>
              <a:rPr b="1" i="0" lang="en-US" sz="20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Plan de Trabajo y Cronograma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g3fb441f01f2_0_56"/>
          <p:cNvSpPr/>
          <p:nvPr/>
        </p:nvSpPr>
        <p:spPr>
          <a:xfrm>
            <a:off x="661475" y="944761"/>
            <a:ext cx="10868700" cy="2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Inter"/>
              <a:buNone/>
            </a:pPr>
            <a:r>
              <a:rPr b="1" i="0" lang="en-US" sz="15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Distribución en 13 semanas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g3fb441f01f2_0_56"/>
          <p:cNvSpPr/>
          <p:nvPr/>
        </p:nvSpPr>
        <p:spPr>
          <a:xfrm>
            <a:off x="6086323" y="1333996"/>
            <a:ext cx="19200" cy="4419000"/>
          </a:xfrm>
          <a:prstGeom prst="roundRect">
            <a:avLst>
              <a:gd fmla="val 49999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g3fb441f01f2_0_56"/>
          <p:cNvSpPr/>
          <p:nvPr/>
        </p:nvSpPr>
        <p:spPr>
          <a:xfrm>
            <a:off x="5566777" y="1473895"/>
            <a:ext cx="398700" cy="19200"/>
          </a:xfrm>
          <a:prstGeom prst="roundRect">
            <a:avLst>
              <a:gd fmla="val 49999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g3fb441f01f2_0_56"/>
          <p:cNvSpPr/>
          <p:nvPr/>
        </p:nvSpPr>
        <p:spPr>
          <a:xfrm>
            <a:off x="5946378" y="1333996"/>
            <a:ext cx="298800" cy="298800"/>
          </a:xfrm>
          <a:prstGeom prst="roundRect">
            <a:avLst>
              <a:gd fmla="val 18673" name="adj"/>
            </a:avLst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g3fb441f01f2_0_56"/>
          <p:cNvSpPr/>
          <p:nvPr/>
        </p:nvSpPr>
        <p:spPr>
          <a:xfrm>
            <a:off x="5996135" y="1358850"/>
            <a:ext cx="199200" cy="2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Inter"/>
              <a:buNone/>
            </a:pPr>
            <a:r>
              <a:rPr b="1" i="0" lang="en-US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g3fb441f01f2_0_56"/>
          <p:cNvSpPr/>
          <p:nvPr/>
        </p:nvSpPr>
        <p:spPr>
          <a:xfrm>
            <a:off x="661475" y="1379637"/>
            <a:ext cx="47700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Semanas 1-2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g3fb441f01f2_0_56"/>
          <p:cNvSpPr/>
          <p:nvPr/>
        </p:nvSpPr>
        <p:spPr>
          <a:xfrm>
            <a:off x="661475" y="1643261"/>
            <a:ext cx="4770000" cy="1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Planificación, EDT, RACI, riesgos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g3fb441f01f2_0_56"/>
          <p:cNvSpPr/>
          <p:nvPr/>
        </p:nvSpPr>
        <p:spPr>
          <a:xfrm>
            <a:off x="6226267" y="2192338"/>
            <a:ext cx="398700" cy="19200"/>
          </a:xfrm>
          <a:prstGeom prst="roundRect">
            <a:avLst>
              <a:gd fmla="val 49999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g3fb441f01f2_0_56"/>
          <p:cNvSpPr/>
          <p:nvPr/>
        </p:nvSpPr>
        <p:spPr>
          <a:xfrm>
            <a:off x="5946378" y="2052439"/>
            <a:ext cx="298800" cy="298800"/>
          </a:xfrm>
          <a:prstGeom prst="roundRect">
            <a:avLst>
              <a:gd fmla="val 18673" name="adj"/>
            </a:avLst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g3fb441f01f2_0_56"/>
          <p:cNvSpPr/>
          <p:nvPr/>
        </p:nvSpPr>
        <p:spPr>
          <a:xfrm>
            <a:off x="5996135" y="2077293"/>
            <a:ext cx="199200" cy="2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Inter"/>
              <a:buNone/>
            </a:pPr>
            <a:r>
              <a:rPr b="1" i="0" lang="en-US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g3fb441f01f2_0_56"/>
          <p:cNvSpPr/>
          <p:nvPr/>
        </p:nvSpPr>
        <p:spPr>
          <a:xfrm>
            <a:off x="6760299" y="2098080"/>
            <a:ext cx="47700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Semanas 2-4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g3fb441f01f2_0_56"/>
          <p:cNvSpPr/>
          <p:nvPr/>
        </p:nvSpPr>
        <p:spPr>
          <a:xfrm>
            <a:off x="6760299" y="2361704"/>
            <a:ext cx="4770000" cy="1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Análisis de requisitos, diseño de datos y mockups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g3fb441f01f2_0_56"/>
          <p:cNvSpPr/>
          <p:nvPr/>
        </p:nvSpPr>
        <p:spPr>
          <a:xfrm>
            <a:off x="5566777" y="2840137"/>
            <a:ext cx="398700" cy="19200"/>
          </a:xfrm>
          <a:prstGeom prst="roundRect">
            <a:avLst>
              <a:gd fmla="val 49999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g3fb441f01f2_0_56"/>
          <p:cNvSpPr/>
          <p:nvPr/>
        </p:nvSpPr>
        <p:spPr>
          <a:xfrm>
            <a:off x="5946378" y="2700238"/>
            <a:ext cx="298800" cy="298800"/>
          </a:xfrm>
          <a:prstGeom prst="roundRect">
            <a:avLst>
              <a:gd fmla="val 18673" name="adj"/>
            </a:avLst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g3fb441f01f2_0_56"/>
          <p:cNvSpPr/>
          <p:nvPr/>
        </p:nvSpPr>
        <p:spPr>
          <a:xfrm>
            <a:off x="5996135" y="2725093"/>
            <a:ext cx="199200" cy="2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Inter"/>
              <a:buNone/>
            </a:pPr>
            <a:r>
              <a:rPr b="1" i="0" lang="en-US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g3fb441f01f2_0_56"/>
          <p:cNvSpPr/>
          <p:nvPr/>
        </p:nvSpPr>
        <p:spPr>
          <a:xfrm>
            <a:off x="661475" y="2745879"/>
            <a:ext cx="47700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Semanas 4-9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g3fb441f01f2_0_56"/>
          <p:cNvSpPr/>
          <p:nvPr/>
        </p:nvSpPr>
        <p:spPr>
          <a:xfrm>
            <a:off x="661475" y="3009503"/>
            <a:ext cx="4770000" cy="1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Construcción backend y frontend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g3fb441f01f2_0_56"/>
          <p:cNvSpPr/>
          <p:nvPr/>
        </p:nvSpPr>
        <p:spPr>
          <a:xfrm>
            <a:off x="6226267" y="3488035"/>
            <a:ext cx="398700" cy="19200"/>
          </a:xfrm>
          <a:prstGeom prst="roundRect">
            <a:avLst>
              <a:gd fmla="val 49999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g3fb441f01f2_0_56"/>
          <p:cNvSpPr/>
          <p:nvPr/>
        </p:nvSpPr>
        <p:spPr>
          <a:xfrm>
            <a:off x="5946378" y="3348137"/>
            <a:ext cx="298800" cy="298800"/>
          </a:xfrm>
          <a:prstGeom prst="roundRect">
            <a:avLst>
              <a:gd fmla="val 18673" name="adj"/>
            </a:avLst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g3fb441f01f2_0_56"/>
          <p:cNvSpPr/>
          <p:nvPr/>
        </p:nvSpPr>
        <p:spPr>
          <a:xfrm>
            <a:off x="5996135" y="3372991"/>
            <a:ext cx="199200" cy="2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Inter"/>
              <a:buNone/>
            </a:pPr>
            <a:r>
              <a:rPr b="1" i="0" lang="en-US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g3fb441f01f2_0_56"/>
          <p:cNvSpPr/>
          <p:nvPr/>
        </p:nvSpPr>
        <p:spPr>
          <a:xfrm>
            <a:off x="6760299" y="3393777"/>
            <a:ext cx="47700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Semanas 7-10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g3fb441f01f2_0_56"/>
          <p:cNvSpPr/>
          <p:nvPr/>
        </p:nvSpPr>
        <p:spPr>
          <a:xfrm>
            <a:off x="6760299" y="3657402"/>
            <a:ext cx="4770000" cy="1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Integración de pagos, confianza y pruebas críticas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g3fb441f01f2_0_56"/>
          <p:cNvSpPr/>
          <p:nvPr/>
        </p:nvSpPr>
        <p:spPr>
          <a:xfrm>
            <a:off x="5566777" y="4135934"/>
            <a:ext cx="398700" cy="19200"/>
          </a:xfrm>
          <a:prstGeom prst="roundRect">
            <a:avLst>
              <a:gd fmla="val 49999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g3fb441f01f2_0_56"/>
          <p:cNvSpPr/>
          <p:nvPr/>
        </p:nvSpPr>
        <p:spPr>
          <a:xfrm>
            <a:off x="5946378" y="3996035"/>
            <a:ext cx="298800" cy="298800"/>
          </a:xfrm>
          <a:prstGeom prst="roundRect">
            <a:avLst>
              <a:gd fmla="val 18673" name="adj"/>
            </a:avLst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g3fb441f01f2_0_56"/>
          <p:cNvSpPr/>
          <p:nvPr/>
        </p:nvSpPr>
        <p:spPr>
          <a:xfrm>
            <a:off x="5996135" y="4020889"/>
            <a:ext cx="199200" cy="2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Inter"/>
              <a:buNone/>
            </a:pPr>
            <a:r>
              <a:rPr b="1" i="0" lang="en-US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g3fb441f01f2_0_56"/>
          <p:cNvSpPr/>
          <p:nvPr/>
        </p:nvSpPr>
        <p:spPr>
          <a:xfrm>
            <a:off x="661475" y="4041676"/>
            <a:ext cx="47700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Semana 11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g3fb441f01f2_0_56"/>
          <p:cNvSpPr/>
          <p:nvPr/>
        </p:nvSpPr>
        <p:spPr>
          <a:xfrm>
            <a:off x="661475" y="4305300"/>
            <a:ext cx="4770000" cy="1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Verificación de alcance y estabilización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g3fb441f01f2_0_56"/>
          <p:cNvSpPr/>
          <p:nvPr/>
        </p:nvSpPr>
        <p:spPr>
          <a:xfrm>
            <a:off x="6226267" y="4783832"/>
            <a:ext cx="398700" cy="19200"/>
          </a:xfrm>
          <a:prstGeom prst="roundRect">
            <a:avLst>
              <a:gd fmla="val 49999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g3fb441f01f2_0_56"/>
          <p:cNvSpPr/>
          <p:nvPr/>
        </p:nvSpPr>
        <p:spPr>
          <a:xfrm>
            <a:off x="5946378" y="4643934"/>
            <a:ext cx="298800" cy="298800"/>
          </a:xfrm>
          <a:prstGeom prst="roundRect">
            <a:avLst>
              <a:gd fmla="val 18673" name="adj"/>
            </a:avLst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g3fb441f01f2_0_56"/>
          <p:cNvSpPr/>
          <p:nvPr/>
        </p:nvSpPr>
        <p:spPr>
          <a:xfrm>
            <a:off x="5996135" y="4668788"/>
            <a:ext cx="199200" cy="2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Inter"/>
              <a:buNone/>
            </a:pPr>
            <a:r>
              <a:rPr b="1" i="0" lang="en-US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g3fb441f01f2_0_56"/>
          <p:cNvSpPr/>
          <p:nvPr/>
        </p:nvSpPr>
        <p:spPr>
          <a:xfrm>
            <a:off x="6760299" y="4689574"/>
            <a:ext cx="47700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Semanas 12-13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g3fb441f01f2_0_56"/>
          <p:cNvSpPr/>
          <p:nvPr/>
        </p:nvSpPr>
        <p:spPr>
          <a:xfrm>
            <a:off x="6760299" y="4953198"/>
            <a:ext cx="4770000" cy="1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Documentación, cierre técnico y entrega final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g3fb441f01f2_0_56"/>
          <p:cNvSpPr/>
          <p:nvPr/>
        </p:nvSpPr>
        <p:spPr>
          <a:xfrm>
            <a:off x="661475" y="5857974"/>
            <a:ext cx="10868700" cy="424800"/>
          </a:xfrm>
          <a:prstGeom prst="roundRect">
            <a:avLst>
              <a:gd fmla="val 13142" name="adj"/>
            </a:avLst>
          </a:prstGeom>
          <a:solidFill>
            <a:srgbClr val="DADB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0" name="Google Shape;350;g3fb441f01f2_0_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4325" y="5995194"/>
            <a:ext cx="166088" cy="132854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g3fb441f01f2_0_56"/>
          <p:cNvSpPr/>
          <p:nvPr/>
        </p:nvSpPr>
        <p:spPr>
          <a:xfrm>
            <a:off x="1093264" y="5984478"/>
            <a:ext cx="10913700" cy="1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Control de alcance estricto: toda nueva funcionalidad se evalúa por tiempo, riesgo, dependencia y valor.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DAF8"/>
        </a:solidFill>
      </p:bgPr>
    </p:bg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15.png" id="357" name="Google Shape;357;g3fb441f01f2_0_60"/>
          <p:cNvPicPr preferRelativeResize="0"/>
          <p:nvPr/>
        </p:nvPicPr>
        <p:blipFill rotWithShape="1">
          <a:blip r:embed="rId3">
            <a:alphaModFix amt="50000"/>
          </a:blip>
          <a:srcRect b="0" l="0" r="0" t="0"/>
          <a:stretch/>
        </p:blipFill>
        <p:spPr>
          <a:xfrm>
            <a:off x="0" y="0"/>
            <a:ext cx="1219169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g3fb441f01f2_0_60"/>
          <p:cNvSpPr/>
          <p:nvPr/>
        </p:nvSpPr>
        <p:spPr>
          <a:xfrm>
            <a:off x="6161550" y="2203975"/>
            <a:ext cx="5203800" cy="867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g3fb441f01f2_0_60"/>
          <p:cNvSpPr/>
          <p:nvPr/>
        </p:nvSpPr>
        <p:spPr>
          <a:xfrm>
            <a:off x="448225" y="2204750"/>
            <a:ext cx="5203800" cy="867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g3fb441f01f2_0_60"/>
          <p:cNvSpPr/>
          <p:nvPr/>
        </p:nvSpPr>
        <p:spPr>
          <a:xfrm>
            <a:off x="434225" y="3941675"/>
            <a:ext cx="10868700" cy="2157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g3fb441f01f2_0_60"/>
          <p:cNvSpPr/>
          <p:nvPr/>
        </p:nvSpPr>
        <p:spPr>
          <a:xfrm>
            <a:off x="661475" y="979091"/>
            <a:ext cx="10868700" cy="4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50"/>
              <a:buFont typeface="Inter"/>
              <a:buNone/>
            </a:pPr>
            <a:r>
              <a:rPr b="1" i="0" lang="en-US" sz="29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Evidencias y Cierre</a:t>
            </a:r>
            <a:endParaRPr b="0" i="0" sz="2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g3fb441f01f2_0_60"/>
          <p:cNvSpPr/>
          <p:nvPr/>
        </p:nvSpPr>
        <p:spPr>
          <a:xfrm>
            <a:off x="661475" y="1527175"/>
            <a:ext cx="108687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Evidencias por fase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g3fb441f01f2_0_60"/>
          <p:cNvSpPr/>
          <p:nvPr/>
        </p:nvSpPr>
        <p:spPr>
          <a:xfrm>
            <a:off x="661475" y="2335113"/>
            <a:ext cx="5203800" cy="6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None/>
            </a:pPr>
            <a:r>
              <a:rPr b="1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Avance:</a:t>
            </a:r>
            <a:r>
              <a:rPr b="0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Acta de Constitución, ERS, modelos de datos, mockups, código fuente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g3fb441f01f2_0_60"/>
          <p:cNvSpPr/>
          <p:nvPr/>
        </p:nvSpPr>
        <p:spPr>
          <a:xfrm>
            <a:off x="6332776" y="2335113"/>
            <a:ext cx="5203800" cy="6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None/>
            </a:pPr>
            <a:r>
              <a:rPr b="1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Final:</a:t>
            </a:r>
            <a:r>
              <a:rPr b="0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Plan de pruebas ejecutado, manuales de usuario/admin, plan de implantación y soporte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g3fb441f01f2_0_60"/>
          <p:cNvSpPr/>
          <p:nvPr/>
        </p:nvSpPr>
        <p:spPr>
          <a:xfrm>
            <a:off x="661475" y="3393480"/>
            <a:ext cx="108687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Conclusión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g3fb441f01f2_0_60"/>
          <p:cNvSpPr/>
          <p:nvPr/>
        </p:nvSpPr>
        <p:spPr>
          <a:xfrm>
            <a:off x="661475" y="4031357"/>
            <a:ext cx="10868700" cy="6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None/>
            </a:pPr>
            <a:r>
              <a:rPr b="0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CuTuCo es un proyecto factible y relevante: combina arquitectura distribuida, pagos reales, seguridad y gestión de proyectos. Se construye sobre una base funcional existente, reduciendo el riesgo de partir desde cero.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g3fb441f01f2_0_60"/>
          <p:cNvSpPr/>
          <p:nvPr/>
        </p:nvSpPr>
        <p:spPr>
          <a:xfrm>
            <a:off x="944936" y="5061446"/>
            <a:ext cx="10585200" cy="6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None/>
            </a:pPr>
            <a:r>
              <a:rPr b="0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Consideraremos el proyecto completo </a:t>
            </a:r>
            <a:r>
              <a:rPr lang="en-US" sz="14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sólo</a:t>
            </a:r>
            <a:r>
              <a:rPr b="0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cuando exista evidencia que respalde los requisitos implementados y la calidad de la solución final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g3fb441f01f2_0_60"/>
          <p:cNvSpPr/>
          <p:nvPr/>
        </p:nvSpPr>
        <p:spPr>
          <a:xfrm>
            <a:off x="661475" y="4848820"/>
            <a:ext cx="25500" cy="1030200"/>
          </a:xfrm>
          <a:prstGeom prst="roundRect">
            <a:avLst>
              <a:gd fmla="val 50001" name="adj"/>
            </a:avLst>
          </a:prstGeom>
          <a:solidFill>
            <a:srgbClr val="4950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2026-09-13T22:08:39Z</dcterms:created>
</cp:coreProperties>
</file>